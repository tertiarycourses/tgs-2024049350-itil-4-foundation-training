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526" r:id="rId277"/>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jp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7.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8.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9.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0.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1.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3.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4.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5.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6.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7.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0.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1.pn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463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992624"/>
            <a:ext cx="9144000" cy="1463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548640" y="438912"/>
            <a:ext cx="676656" cy="676656"/>
          </a:xfrm>
          <a:prstGeom prst="rect">
            <a:avLst/>
          </a:prstGeom>
        </p:spPr>
      </p:pic>
      <p:sp>
        <p:nvSpPr>
          <p:cNvPr id="6" name="Rectangle 5"/>
          <p:cNvSpPr/>
          <p:nvPr/>
        </p:nvSpPr>
        <p:spPr>
          <a:xfrm>
            <a:off x="7498079" y="457200"/>
            <a:ext cx="1060704" cy="685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530352"/>
            <a:ext cx="1060704" cy="329184"/>
          </a:xfrm>
          <a:prstGeom prst="rect">
            <a:avLst/>
          </a:prstGeom>
          <a:noFill/>
        </p:spPr>
        <p:txBody>
          <a:bodyPr wrap="square" anchor="t">
            <a:spAutoFit/>
          </a:bodyPr>
          <a:lstStyle/>
          <a:p>
            <a:pPr algn="ctr">
              <a:spcAft>
                <a:spcPts val="300"/>
              </a:spcAft>
            </a:pPr>
            <a:r>
              <a:rPr sz="1300" b="1">
                <a:solidFill>
                  <a:srgbClr val="FFFFFF"/>
                </a:solidFill>
                <a:latin typeface="Arial"/>
              </a:rPr>
              <a:t>ITIL 4</a:t>
            </a:r>
          </a:p>
        </p:txBody>
      </p:sp>
      <p:sp>
        <p:nvSpPr>
          <p:cNvPr id="8" name="TextBox 7"/>
          <p:cNvSpPr txBox="1"/>
          <p:nvPr/>
        </p:nvSpPr>
        <p:spPr>
          <a:xfrm>
            <a:off x="7498079" y="850392"/>
            <a:ext cx="1060704" cy="256032"/>
          </a:xfrm>
          <a:prstGeom prst="rect">
            <a:avLst/>
          </a:prstGeom>
          <a:noFill/>
        </p:spPr>
        <p:txBody>
          <a:bodyPr wrap="square" anchor="t">
            <a:spAutoFit/>
          </a:bodyPr>
          <a:lstStyle/>
          <a:p>
            <a:pPr algn="ctr">
              <a:spcAft>
                <a:spcPts val="300"/>
              </a:spcAft>
            </a:pPr>
            <a:r>
              <a:rPr sz="600" b="1">
                <a:solidFill>
                  <a:srgbClr val="FFFFFF"/>
                </a:solidFill>
                <a:latin typeface="Arial"/>
              </a:rPr>
              <a:t>FOUNDATION</a:t>
            </a:r>
          </a:p>
        </p:txBody>
      </p:sp>
      <p:sp>
        <p:nvSpPr>
          <p:cNvPr id="9" name="TextBox 8"/>
          <p:cNvSpPr txBox="1"/>
          <p:nvPr/>
        </p:nvSpPr>
        <p:spPr>
          <a:xfrm>
            <a:off x="576072" y="1536192"/>
            <a:ext cx="8229600" cy="329184"/>
          </a:xfrm>
          <a:prstGeom prst="rect">
            <a:avLst/>
          </a:prstGeom>
          <a:noFill/>
        </p:spPr>
        <p:txBody>
          <a:bodyPr wrap="square" anchor="t">
            <a:spAutoFit/>
          </a:bodyPr>
          <a:lstStyle/>
          <a:p>
            <a:pPr algn="l">
              <a:spcAft>
                <a:spcPts val="300"/>
              </a:spcAft>
            </a:pPr>
            <a:r>
              <a:rPr sz="1100" b="1">
                <a:solidFill>
                  <a:srgbClr val="1F6FEB"/>
                </a:solidFill>
                <a:latin typeface="Arial"/>
              </a:rPr>
              <a:t>COURSE SLIDES  ·  WSQ</a:t>
            </a:r>
          </a:p>
        </p:txBody>
      </p:sp>
      <p:sp>
        <p:nvSpPr>
          <p:cNvPr id="10" name="TextBox 9"/>
          <p:cNvSpPr txBox="1"/>
          <p:nvPr/>
        </p:nvSpPr>
        <p:spPr>
          <a:xfrm>
            <a:off x="576072" y="1883664"/>
            <a:ext cx="8229600" cy="1188720"/>
          </a:xfrm>
          <a:prstGeom prst="rect">
            <a:avLst/>
          </a:prstGeom>
          <a:noFill/>
        </p:spPr>
        <p:txBody>
          <a:bodyPr wrap="square" anchor="t">
            <a:spAutoFit/>
          </a:bodyPr>
          <a:lstStyle/>
          <a:p>
            <a:pPr algn="l">
              <a:spcAft>
                <a:spcPts val="300"/>
              </a:spcAft>
            </a:pPr>
            <a:r>
              <a:rPr sz="2800" b="1">
                <a:solidFill>
                  <a:srgbClr val="161B26"/>
                </a:solidFill>
                <a:latin typeface="Arial"/>
              </a:rPr>
              <a:t>ITIL 4 Foundation Training</a:t>
            </a:r>
          </a:p>
        </p:txBody>
      </p:sp>
      <p:sp>
        <p:nvSpPr>
          <p:cNvPr id="11" name="Rectangle 10"/>
          <p:cNvSpPr/>
          <p:nvPr/>
        </p:nvSpPr>
        <p:spPr>
          <a:xfrm>
            <a:off x="594360" y="3182112"/>
            <a:ext cx="1645920" cy="411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 y="3401568"/>
            <a:ext cx="8229600" cy="914400"/>
          </a:xfrm>
          <a:prstGeom prst="rect">
            <a:avLst/>
          </a:prstGeom>
          <a:noFill/>
        </p:spPr>
        <p:txBody>
          <a:bodyPr wrap="square" anchor="t">
            <a:spAutoFit/>
          </a:bodyPr>
          <a:lstStyle/>
          <a:p>
            <a:pPr algn="l">
              <a:spcAft>
                <a:spcPts val="400"/>
              </a:spcAft>
            </a:pPr>
            <a:r>
              <a:rPr sz="1100" b="0">
                <a:solidFill>
                  <a:srgbClr val="5B6372"/>
                </a:solidFill>
                <a:latin typeface="Arial"/>
              </a:rPr>
              <a:t>WSQ Course Code: TGS-2024049350</a:t>
            </a:r>
          </a:p>
          <a:p>
            <a:pPr algn="l">
              <a:spcAft>
                <a:spcPts val="400"/>
              </a:spcAft>
            </a:pPr>
            <a:r>
              <a:rPr sz="950" b="0">
                <a:solidFill>
                  <a:srgbClr val="5B6372"/>
                </a:solidFill>
                <a:latin typeface="Arial"/>
              </a:rPr>
              <a:t>Conducted by Tertiary Infotech Academy Pte Ltd  ·  UEN 201200696W</a:t>
            </a:r>
          </a:p>
        </p:txBody>
      </p:sp>
      <p:sp>
        <p:nvSpPr>
          <p:cNvPr id="13" name="TextBox 12"/>
          <p:cNvSpPr txBox="1"/>
          <p:nvPr/>
        </p:nvSpPr>
        <p:spPr>
          <a:xfrm>
            <a:off x="576072" y="4407408"/>
            <a:ext cx="8229600" cy="256032"/>
          </a:xfrm>
          <a:prstGeom prst="rect">
            <a:avLst/>
          </a:prstGeom>
          <a:noFill/>
        </p:spPr>
        <p:txBody>
          <a:bodyPr wrap="square" anchor="t">
            <a:spAutoFit/>
          </a:bodyPr>
          <a:lstStyle/>
          <a:p>
            <a:pPr algn="l">
              <a:spcAft>
                <a:spcPts val="300"/>
              </a:spcAft>
            </a:pPr>
            <a:r>
              <a:rPr sz="850" b="0">
                <a:solidFill>
                  <a:srgbClr val="5B6372"/>
                </a:solidFill>
                <a:latin typeface="Arial"/>
              </a:rPr>
              <a:t>Version v12.0  ·  20 July 2026</a:t>
            </a:r>
          </a:p>
        </p:txBody>
      </p:sp>
      <p:sp>
        <p:nvSpPr>
          <p:cNvPr id="14" name="TextBox 13"/>
          <p:cNvSpPr txBox="1"/>
          <p:nvPr/>
        </p:nvSpPr>
        <p:spPr>
          <a:xfrm>
            <a:off x="576072" y="4645152"/>
            <a:ext cx="8229600" cy="219456"/>
          </a:xfrm>
          <a:prstGeom prst="rect">
            <a:avLst/>
          </a:prstGeom>
          <a:noFill/>
        </p:spPr>
        <p:txBody>
          <a:bodyPr wrap="square" anchor="t">
            <a:spAutoFit/>
          </a:bodyPr>
          <a:lstStyle/>
          <a:p>
            <a:pPr algn="l">
              <a:spcAft>
                <a:spcPts val="300"/>
              </a:spcAft>
            </a:pPr>
            <a:r>
              <a:rPr sz="7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TRAQOM · SSG DIGITAL ATTENDANCE</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Digital Attendance (Mandatory)</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600200"/>
            <a:ext cx="1952244"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600200"/>
            <a:ext cx="1952244"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32738" y="176479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1810512"/>
            <a:ext cx="1952244" cy="274320"/>
          </a:xfrm>
          <a:prstGeom prst="rect">
            <a:avLst/>
          </a:prstGeom>
          <a:noFill/>
        </p:spPr>
        <p:txBody>
          <a:bodyPr wrap="square" anchor="t">
            <a:spAutoFit/>
          </a:bodyPr>
          <a:lstStyle/>
          <a:p>
            <a:pPr algn="ctr">
              <a:spcAft>
                <a:spcPts val="300"/>
              </a:spcAft>
            </a:pPr>
            <a:r>
              <a:rPr sz="1100" b="1">
                <a:solidFill>
                  <a:srgbClr val="FFFFFF"/>
                </a:solidFill>
                <a:latin typeface="Arial"/>
              </a:rPr>
              <a:t>1</a:t>
            </a:r>
          </a:p>
        </p:txBody>
      </p:sp>
      <p:sp>
        <p:nvSpPr>
          <p:cNvPr id="11" name="TextBox 10"/>
          <p:cNvSpPr txBox="1"/>
          <p:nvPr/>
        </p:nvSpPr>
        <p:spPr>
          <a:xfrm>
            <a:off x="576072" y="2221992"/>
            <a:ext cx="1860804" cy="365760"/>
          </a:xfrm>
          <a:prstGeom prst="rect">
            <a:avLst/>
          </a:prstGeom>
          <a:noFill/>
        </p:spPr>
        <p:txBody>
          <a:bodyPr wrap="square" anchor="t">
            <a:spAutoFit/>
          </a:bodyPr>
          <a:lstStyle/>
          <a:p>
            <a:pPr algn="ctr">
              <a:spcAft>
                <a:spcPts val="300"/>
              </a:spcAft>
            </a:pPr>
            <a:r>
              <a:rPr sz="950" b="1">
                <a:solidFill>
                  <a:srgbClr val="161B26"/>
                </a:solidFill>
                <a:latin typeface="Arial"/>
              </a:rPr>
              <a:t>AM attendance</a:t>
            </a:r>
          </a:p>
        </p:txBody>
      </p:sp>
      <p:sp>
        <p:nvSpPr>
          <p:cNvPr id="12" name="TextBox 11"/>
          <p:cNvSpPr txBox="1"/>
          <p:nvPr/>
        </p:nvSpPr>
        <p:spPr>
          <a:xfrm>
            <a:off x="576072" y="2560320"/>
            <a:ext cx="1860804" cy="475488"/>
          </a:xfrm>
          <a:prstGeom prst="rect">
            <a:avLst/>
          </a:prstGeom>
          <a:noFill/>
        </p:spPr>
        <p:txBody>
          <a:bodyPr wrap="square" anchor="t">
            <a:spAutoFit/>
          </a:bodyPr>
          <a:lstStyle/>
          <a:p>
            <a:pPr algn="ctr">
              <a:spcAft>
                <a:spcPts val="300"/>
              </a:spcAft>
            </a:pPr>
            <a:r>
              <a:rPr sz="750" b="0">
                <a:solidFill>
                  <a:srgbClr val="5B6372"/>
                </a:solidFill>
                <a:latin typeface="Arial"/>
              </a:rPr>
              <a:t>start of each day</a:t>
            </a:r>
          </a:p>
        </p:txBody>
      </p:sp>
      <p:sp>
        <p:nvSpPr>
          <p:cNvPr id="13" name="TextBox 12"/>
          <p:cNvSpPr txBox="1"/>
          <p:nvPr/>
        </p:nvSpPr>
        <p:spPr>
          <a:xfrm>
            <a:off x="2482596" y="2148840"/>
            <a:ext cx="91440" cy="274320"/>
          </a:xfrm>
          <a:prstGeom prst="rect">
            <a:avLst/>
          </a:prstGeom>
          <a:noFill/>
        </p:spPr>
        <p:txBody>
          <a:bodyPr wrap="square" anchor="t">
            <a:spAutoFit/>
          </a:bodyPr>
          <a:lstStyle/>
          <a:p>
            <a:pPr algn="ctr">
              <a:spcAft>
                <a:spcPts val="300"/>
              </a:spcAft>
            </a:pPr>
            <a:r>
              <a:rPr sz="900" b="1">
                <a:solidFill>
                  <a:srgbClr val="1F6FEB"/>
                </a:solidFill>
                <a:latin typeface="Arial"/>
              </a:rPr>
              <a:t>▶</a:t>
            </a:r>
          </a:p>
        </p:txBody>
      </p:sp>
      <p:sp>
        <p:nvSpPr>
          <p:cNvPr id="14" name="Rectangle 13"/>
          <p:cNvSpPr/>
          <p:nvPr/>
        </p:nvSpPr>
        <p:spPr>
          <a:xfrm>
            <a:off x="2574036" y="1600200"/>
            <a:ext cx="1952244"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74036" y="1600200"/>
            <a:ext cx="1952244"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376422" y="176479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74036" y="1810512"/>
            <a:ext cx="1952244" cy="274320"/>
          </a:xfrm>
          <a:prstGeom prst="rect">
            <a:avLst/>
          </a:prstGeom>
          <a:noFill/>
        </p:spPr>
        <p:txBody>
          <a:bodyPr wrap="square" anchor="t">
            <a:spAutoFit/>
          </a:bodyPr>
          <a:lstStyle/>
          <a:p>
            <a:pPr algn="ctr">
              <a:spcAft>
                <a:spcPts val="300"/>
              </a:spcAft>
            </a:pPr>
            <a:r>
              <a:rPr sz="1100" b="1">
                <a:solidFill>
                  <a:srgbClr val="FFFFFF"/>
                </a:solidFill>
                <a:latin typeface="Arial"/>
              </a:rPr>
              <a:t>2</a:t>
            </a:r>
          </a:p>
        </p:txBody>
      </p:sp>
      <p:sp>
        <p:nvSpPr>
          <p:cNvPr id="18" name="TextBox 17"/>
          <p:cNvSpPr txBox="1"/>
          <p:nvPr/>
        </p:nvSpPr>
        <p:spPr>
          <a:xfrm>
            <a:off x="2619756" y="2221992"/>
            <a:ext cx="1860804" cy="365760"/>
          </a:xfrm>
          <a:prstGeom prst="rect">
            <a:avLst/>
          </a:prstGeom>
          <a:noFill/>
        </p:spPr>
        <p:txBody>
          <a:bodyPr wrap="square" anchor="t">
            <a:spAutoFit/>
          </a:bodyPr>
          <a:lstStyle/>
          <a:p>
            <a:pPr algn="ctr">
              <a:spcAft>
                <a:spcPts val="300"/>
              </a:spcAft>
            </a:pPr>
            <a:r>
              <a:rPr sz="950" b="1">
                <a:solidFill>
                  <a:srgbClr val="161B26"/>
                </a:solidFill>
                <a:latin typeface="Arial"/>
              </a:rPr>
              <a:t>PM attendance</a:t>
            </a:r>
          </a:p>
        </p:txBody>
      </p:sp>
      <p:sp>
        <p:nvSpPr>
          <p:cNvPr id="19" name="TextBox 18"/>
          <p:cNvSpPr txBox="1"/>
          <p:nvPr/>
        </p:nvSpPr>
        <p:spPr>
          <a:xfrm>
            <a:off x="2619756" y="2560320"/>
            <a:ext cx="1860804" cy="475488"/>
          </a:xfrm>
          <a:prstGeom prst="rect">
            <a:avLst/>
          </a:prstGeom>
          <a:noFill/>
        </p:spPr>
        <p:txBody>
          <a:bodyPr wrap="square" anchor="t">
            <a:spAutoFit/>
          </a:bodyPr>
          <a:lstStyle/>
          <a:p>
            <a:pPr algn="ctr">
              <a:spcAft>
                <a:spcPts val="300"/>
              </a:spcAft>
            </a:pPr>
            <a:r>
              <a:rPr sz="750" b="0">
                <a:solidFill>
                  <a:srgbClr val="5B6372"/>
                </a:solidFill>
                <a:latin typeface="Arial"/>
              </a:rPr>
              <a:t>after lunch</a:t>
            </a:r>
          </a:p>
        </p:txBody>
      </p:sp>
      <p:sp>
        <p:nvSpPr>
          <p:cNvPr id="20" name="TextBox 19"/>
          <p:cNvSpPr txBox="1"/>
          <p:nvPr/>
        </p:nvSpPr>
        <p:spPr>
          <a:xfrm>
            <a:off x="4526280" y="2148840"/>
            <a:ext cx="91440" cy="274320"/>
          </a:xfrm>
          <a:prstGeom prst="rect">
            <a:avLst/>
          </a:prstGeom>
          <a:noFill/>
        </p:spPr>
        <p:txBody>
          <a:bodyPr wrap="square" anchor="t">
            <a:spAutoFit/>
          </a:bodyPr>
          <a:lstStyle/>
          <a:p>
            <a:pPr algn="ctr">
              <a:spcAft>
                <a:spcPts val="300"/>
              </a:spcAft>
            </a:pPr>
            <a:r>
              <a:rPr sz="900" b="1">
                <a:solidFill>
                  <a:srgbClr val="1F6FEB"/>
                </a:solidFill>
                <a:latin typeface="Arial"/>
              </a:rPr>
              <a:t>▶</a:t>
            </a:r>
          </a:p>
        </p:txBody>
      </p:sp>
      <p:sp>
        <p:nvSpPr>
          <p:cNvPr id="21" name="Rectangle 20"/>
          <p:cNvSpPr/>
          <p:nvPr/>
        </p:nvSpPr>
        <p:spPr>
          <a:xfrm>
            <a:off x="4617720" y="1600200"/>
            <a:ext cx="1952244"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17720" y="1600200"/>
            <a:ext cx="1952244"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420106" y="176479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17720" y="1810512"/>
            <a:ext cx="1952244" cy="274320"/>
          </a:xfrm>
          <a:prstGeom prst="rect">
            <a:avLst/>
          </a:prstGeom>
          <a:noFill/>
        </p:spPr>
        <p:txBody>
          <a:bodyPr wrap="square" anchor="t">
            <a:spAutoFit/>
          </a:bodyPr>
          <a:lstStyle/>
          <a:p>
            <a:pPr algn="ctr">
              <a:spcAft>
                <a:spcPts val="300"/>
              </a:spcAft>
            </a:pPr>
            <a:r>
              <a:rPr sz="1100" b="1">
                <a:solidFill>
                  <a:srgbClr val="FFFFFF"/>
                </a:solidFill>
                <a:latin typeface="Arial"/>
              </a:rPr>
              <a:t>3</a:t>
            </a:r>
          </a:p>
        </p:txBody>
      </p:sp>
      <p:sp>
        <p:nvSpPr>
          <p:cNvPr id="25" name="TextBox 24"/>
          <p:cNvSpPr txBox="1"/>
          <p:nvPr/>
        </p:nvSpPr>
        <p:spPr>
          <a:xfrm>
            <a:off x="4663440" y="2221992"/>
            <a:ext cx="1860804" cy="365760"/>
          </a:xfrm>
          <a:prstGeom prst="rect">
            <a:avLst/>
          </a:prstGeom>
          <a:noFill/>
        </p:spPr>
        <p:txBody>
          <a:bodyPr wrap="square" anchor="t">
            <a:spAutoFit/>
          </a:bodyPr>
          <a:lstStyle/>
          <a:p>
            <a:pPr algn="ctr">
              <a:spcAft>
                <a:spcPts val="300"/>
              </a:spcAft>
            </a:pPr>
            <a:r>
              <a:rPr sz="950" b="1">
                <a:solidFill>
                  <a:srgbClr val="161B26"/>
                </a:solidFill>
                <a:latin typeface="Arial"/>
              </a:rPr>
              <a:t>Assessment</a:t>
            </a:r>
          </a:p>
        </p:txBody>
      </p:sp>
      <p:sp>
        <p:nvSpPr>
          <p:cNvPr id="26" name="TextBox 25"/>
          <p:cNvSpPr txBox="1"/>
          <p:nvPr/>
        </p:nvSpPr>
        <p:spPr>
          <a:xfrm>
            <a:off x="4663440" y="2560320"/>
            <a:ext cx="1860804" cy="475488"/>
          </a:xfrm>
          <a:prstGeom prst="rect">
            <a:avLst/>
          </a:prstGeom>
          <a:noFill/>
        </p:spPr>
        <p:txBody>
          <a:bodyPr wrap="square" anchor="t">
            <a:spAutoFit/>
          </a:bodyPr>
          <a:lstStyle/>
          <a:p>
            <a:pPr algn="ctr">
              <a:spcAft>
                <a:spcPts val="300"/>
              </a:spcAft>
            </a:pPr>
            <a:r>
              <a:rPr sz="750" b="0">
                <a:solidFill>
                  <a:srgbClr val="5B6372"/>
                </a:solidFill>
                <a:latin typeface="Arial"/>
              </a:rPr>
              <a:t>before the assessment</a:t>
            </a:r>
          </a:p>
        </p:txBody>
      </p:sp>
      <p:sp>
        <p:nvSpPr>
          <p:cNvPr id="27" name="TextBox 26"/>
          <p:cNvSpPr txBox="1"/>
          <p:nvPr/>
        </p:nvSpPr>
        <p:spPr>
          <a:xfrm>
            <a:off x="6569964" y="2148840"/>
            <a:ext cx="91440" cy="274320"/>
          </a:xfrm>
          <a:prstGeom prst="rect">
            <a:avLst/>
          </a:prstGeom>
          <a:noFill/>
        </p:spPr>
        <p:txBody>
          <a:bodyPr wrap="square" anchor="t">
            <a:spAutoFit/>
          </a:bodyPr>
          <a:lstStyle/>
          <a:p>
            <a:pPr algn="ctr">
              <a:spcAft>
                <a:spcPts val="300"/>
              </a:spcAft>
            </a:pPr>
            <a:r>
              <a:rPr sz="900" b="1">
                <a:solidFill>
                  <a:srgbClr val="1F6FEB"/>
                </a:solidFill>
                <a:latin typeface="Arial"/>
              </a:rPr>
              <a:t>▶</a:t>
            </a:r>
          </a:p>
        </p:txBody>
      </p:sp>
      <p:sp>
        <p:nvSpPr>
          <p:cNvPr id="28" name="Rectangle 27"/>
          <p:cNvSpPr/>
          <p:nvPr/>
        </p:nvSpPr>
        <p:spPr>
          <a:xfrm>
            <a:off x="6661404" y="1600200"/>
            <a:ext cx="1952244"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661404" y="1600200"/>
            <a:ext cx="1952244"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463790" y="176479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61404" y="1810512"/>
            <a:ext cx="1952244" cy="274320"/>
          </a:xfrm>
          <a:prstGeom prst="rect">
            <a:avLst/>
          </a:prstGeom>
          <a:noFill/>
        </p:spPr>
        <p:txBody>
          <a:bodyPr wrap="square" anchor="t">
            <a:spAutoFit/>
          </a:bodyPr>
          <a:lstStyle/>
          <a:p>
            <a:pPr algn="ctr">
              <a:spcAft>
                <a:spcPts val="300"/>
              </a:spcAft>
            </a:pPr>
            <a:r>
              <a:rPr sz="1100" b="1">
                <a:solidFill>
                  <a:srgbClr val="FFFFFF"/>
                </a:solidFill>
                <a:latin typeface="Arial"/>
              </a:rPr>
              <a:t>4</a:t>
            </a:r>
          </a:p>
        </p:txBody>
      </p:sp>
      <p:sp>
        <p:nvSpPr>
          <p:cNvPr id="32" name="TextBox 31"/>
          <p:cNvSpPr txBox="1"/>
          <p:nvPr/>
        </p:nvSpPr>
        <p:spPr>
          <a:xfrm>
            <a:off x="6707124" y="2221992"/>
            <a:ext cx="1860804" cy="365760"/>
          </a:xfrm>
          <a:prstGeom prst="rect">
            <a:avLst/>
          </a:prstGeom>
          <a:noFill/>
        </p:spPr>
        <p:txBody>
          <a:bodyPr wrap="square" anchor="t">
            <a:spAutoFit/>
          </a:bodyPr>
          <a:lstStyle/>
          <a:p>
            <a:pPr algn="ctr">
              <a:spcAft>
                <a:spcPts val="300"/>
              </a:spcAft>
            </a:pPr>
            <a:r>
              <a:rPr sz="950" b="1">
                <a:solidFill>
                  <a:srgbClr val="161B26"/>
                </a:solidFill>
                <a:latin typeface="Arial"/>
              </a:rPr>
              <a:t>75% minimum</a:t>
            </a:r>
          </a:p>
        </p:txBody>
      </p:sp>
      <p:sp>
        <p:nvSpPr>
          <p:cNvPr id="33" name="TextBox 32"/>
          <p:cNvSpPr txBox="1"/>
          <p:nvPr/>
        </p:nvSpPr>
        <p:spPr>
          <a:xfrm>
            <a:off x="6707124" y="2560320"/>
            <a:ext cx="1860804" cy="475488"/>
          </a:xfrm>
          <a:prstGeom prst="rect">
            <a:avLst/>
          </a:prstGeom>
          <a:noFill/>
        </p:spPr>
        <p:txBody>
          <a:bodyPr wrap="square" anchor="t">
            <a:spAutoFit/>
          </a:bodyPr>
          <a:lstStyle/>
          <a:p>
            <a:pPr algn="ctr">
              <a:spcAft>
                <a:spcPts val="300"/>
              </a:spcAft>
            </a:pPr>
            <a:r>
              <a:rPr sz="750" b="0">
                <a:solidFill>
                  <a:srgbClr val="5B6372"/>
                </a:solidFill>
                <a:latin typeface="Arial"/>
              </a:rPr>
              <a:t>funding eligibility</a:t>
            </a:r>
          </a:p>
        </p:txBody>
      </p:sp>
      <p:sp>
        <p:nvSpPr>
          <p:cNvPr id="34" name="TextBox 33"/>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35" name="TextBox 34"/>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36" name="TextBox 35"/>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5B6372"/>
                </a:solidFill>
                <a:latin typeface="Arial"/>
              </a:rPr>
              <a:t>YOUR TRAINER · GENERAL</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About the Trainer</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228600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2286000" cy="50292"/>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98448" y="1572768"/>
            <a:ext cx="749808" cy="749808"/>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1737360"/>
            <a:ext cx="2286000" cy="365760"/>
          </a:xfrm>
          <a:prstGeom prst="rect">
            <a:avLst/>
          </a:prstGeom>
          <a:noFill/>
        </p:spPr>
        <p:txBody>
          <a:bodyPr wrap="square" anchor="t">
            <a:spAutoFit/>
          </a:bodyPr>
          <a:lstStyle/>
          <a:p>
            <a:pPr algn="ctr">
              <a:spcAft>
                <a:spcPts val="300"/>
              </a:spcAft>
            </a:pPr>
            <a:r>
              <a:rPr sz="2000" b="1">
                <a:solidFill>
                  <a:srgbClr val="FFFFFF"/>
                </a:solidFill>
                <a:latin typeface="Arial"/>
              </a:rPr>
              <a:t>?</a:t>
            </a:r>
          </a:p>
        </p:txBody>
      </p:sp>
      <p:sp>
        <p:nvSpPr>
          <p:cNvPr id="11" name="TextBox 10"/>
          <p:cNvSpPr txBox="1"/>
          <p:nvPr/>
        </p:nvSpPr>
        <p:spPr>
          <a:xfrm>
            <a:off x="530352" y="2487168"/>
            <a:ext cx="2286000" cy="292608"/>
          </a:xfrm>
          <a:prstGeom prst="rect">
            <a:avLst/>
          </a:prstGeom>
          <a:noFill/>
        </p:spPr>
        <p:txBody>
          <a:bodyPr wrap="square" anchor="t">
            <a:spAutoFit/>
          </a:bodyPr>
          <a:lstStyle/>
          <a:p>
            <a:pPr algn="ctr">
              <a:spcAft>
                <a:spcPts val="300"/>
              </a:spcAft>
            </a:pPr>
            <a:r>
              <a:rPr sz="1300" b="1">
                <a:solidFill>
                  <a:srgbClr val="161B26"/>
                </a:solidFill>
                <a:latin typeface="Arial"/>
              </a:rPr>
              <a:t>Your Trainer</a:t>
            </a:r>
          </a:p>
        </p:txBody>
      </p:sp>
      <p:sp>
        <p:nvSpPr>
          <p:cNvPr id="12" name="TextBox 11"/>
          <p:cNvSpPr txBox="1"/>
          <p:nvPr/>
        </p:nvSpPr>
        <p:spPr>
          <a:xfrm>
            <a:off x="621792" y="2816352"/>
            <a:ext cx="2103120" cy="548640"/>
          </a:xfrm>
          <a:prstGeom prst="rect">
            <a:avLst/>
          </a:prstGeom>
          <a:noFill/>
        </p:spPr>
        <p:txBody>
          <a:bodyPr wrap="square" anchor="t">
            <a:spAutoFit/>
          </a:bodyPr>
          <a:lstStyle/>
          <a:p>
            <a:pPr algn="ctr">
              <a:spcAft>
                <a:spcPts val="300"/>
              </a:spcAft>
            </a:pPr>
            <a:r>
              <a:rPr sz="850" b="0">
                <a:solidFill>
                  <a:srgbClr val="5B6372"/>
                </a:solidFill>
                <a:latin typeface="Arial"/>
              </a:rPr>
              <a:t>General Trainer template —</a:t>
            </a:r>
          </a:p>
          <a:p>
            <a:pPr algn="ctr">
              <a:spcAft>
                <a:spcPts val="300"/>
              </a:spcAft>
            </a:pPr>
            <a:r>
              <a:rPr sz="800" b="0">
                <a:solidFill>
                  <a:srgbClr val="5B6372"/>
                </a:solidFill>
                <a:latin typeface="Arial"/>
              </a:rPr>
              <a:t>to be completed by the trainer</a:t>
            </a:r>
          </a:p>
        </p:txBody>
      </p:sp>
      <p:sp>
        <p:nvSpPr>
          <p:cNvPr id="13" name="Rectangle 12"/>
          <p:cNvSpPr/>
          <p:nvPr/>
        </p:nvSpPr>
        <p:spPr>
          <a:xfrm>
            <a:off x="2962656" y="1188720"/>
            <a:ext cx="565099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188720"/>
            <a:ext cx="41148" cy="47548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27248" y="1252728"/>
            <a:ext cx="5394960" cy="182880"/>
          </a:xfrm>
          <a:prstGeom prst="rect">
            <a:avLst/>
          </a:prstGeom>
          <a:noFill/>
        </p:spPr>
        <p:txBody>
          <a:bodyPr wrap="square" anchor="t">
            <a:spAutoFit/>
          </a:bodyPr>
          <a:lstStyle/>
          <a:p>
            <a:pPr algn="l">
              <a:spcAft>
                <a:spcPts val="300"/>
              </a:spcAft>
            </a:pPr>
            <a:r>
              <a:rPr sz="750" b="1">
                <a:solidFill>
                  <a:srgbClr val="5B6372"/>
                </a:solidFill>
                <a:latin typeface="Arial"/>
              </a:rPr>
              <a:t>NAME</a:t>
            </a:r>
          </a:p>
        </p:txBody>
      </p:sp>
      <p:sp>
        <p:nvSpPr>
          <p:cNvPr id="16" name="TextBox 15"/>
          <p:cNvSpPr txBox="1"/>
          <p:nvPr/>
        </p:nvSpPr>
        <p:spPr>
          <a:xfrm>
            <a:off x="3127248" y="1426464"/>
            <a:ext cx="5394960" cy="274320"/>
          </a:xfrm>
          <a:prstGeom prst="rect">
            <a:avLst/>
          </a:prstGeom>
          <a:noFill/>
        </p:spPr>
        <p:txBody>
          <a:bodyPr wrap="square" anchor="t">
            <a:spAutoFit/>
          </a:bodyPr>
          <a:lstStyle/>
          <a:p>
            <a:pPr algn="l">
              <a:spcAft>
                <a:spcPts val="300"/>
              </a:spcAft>
            </a:pPr>
            <a:r>
              <a:rPr sz="900" b="0">
                <a:solidFill>
                  <a:srgbClr val="161B26"/>
                </a:solidFill>
                <a:latin typeface="Arial"/>
              </a:rPr>
              <a:t>________________________________</a:t>
            </a:r>
          </a:p>
        </p:txBody>
      </p:sp>
      <p:sp>
        <p:nvSpPr>
          <p:cNvPr id="17" name="Rectangle 16"/>
          <p:cNvSpPr/>
          <p:nvPr/>
        </p:nvSpPr>
        <p:spPr>
          <a:xfrm>
            <a:off x="2962656" y="1737360"/>
            <a:ext cx="565099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62656" y="1737360"/>
            <a:ext cx="41148" cy="47548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27248" y="1801368"/>
            <a:ext cx="5394960" cy="182880"/>
          </a:xfrm>
          <a:prstGeom prst="rect">
            <a:avLst/>
          </a:prstGeom>
          <a:noFill/>
        </p:spPr>
        <p:txBody>
          <a:bodyPr wrap="square" anchor="t">
            <a:spAutoFit/>
          </a:bodyPr>
          <a:lstStyle/>
          <a:p>
            <a:pPr algn="l">
              <a:spcAft>
                <a:spcPts val="300"/>
              </a:spcAft>
            </a:pPr>
            <a:r>
              <a:rPr sz="750" b="1">
                <a:solidFill>
                  <a:srgbClr val="5B6372"/>
                </a:solidFill>
                <a:latin typeface="Arial"/>
              </a:rPr>
              <a:t>TITLE / DESIGNATION</a:t>
            </a:r>
          </a:p>
        </p:txBody>
      </p:sp>
      <p:sp>
        <p:nvSpPr>
          <p:cNvPr id="20" name="TextBox 19"/>
          <p:cNvSpPr txBox="1"/>
          <p:nvPr/>
        </p:nvSpPr>
        <p:spPr>
          <a:xfrm>
            <a:off x="3127248" y="1975104"/>
            <a:ext cx="5394960" cy="274320"/>
          </a:xfrm>
          <a:prstGeom prst="rect">
            <a:avLst/>
          </a:prstGeom>
          <a:noFill/>
        </p:spPr>
        <p:txBody>
          <a:bodyPr wrap="square" anchor="t">
            <a:spAutoFit/>
          </a:bodyPr>
          <a:lstStyle/>
          <a:p>
            <a:pPr algn="l">
              <a:spcAft>
                <a:spcPts val="300"/>
              </a:spcAft>
            </a:pPr>
            <a:r>
              <a:rPr sz="900" b="0">
                <a:solidFill>
                  <a:srgbClr val="161B26"/>
                </a:solidFill>
                <a:latin typeface="Arial"/>
              </a:rPr>
              <a:t>________________________________</a:t>
            </a:r>
          </a:p>
        </p:txBody>
      </p:sp>
      <p:sp>
        <p:nvSpPr>
          <p:cNvPr id="21" name="Rectangle 20"/>
          <p:cNvSpPr/>
          <p:nvPr/>
        </p:nvSpPr>
        <p:spPr>
          <a:xfrm>
            <a:off x="2962656" y="2286000"/>
            <a:ext cx="565099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962656" y="2286000"/>
            <a:ext cx="41148" cy="47548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27248" y="2350008"/>
            <a:ext cx="5394960" cy="182880"/>
          </a:xfrm>
          <a:prstGeom prst="rect">
            <a:avLst/>
          </a:prstGeom>
          <a:noFill/>
        </p:spPr>
        <p:txBody>
          <a:bodyPr wrap="square" anchor="t">
            <a:spAutoFit/>
          </a:bodyPr>
          <a:lstStyle/>
          <a:p>
            <a:pPr algn="l">
              <a:spcAft>
                <a:spcPts val="300"/>
              </a:spcAft>
            </a:pPr>
            <a:r>
              <a:rPr sz="750" b="1">
                <a:solidFill>
                  <a:srgbClr val="5B6372"/>
                </a:solidFill>
                <a:latin typeface="Arial"/>
              </a:rPr>
              <a:t>QUALIFICATIONS</a:t>
            </a:r>
          </a:p>
        </p:txBody>
      </p:sp>
      <p:sp>
        <p:nvSpPr>
          <p:cNvPr id="24" name="TextBox 23"/>
          <p:cNvSpPr txBox="1"/>
          <p:nvPr/>
        </p:nvSpPr>
        <p:spPr>
          <a:xfrm>
            <a:off x="3127248" y="2523744"/>
            <a:ext cx="5394960" cy="274320"/>
          </a:xfrm>
          <a:prstGeom prst="rect">
            <a:avLst/>
          </a:prstGeom>
          <a:noFill/>
        </p:spPr>
        <p:txBody>
          <a:bodyPr wrap="square" anchor="t">
            <a:spAutoFit/>
          </a:bodyPr>
          <a:lstStyle/>
          <a:p>
            <a:pPr algn="l">
              <a:spcAft>
                <a:spcPts val="300"/>
              </a:spcAft>
            </a:pPr>
            <a:r>
              <a:rPr sz="900" b="0">
                <a:solidFill>
                  <a:srgbClr val="161B26"/>
                </a:solidFill>
                <a:latin typeface="Arial"/>
              </a:rPr>
              <a:t>________________________________</a:t>
            </a:r>
          </a:p>
        </p:txBody>
      </p:sp>
      <p:sp>
        <p:nvSpPr>
          <p:cNvPr id="25" name="Rectangle 24"/>
          <p:cNvSpPr/>
          <p:nvPr/>
        </p:nvSpPr>
        <p:spPr>
          <a:xfrm>
            <a:off x="2962656" y="2834640"/>
            <a:ext cx="565099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62656" y="2834640"/>
            <a:ext cx="41148" cy="47548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27248" y="2898648"/>
            <a:ext cx="5394960" cy="182880"/>
          </a:xfrm>
          <a:prstGeom prst="rect">
            <a:avLst/>
          </a:prstGeom>
          <a:noFill/>
        </p:spPr>
        <p:txBody>
          <a:bodyPr wrap="square" anchor="t">
            <a:spAutoFit/>
          </a:bodyPr>
          <a:lstStyle/>
          <a:p>
            <a:pPr algn="l">
              <a:spcAft>
                <a:spcPts val="300"/>
              </a:spcAft>
            </a:pPr>
            <a:r>
              <a:rPr sz="750" b="1">
                <a:solidFill>
                  <a:srgbClr val="5B6372"/>
                </a:solidFill>
                <a:latin typeface="Arial"/>
              </a:rPr>
              <a:t>AREAS OF EXPERTISE</a:t>
            </a:r>
          </a:p>
        </p:txBody>
      </p:sp>
      <p:sp>
        <p:nvSpPr>
          <p:cNvPr id="28" name="TextBox 27"/>
          <p:cNvSpPr txBox="1"/>
          <p:nvPr/>
        </p:nvSpPr>
        <p:spPr>
          <a:xfrm>
            <a:off x="3127248" y="3072384"/>
            <a:ext cx="5394960" cy="274320"/>
          </a:xfrm>
          <a:prstGeom prst="rect">
            <a:avLst/>
          </a:prstGeom>
          <a:noFill/>
        </p:spPr>
        <p:txBody>
          <a:bodyPr wrap="square" anchor="t">
            <a:spAutoFit/>
          </a:bodyPr>
          <a:lstStyle/>
          <a:p>
            <a:pPr algn="l">
              <a:spcAft>
                <a:spcPts val="300"/>
              </a:spcAft>
            </a:pPr>
            <a:r>
              <a:rPr sz="900" b="0">
                <a:solidFill>
                  <a:srgbClr val="161B26"/>
                </a:solidFill>
                <a:latin typeface="Arial"/>
              </a:rPr>
              <a:t>________________________________</a:t>
            </a:r>
          </a:p>
        </p:txBody>
      </p:sp>
      <p:sp>
        <p:nvSpPr>
          <p:cNvPr id="29" name="Rectangle 28"/>
          <p:cNvSpPr/>
          <p:nvPr/>
        </p:nvSpPr>
        <p:spPr>
          <a:xfrm>
            <a:off x="2962656" y="3383280"/>
            <a:ext cx="565099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962656" y="3383280"/>
            <a:ext cx="41148" cy="47548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27248" y="3447288"/>
            <a:ext cx="5394960" cy="182880"/>
          </a:xfrm>
          <a:prstGeom prst="rect">
            <a:avLst/>
          </a:prstGeom>
          <a:noFill/>
        </p:spPr>
        <p:txBody>
          <a:bodyPr wrap="square" anchor="t">
            <a:spAutoFit/>
          </a:bodyPr>
          <a:lstStyle/>
          <a:p>
            <a:pPr algn="l">
              <a:spcAft>
                <a:spcPts val="300"/>
              </a:spcAft>
            </a:pPr>
            <a:r>
              <a:rPr sz="750" b="1">
                <a:solidFill>
                  <a:srgbClr val="5B6372"/>
                </a:solidFill>
                <a:latin typeface="Arial"/>
              </a:rPr>
              <a:t>EXPERIENCE</a:t>
            </a:r>
          </a:p>
        </p:txBody>
      </p:sp>
      <p:sp>
        <p:nvSpPr>
          <p:cNvPr id="32" name="TextBox 31"/>
          <p:cNvSpPr txBox="1"/>
          <p:nvPr/>
        </p:nvSpPr>
        <p:spPr>
          <a:xfrm>
            <a:off x="3127248" y="3621024"/>
            <a:ext cx="5394960" cy="274320"/>
          </a:xfrm>
          <a:prstGeom prst="rect">
            <a:avLst/>
          </a:prstGeom>
          <a:noFill/>
        </p:spPr>
        <p:txBody>
          <a:bodyPr wrap="square" anchor="t">
            <a:spAutoFit/>
          </a:bodyPr>
          <a:lstStyle/>
          <a:p>
            <a:pPr algn="l">
              <a:spcAft>
                <a:spcPts val="300"/>
              </a:spcAft>
            </a:pPr>
            <a:r>
              <a:rPr sz="900" b="0">
                <a:solidFill>
                  <a:srgbClr val="161B26"/>
                </a:solidFill>
                <a:latin typeface="Arial"/>
              </a:rPr>
              <a:t>________________________________</a:t>
            </a:r>
          </a:p>
        </p:txBody>
      </p:sp>
      <p:sp>
        <p:nvSpPr>
          <p:cNvPr id="33" name="Rectangle 32"/>
          <p:cNvSpPr/>
          <p:nvPr/>
        </p:nvSpPr>
        <p:spPr>
          <a:xfrm>
            <a:off x="2962656" y="3931920"/>
            <a:ext cx="565099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962656" y="3931920"/>
            <a:ext cx="41148" cy="47548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127248" y="3995928"/>
            <a:ext cx="5394960" cy="182880"/>
          </a:xfrm>
          <a:prstGeom prst="rect">
            <a:avLst/>
          </a:prstGeom>
          <a:noFill/>
        </p:spPr>
        <p:txBody>
          <a:bodyPr wrap="square" anchor="t">
            <a:spAutoFit/>
          </a:bodyPr>
          <a:lstStyle/>
          <a:p>
            <a:pPr algn="l">
              <a:spcAft>
                <a:spcPts val="300"/>
              </a:spcAft>
            </a:pPr>
            <a:r>
              <a:rPr sz="750" b="1">
                <a:solidFill>
                  <a:srgbClr val="5B6372"/>
                </a:solidFill>
                <a:latin typeface="Arial"/>
              </a:rPr>
              <a:t>CONTACT</a:t>
            </a:r>
          </a:p>
        </p:txBody>
      </p:sp>
      <p:sp>
        <p:nvSpPr>
          <p:cNvPr id="36" name="TextBox 35"/>
          <p:cNvSpPr txBox="1"/>
          <p:nvPr/>
        </p:nvSpPr>
        <p:spPr>
          <a:xfrm>
            <a:off x="3127248" y="4169664"/>
            <a:ext cx="5394960" cy="274320"/>
          </a:xfrm>
          <a:prstGeom prst="rect">
            <a:avLst/>
          </a:prstGeom>
          <a:noFill/>
        </p:spPr>
        <p:txBody>
          <a:bodyPr wrap="square" anchor="t">
            <a:spAutoFit/>
          </a:bodyPr>
          <a:lstStyle/>
          <a:p>
            <a:pPr algn="l">
              <a:spcAft>
                <a:spcPts val="300"/>
              </a:spcAft>
            </a:pPr>
            <a:r>
              <a:rPr sz="900" b="0">
                <a:solidFill>
                  <a:srgbClr val="161B26"/>
                </a:solidFill>
                <a:latin typeface="Arial"/>
              </a:rPr>
              <a:t>________________________________</a:t>
            </a:r>
          </a:p>
        </p:txBody>
      </p:sp>
      <p:sp>
        <p:nvSpPr>
          <p:cNvPr id="37" name="TextBox 36"/>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38" name="TextBox 37"/>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39" name="TextBox 38"/>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YOUR TRAINER</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About the Trainer</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228600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228600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98448" y="1572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1737360"/>
            <a:ext cx="2286000" cy="365760"/>
          </a:xfrm>
          <a:prstGeom prst="rect">
            <a:avLst/>
          </a:prstGeom>
          <a:noFill/>
        </p:spPr>
        <p:txBody>
          <a:bodyPr wrap="square" anchor="t">
            <a:spAutoFit/>
          </a:bodyPr>
          <a:lstStyle/>
          <a:p>
            <a:pPr algn="ctr">
              <a:spcAft>
                <a:spcPts val="300"/>
              </a:spcAft>
            </a:pPr>
            <a:r>
              <a:rPr sz="2000" b="1">
                <a:solidFill>
                  <a:srgbClr val="FFFFFF"/>
                </a:solidFill>
                <a:latin typeface="Arial"/>
              </a:rPr>
              <a:t>AA</a:t>
            </a:r>
          </a:p>
        </p:txBody>
      </p:sp>
      <p:sp>
        <p:nvSpPr>
          <p:cNvPr id="11" name="TextBox 10"/>
          <p:cNvSpPr txBox="1"/>
          <p:nvPr/>
        </p:nvSpPr>
        <p:spPr>
          <a:xfrm>
            <a:off x="530352" y="2487168"/>
            <a:ext cx="2286000" cy="292608"/>
          </a:xfrm>
          <a:prstGeom prst="rect">
            <a:avLst/>
          </a:prstGeom>
          <a:noFill/>
        </p:spPr>
        <p:txBody>
          <a:bodyPr wrap="square" anchor="t">
            <a:spAutoFit/>
          </a:bodyPr>
          <a:lstStyle/>
          <a:p>
            <a:pPr algn="ctr">
              <a:spcAft>
                <a:spcPts val="300"/>
              </a:spcAft>
            </a:pPr>
            <a:r>
              <a:rPr sz="1300" b="1">
                <a:solidFill>
                  <a:srgbClr val="161B26"/>
                </a:solidFill>
                <a:latin typeface="Arial"/>
              </a:rPr>
              <a:t>Dr Alfred Ang</a:t>
            </a:r>
          </a:p>
        </p:txBody>
      </p:sp>
      <p:sp>
        <p:nvSpPr>
          <p:cNvPr id="12" name="TextBox 11"/>
          <p:cNvSpPr txBox="1"/>
          <p:nvPr/>
        </p:nvSpPr>
        <p:spPr>
          <a:xfrm>
            <a:off x="621792" y="2816352"/>
            <a:ext cx="2103120" cy="548640"/>
          </a:xfrm>
          <a:prstGeom prst="rect">
            <a:avLst/>
          </a:prstGeom>
          <a:noFill/>
        </p:spPr>
        <p:txBody>
          <a:bodyPr wrap="square" anchor="t">
            <a:spAutoFit/>
          </a:bodyPr>
          <a:lstStyle/>
          <a:p>
            <a:pPr algn="ctr">
              <a:spcAft>
                <a:spcPts val="300"/>
              </a:spcAft>
            </a:pPr>
            <a:r>
              <a:rPr sz="850" b="0">
                <a:solidFill>
                  <a:srgbClr val="5B6372"/>
                </a:solidFill>
                <a:latin typeface="Arial"/>
              </a:rPr>
              <a:t>Principal Trainer</a:t>
            </a:r>
          </a:p>
          <a:p>
            <a:pPr algn="ctr">
              <a:spcAft>
                <a:spcPts val="300"/>
              </a:spcAft>
            </a:pPr>
            <a:r>
              <a:rPr sz="800" b="0">
                <a:solidFill>
                  <a:srgbClr val="5B6372"/>
                </a:solidFill>
                <a:latin typeface="Arial"/>
              </a:rPr>
              <a:t>Tertiary Infotech Academy Pte Ltd</a:t>
            </a:r>
          </a:p>
        </p:txBody>
      </p:sp>
      <p:sp>
        <p:nvSpPr>
          <p:cNvPr id="13" name="Rectangle 12"/>
          <p:cNvSpPr/>
          <p:nvPr/>
        </p:nvSpPr>
        <p:spPr>
          <a:xfrm>
            <a:off x="2962656" y="1188720"/>
            <a:ext cx="5650992" cy="7680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188720"/>
            <a:ext cx="41148"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27248" y="1252728"/>
            <a:ext cx="5394960" cy="182880"/>
          </a:xfrm>
          <a:prstGeom prst="rect">
            <a:avLst/>
          </a:prstGeom>
          <a:noFill/>
        </p:spPr>
        <p:txBody>
          <a:bodyPr wrap="square" anchor="t">
            <a:spAutoFit/>
          </a:bodyPr>
          <a:lstStyle/>
          <a:p>
            <a:pPr algn="l">
              <a:spcAft>
                <a:spcPts val="300"/>
              </a:spcAft>
            </a:pPr>
            <a:r>
              <a:rPr sz="750" b="1">
                <a:solidFill>
                  <a:srgbClr val="1F6FEB"/>
                </a:solidFill>
                <a:latin typeface="Arial"/>
              </a:rPr>
              <a:t>ROLE</a:t>
            </a:r>
          </a:p>
        </p:txBody>
      </p:sp>
      <p:sp>
        <p:nvSpPr>
          <p:cNvPr id="16" name="TextBox 15"/>
          <p:cNvSpPr txBox="1"/>
          <p:nvPr/>
        </p:nvSpPr>
        <p:spPr>
          <a:xfrm>
            <a:off x="3127248" y="1426464"/>
            <a:ext cx="5394960" cy="566928"/>
          </a:xfrm>
          <a:prstGeom prst="rect">
            <a:avLst/>
          </a:prstGeom>
          <a:noFill/>
        </p:spPr>
        <p:txBody>
          <a:bodyPr wrap="square" anchor="t">
            <a:spAutoFit/>
          </a:bodyPr>
          <a:lstStyle/>
          <a:p>
            <a:pPr algn="l">
              <a:spcAft>
                <a:spcPts val="300"/>
              </a:spcAft>
            </a:pPr>
            <a:r>
              <a:rPr sz="900" b="0">
                <a:solidFill>
                  <a:srgbClr val="161B26"/>
                </a:solidFill>
                <a:latin typeface="Arial"/>
              </a:rPr>
              <a:t>Principal Trainer, Tertiary Infotech Academy Pte. Ltd.</a:t>
            </a:r>
          </a:p>
        </p:txBody>
      </p:sp>
      <p:sp>
        <p:nvSpPr>
          <p:cNvPr id="17" name="Rectangle 16"/>
          <p:cNvSpPr/>
          <p:nvPr/>
        </p:nvSpPr>
        <p:spPr>
          <a:xfrm>
            <a:off x="2962656" y="2029968"/>
            <a:ext cx="5650992" cy="7680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62656" y="2029968"/>
            <a:ext cx="41148"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27248" y="2093976"/>
            <a:ext cx="5394960" cy="182880"/>
          </a:xfrm>
          <a:prstGeom prst="rect">
            <a:avLst/>
          </a:prstGeom>
          <a:noFill/>
        </p:spPr>
        <p:txBody>
          <a:bodyPr wrap="square" anchor="t">
            <a:spAutoFit/>
          </a:bodyPr>
          <a:lstStyle/>
          <a:p>
            <a:pPr algn="l">
              <a:spcAft>
                <a:spcPts val="300"/>
              </a:spcAft>
            </a:pPr>
            <a:r>
              <a:rPr sz="750" b="1">
                <a:solidFill>
                  <a:srgbClr val="10B981"/>
                </a:solidFill>
                <a:latin typeface="Arial"/>
              </a:rPr>
              <a:t>CERTIFICATION</a:t>
            </a:r>
          </a:p>
        </p:txBody>
      </p:sp>
      <p:sp>
        <p:nvSpPr>
          <p:cNvPr id="20" name="TextBox 19"/>
          <p:cNvSpPr txBox="1"/>
          <p:nvPr/>
        </p:nvSpPr>
        <p:spPr>
          <a:xfrm>
            <a:off x="3127248" y="2267712"/>
            <a:ext cx="5394960" cy="566928"/>
          </a:xfrm>
          <a:prstGeom prst="rect">
            <a:avLst/>
          </a:prstGeom>
          <a:noFill/>
        </p:spPr>
        <p:txBody>
          <a:bodyPr wrap="square" anchor="t">
            <a:spAutoFit/>
          </a:bodyPr>
          <a:lstStyle/>
          <a:p>
            <a:pPr algn="l">
              <a:spcAft>
                <a:spcPts val="300"/>
              </a:spcAft>
            </a:pPr>
            <a:r>
              <a:rPr sz="900" b="0">
                <a:solidFill>
                  <a:srgbClr val="161B26"/>
                </a:solidFill>
                <a:latin typeface="Arial"/>
              </a:rPr>
              <a:t>ITIL 4 certified — IT service management, service operations and continual improvement.</a:t>
            </a:r>
          </a:p>
        </p:txBody>
      </p:sp>
      <p:sp>
        <p:nvSpPr>
          <p:cNvPr id="21" name="Rectangle 20"/>
          <p:cNvSpPr/>
          <p:nvPr/>
        </p:nvSpPr>
        <p:spPr>
          <a:xfrm>
            <a:off x="2962656" y="2871216"/>
            <a:ext cx="5650992" cy="7680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962656" y="2871216"/>
            <a:ext cx="41148"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27248" y="2935224"/>
            <a:ext cx="5394960" cy="182880"/>
          </a:xfrm>
          <a:prstGeom prst="rect">
            <a:avLst/>
          </a:prstGeom>
          <a:noFill/>
        </p:spPr>
        <p:txBody>
          <a:bodyPr wrap="square" anchor="t">
            <a:spAutoFit/>
          </a:bodyPr>
          <a:lstStyle/>
          <a:p>
            <a:pPr algn="l">
              <a:spcAft>
                <a:spcPts val="300"/>
              </a:spcAft>
            </a:pPr>
            <a:r>
              <a:rPr sz="750" b="1">
                <a:solidFill>
                  <a:srgbClr val="7C3AED"/>
                </a:solidFill>
                <a:latin typeface="Arial"/>
              </a:rPr>
              <a:t>DELIVERS</a:t>
            </a:r>
          </a:p>
        </p:txBody>
      </p:sp>
      <p:sp>
        <p:nvSpPr>
          <p:cNvPr id="24" name="TextBox 23"/>
          <p:cNvSpPr txBox="1"/>
          <p:nvPr/>
        </p:nvSpPr>
        <p:spPr>
          <a:xfrm>
            <a:off x="3127248" y="3108960"/>
            <a:ext cx="5394960" cy="566928"/>
          </a:xfrm>
          <a:prstGeom prst="rect">
            <a:avLst/>
          </a:prstGeom>
          <a:noFill/>
        </p:spPr>
        <p:txBody>
          <a:bodyPr wrap="square" anchor="t">
            <a:spAutoFit/>
          </a:bodyPr>
          <a:lstStyle/>
          <a:p>
            <a:pPr algn="l">
              <a:spcAft>
                <a:spcPts val="300"/>
              </a:spcAft>
            </a:pPr>
            <a:r>
              <a:rPr sz="900" b="0">
                <a:solidFill>
                  <a:srgbClr val="161B26"/>
                </a:solidFill>
                <a:latin typeface="Arial"/>
              </a:rPr>
              <a:t>WSQ courses on IT service management, IT infrastructure and IT operations.</a:t>
            </a:r>
          </a:p>
        </p:txBody>
      </p:sp>
      <p:sp>
        <p:nvSpPr>
          <p:cNvPr id="25" name="Rectangle 24"/>
          <p:cNvSpPr/>
          <p:nvPr/>
        </p:nvSpPr>
        <p:spPr>
          <a:xfrm>
            <a:off x="2962656" y="3712464"/>
            <a:ext cx="5650992" cy="7680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62656" y="3712464"/>
            <a:ext cx="41148" cy="7680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27248" y="3776472"/>
            <a:ext cx="5394960" cy="182880"/>
          </a:xfrm>
          <a:prstGeom prst="rect">
            <a:avLst/>
          </a:prstGeom>
          <a:noFill/>
        </p:spPr>
        <p:txBody>
          <a:bodyPr wrap="square" anchor="t">
            <a:spAutoFit/>
          </a:bodyPr>
          <a:lstStyle/>
          <a:p>
            <a:pPr algn="l">
              <a:spcAft>
                <a:spcPts val="300"/>
              </a:spcAft>
            </a:pPr>
            <a:r>
              <a:rPr sz="750" b="1">
                <a:solidFill>
                  <a:srgbClr val="F59E0B"/>
                </a:solidFill>
                <a:latin typeface="Arial"/>
              </a:rPr>
              <a:t>FOUNDER</a:t>
            </a:r>
          </a:p>
        </p:txBody>
      </p:sp>
      <p:sp>
        <p:nvSpPr>
          <p:cNvPr id="28" name="TextBox 27"/>
          <p:cNvSpPr txBox="1"/>
          <p:nvPr/>
        </p:nvSpPr>
        <p:spPr>
          <a:xfrm>
            <a:off x="3127248" y="3950208"/>
            <a:ext cx="5394960" cy="566928"/>
          </a:xfrm>
          <a:prstGeom prst="rect">
            <a:avLst/>
          </a:prstGeom>
          <a:noFill/>
        </p:spPr>
        <p:txBody>
          <a:bodyPr wrap="square" anchor="t">
            <a:spAutoFit/>
          </a:bodyPr>
          <a:lstStyle/>
          <a:p>
            <a:pPr algn="l">
              <a:spcAft>
                <a:spcPts val="300"/>
              </a:spcAft>
            </a:pPr>
            <a:r>
              <a:rPr sz="900" b="0">
                <a:solidFill>
                  <a:srgbClr val="161B26"/>
                </a:solidFill>
                <a:latin typeface="Arial"/>
              </a:rPr>
              <a:t>Founder and lead instructor at Tertiary Infotech / Tertiary Courses.</a:t>
            </a:r>
          </a:p>
        </p:txBody>
      </p:sp>
      <p:sp>
        <p:nvSpPr>
          <p:cNvPr id="29" name="TextBox 2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30" name="TextBox 2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31" name="TextBox 3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0B981"/>
                </a:solidFill>
                <a:latin typeface="Arial"/>
              </a:rPr>
              <a:t>ICE-BREAKER</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Let's Know Each Other</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80832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298448"/>
            <a:ext cx="7808976" cy="237744"/>
          </a:xfrm>
          <a:prstGeom prst="rect">
            <a:avLst/>
          </a:prstGeom>
          <a:noFill/>
        </p:spPr>
        <p:txBody>
          <a:bodyPr wrap="square" anchor="t">
            <a:spAutoFit/>
          </a:bodyPr>
          <a:lstStyle/>
          <a:p>
            <a:pPr algn="l">
              <a:spcAft>
                <a:spcPts val="300"/>
              </a:spcAft>
            </a:pPr>
            <a:r>
              <a:rPr sz="1100" b="1">
                <a:solidFill>
                  <a:srgbClr val="161B26"/>
                </a:solidFill>
                <a:latin typeface="Arial"/>
              </a:rPr>
              <a:t>1</a:t>
            </a:r>
          </a:p>
        </p:txBody>
      </p:sp>
      <p:sp>
        <p:nvSpPr>
          <p:cNvPr id="10" name="TextBox 9"/>
          <p:cNvSpPr txBox="1"/>
          <p:nvPr/>
        </p:nvSpPr>
        <p:spPr>
          <a:xfrm>
            <a:off x="694944" y="1554480"/>
            <a:ext cx="7808976" cy="630936"/>
          </a:xfrm>
          <a:prstGeom prst="rect">
            <a:avLst/>
          </a:prstGeom>
          <a:noFill/>
        </p:spPr>
        <p:txBody>
          <a:bodyPr wrap="square" anchor="t">
            <a:spAutoFit/>
          </a:bodyPr>
          <a:lstStyle/>
          <a:p>
            <a:pPr algn="l">
              <a:spcAft>
                <a:spcPts val="300"/>
              </a:spcAft>
            </a:pPr>
            <a:r>
              <a:rPr sz="850" b="0">
                <a:solidFill>
                  <a:srgbClr val="5B6372"/>
                </a:solidFill>
                <a:latin typeface="Arial"/>
              </a:rPr>
              <a:t>Your name and organisation / role.</a:t>
            </a:r>
          </a:p>
        </p:txBody>
      </p:sp>
      <p:sp>
        <p:nvSpPr>
          <p:cNvPr id="11" name="Rectangle 10"/>
          <p:cNvSpPr/>
          <p:nvPr/>
        </p:nvSpPr>
        <p:spPr>
          <a:xfrm>
            <a:off x="530352" y="2377440"/>
            <a:ext cx="80832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0352" y="2377440"/>
            <a:ext cx="41148"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2468880"/>
            <a:ext cx="7808976" cy="237744"/>
          </a:xfrm>
          <a:prstGeom prst="rect">
            <a:avLst/>
          </a:prstGeom>
          <a:noFill/>
        </p:spPr>
        <p:txBody>
          <a:bodyPr wrap="square" anchor="t">
            <a:spAutoFit/>
          </a:bodyPr>
          <a:lstStyle/>
          <a:p>
            <a:pPr algn="l">
              <a:spcAft>
                <a:spcPts val="300"/>
              </a:spcAft>
            </a:pPr>
            <a:r>
              <a:rPr sz="1100" b="1">
                <a:solidFill>
                  <a:srgbClr val="161B26"/>
                </a:solidFill>
                <a:latin typeface="Arial"/>
              </a:rPr>
              <a:t>2</a:t>
            </a:r>
          </a:p>
        </p:txBody>
      </p:sp>
      <p:sp>
        <p:nvSpPr>
          <p:cNvPr id="14" name="TextBox 13"/>
          <p:cNvSpPr txBox="1"/>
          <p:nvPr/>
        </p:nvSpPr>
        <p:spPr>
          <a:xfrm>
            <a:off x="694944" y="2724912"/>
            <a:ext cx="7808976" cy="630936"/>
          </a:xfrm>
          <a:prstGeom prst="rect">
            <a:avLst/>
          </a:prstGeom>
          <a:noFill/>
        </p:spPr>
        <p:txBody>
          <a:bodyPr wrap="square" anchor="t">
            <a:spAutoFit/>
          </a:bodyPr>
          <a:lstStyle/>
          <a:p>
            <a:pPr algn="l">
              <a:spcAft>
                <a:spcPts val="300"/>
              </a:spcAft>
            </a:pPr>
            <a:r>
              <a:rPr sz="850" b="0">
                <a:solidFill>
                  <a:srgbClr val="5B6372"/>
                </a:solidFill>
                <a:latin typeface="Arial"/>
              </a:rPr>
              <a:t>Your experience with IT service management or IT support (if any).</a:t>
            </a:r>
          </a:p>
        </p:txBody>
      </p:sp>
      <p:sp>
        <p:nvSpPr>
          <p:cNvPr id="15" name="Rectangle 14"/>
          <p:cNvSpPr/>
          <p:nvPr/>
        </p:nvSpPr>
        <p:spPr>
          <a:xfrm>
            <a:off x="530352" y="3547872"/>
            <a:ext cx="80832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 y="3547872"/>
            <a:ext cx="41148"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3639312"/>
            <a:ext cx="7808976" cy="237744"/>
          </a:xfrm>
          <a:prstGeom prst="rect">
            <a:avLst/>
          </a:prstGeom>
          <a:noFill/>
        </p:spPr>
        <p:txBody>
          <a:bodyPr wrap="square" anchor="t">
            <a:spAutoFit/>
          </a:bodyPr>
          <a:lstStyle/>
          <a:p>
            <a:pPr algn="l">
              <a:spcAft>
                <a:spcPts val="300"/>
              </a:spcAft>
            </a:pPr>
            <a:r>
              <a:rPr sz="1100" b="1">
                <a:solidFill>
                  <a:srgbClr val="161B26"/>
                </a:solidFill>
                <a:latin typeface="Arial"/>
              </a:rPr>
              <a:t>3</a:t>
            </a:r>
          </a:p>
        </p:txBody>
      </p:sp>
      <p:sp>
        <p:nvSpPr>
          <p:cNvPr id="18" name="TextBox 17"/>
          <p:cNvSpPr txBox="1"/>
          <p:nvPr/>
        </p:nvSpPr>
        <p:spPr>
          <a:xfrm>
            <a:off x="694944" y="3895344"/>
            <a:ext cx="7808976" cy="630936"/>
          </a:xfrm>
          <a:prstGeom prst="rect">
            <a:avLst/>
          </a:prstGeom>
          <a:noFill/>
        </p:spPr>
        <p:txBody>
          <a:bodyPr wrap="square" anchor="t">
            <a:spAutoFit/>
          </a:bodyPr>
          <a:lstStyle/>
          <a:p>
            <a:pPr algn="l">
              <a:spcAft>
                <a:spcPts val="300"/>
              </a:spcAft>
            </a:pPr>
            <a:r>
              <a:rPr sz="850" b="0">
                <a:solidFill>
                  <a:srgbClr val="5B6372"/>
                </a:solidFill>
                <a:latin typeface="Arial"/>
              </a:rPr>
              <a:t>What you want to be able to improve in your service operations after this course.</a:t>
            </a:r>
          </a:p>
        </p:txBody>
      </p:sp>
      <p:sp>
        <p:nvSpPr>
          <p:cNvPr id="19" name="TextBox 1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0" name="TextBox 1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1" name="TextBox 2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HOUSEKEEPING</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Ground Rules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298448"/>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Phones on silent</a:t>
            </a:r>
          </a:p>
        </p:txBody>
      </p:sp>
      <p:sp>
        <p:nvSpPr>
          <p:cNvPr id="10" name="TextBox 9"/>
          <p:cNvSpPr txBox="1"/>
          <p:nvPr/>
        </p:nvSpPr>
        <p:spPr>
          <a:xfrm>
            <a:off x="694944" y="1554480"/>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Set your mobile phone to silent mode.</a:t>
            </a:r>
          </a:p>
        </p:txBody>
      </p:sp>
      <p:sp>
        <p:nvSpPr>
          <p:cNvPr id="11" name="Rectangle 10"/>
          <p:cNvSpPr/>
          <p:nvPr/>
        </p:nvSpPr>
        <p:spPr>
          <a:xfrm>
            <a:off x="4645152" y="1207008"/>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45152" y="1207008"/>
            <a:ext cx="41148"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9744" y="1298448"/>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Participate</a:t>
            </a:r>
          </a:p>
        </p:txBody>
      </p:sp>
      <p:sp>
        <p:nvSpPr>
          <p:cNvPr id="14" name="TextBox 13"/>
          <p:cNvSpPr txBox="1"/>
          <p:nvPr/>
        </p:nvSpPr>
        <p:spPr>
          <a:xfrm>
            <a:off x="4809744" y="1554480"/>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No question is too small.</a:t>
            </a:r>
          </a:p>
        </p:txBody>
      </p:sp>
      <p:sp>
        <p:nvSpPr>
          <p:cNvPr id="15" name="Rectangle 14"/>
          <p:cNvSpPr/>
          <p:nvPr/>
        </p:nvSpPr>
        <p:spPr>
          <a:xfrm>
            <a:off x="530352" y="2377440"/>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 y="2377440"/>
            <a:ext cx="41148"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2468880"/>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Mutual respect</a:t>
            </a:r>
          </a:p>
        </p:txBody>
      </p:sp>
      <p:sp>
        <p:nvSpPr>
          <p:cNvPr id="18" name="TextBox 17"/>
          <p:cNvSpPr txBox="1"/>
          <p:nvPr/>
        </p:nvSpPr>
        <p:spPr>
          <a:xfrm>
            <a:off x="694944" y="2724912"/>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Agree to disagree.</a:t>
            </a:r>
          </a:p>
        </p:txBody>
      </p:sp>
      <p:sp>
        <p:nvSpPr>
          <p:cNvPr id="19" name="Rectangle 18"/>
          <p:cNvSpPr/>
          <p:nvPr/>
        </p:nvSpPr>
        <p:spPr>
          <a:xfrm>
            <a:off x="4645152" y="2377440"/>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45152" y="2377440"/>
            <a:ext cx="41148"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9744" y="2468880"/>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One at a time</a:t>
            </a:r>
          </a:p>
        </p:txBody>
      </p:sp>
      <p:sp>
        <p:nvSpPr>
          <p:cNvPr id="22" name="TextBox 21"/>
          <p:cNvSpPr txBox="1"/>
          <p:nvPr/>
        </p:nvSpPr>
        <p:spPr>
          <a:xfrm>
            <a:off x="4809744" y="2724912"/>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One conversation at a time.</a:t>
            </a:r>
          </a:p>
        </p:txBody>
      </p:sp>
      <p:sp>
        <p:nvSpPr>
          <p:cNvPr id="23" name="Rectangle 22"/>
          <p:cNvSpPr/>
          <p:nvPr/>
        </p:nvSpPr>
        <p:spPr>
          <a:xfrm>
            <a:off x="530352" y="3547872"/>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30352" y="3547872"/>
            <a:ext cx="41148"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3639312"/>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Be punctual</a:t>
            </a:r>
          </a:p>
        </p:txBody>
      </p:sp>
      <p:sp>
        <p:nvSpPr>
          <p:cNvPr id="26" name="TextBox 25"/>
          <p:cNvSpPr txBox="1"/>
          <p:nvPr/>
        </p:nvSpPr>
        <p:spPr>
          <a:xfrm>
            <a:off x="694944" y="3895344"/>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Return from breaks on time.</a:t>
            </a:r>
          </a:p>
        </p:txBody>
      </p:sp>
      <p:sp>
        <p:nvSpPr>
          <p:cNvPr id="27" name="Rectangle 26"/>
          <p:cNvSpPr/>
          <p:nvPr/>
        </p:nvSpPr>
        <p:spPr>
          <a:xfrm>
            <a:off x="4645152" y="3547872"/>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645152" y="3547872"/>
            <a:ext cx="41148"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09744" y="3639312"/>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75% attendance</a:t>
            </a:r>
          </a:p>
        </p:txBody>
      </p:sp>
      <p:sp>
        <p:nvSpPr>
          <p:cNvPr id="30" name="TextBox 29"/>
          <p:cNvSpPr txBox="1"/>
          <p:nvPr/>
        </p:nvSpPr>
        <p:spPr>
          <a:xfrm>
            <a:off x="4809744" y="3895344"/>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Required for funding.</a:t>
            </a:r>
          </a:p>
        </p:txBody>
      </p:sp>
      <p:sp>
        <p:nvSpPr>
          <p:cNvPr id="31" name="TextBox 30"/>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32" name="TextBox 31"/>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33" name="TextBox 32"/>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SCHEDULE  ·  KEY CONCEPTS OF SERVICE MANAGEMENT AND THE ITIL GUIDING PRINC</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Lesson Plan — Day 1</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8083296" cy="5998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5998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298448"/>
            <a:ext cx="7808976" cy="237744"/>
          </a:xfrm>
          <a:prstGeom prst="rect">
            <a:avLst/>
          </a:prstGeom>
          <a:noFill/>
        </p:spPr>
        <p:txBody>
          <a:bodyPr wrap="square" anchor="t">
            <a:spAutoFit/>
          </a:bodyPr>
          <a:lstStyle/>
          <a:p>
            <a:pPr algn="l">
              <a:spcAft>
                <a:spcPts val="300"/>
              </a:spcAft>
            </a:pPr>
            <a:r>
              <a:rPr sz="1100" b="1">
                <a:solidFill>
                  <a:srgbClr val="161B26"/>
                </a:solidFill>
                <a:latin typeface="Arial"/>
              </a:rPr>
              <a:t>9:30–10:00</a:t>
            </a:r>
          </a:p>
        </p:txBody>
      </p:sp>
      <p:sp>
        <p:nvSpPr>
          <p:cNvPr id="10" name="TextBox 9"/>
          <p:cNvSpPr txBox="1"/>
          <p:nvPr/>
        </p:nvSpPr>
        <p:spPr>
          <a:xfrm>
            <a:off x="694944" y="1554480"/>
            <a:ext cx="7808976" cy="179222"/>
          </a:xfrm>
          <a:prstGeom prst="rect">
            <a:avLst/>
          </a:prstGeom>
          <a:noFill/>
        </p:spPr>
        <p:txBody>
          <a:bodyPr wrap="square" anchor="t">
            <a:spAutoFit/>
          </a:bodyPr>
          <a:lstStyle/>
          <a:p>
            <a:pPr algn="l">
              <a:spcAft>
                <a:spcPts val="300"/>
              </a:spcAft>
            </a:pPr>
            <a:r>
              <a:rPr sz="850" b="0">
                <a:solidFill>
                  <a:srgbClr val="5B6372"/>
                </a:solidFill>
                <a:latin typeface="Arial"/>
              </a:rPr>
              <a:t>Welcome, trainer and learner introductions, ground rules, course outline and mandatory digital…</a:t>
            </a:r>
          </a:p>
        </p:txBody>
      </p:sp>
      <p:sp>
        <p:nvSpPr>
          <p:cNvPr id="11" name="Rectangle 10"/>
          <p:cNvSpPr/>
          <p:nvPr/>
        </p:nvSpPr>
        <p:spPr>
          <a:xfrm>
            <a:off x="530352" y="1925726"/>
            <a:ext cx="8083296" cy="5998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0352" y="1925726"/>
            <a:ext cx="41148" cy="5998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2017166"/>
            <a:ext cx="7808976" cy="237744"/>
          </a:xfrm>
          <a:prstGeom prst="rect">
            <a:avLst/>
          </a:prstGeom>
          <a:noFill/>
        </p:spPr>
        <p:txBody>
          <a:bodyPr wrap="square" anchor="t">
            <a:spAutoFit/>
          </a:bodyPr>
          <a:lstStyle/>
          <a:p>
            <a:pPr algn="l">
              <a:spcAft>
                <a:spcPts val="300"/>
              </a:spcAft>
            </a:pPr>
            <a:r>
              <a:rPr sz="1100" b="1">
                <a:solidFill>
                  <a:srgbClr val="161B26"/>
                </a:solidFill>
                <a:latin typeface="Arial"/>
              </a:rPr>
              <a:t>10:00–11:00</a:t>
            </a:r>
          </a:p>
        </p:txBody>
      </p:sp>
      <p:sp>
        <p:nvSpPr>
          <p:cNvPr id="14" name="TextBox 13"/>
          <p:cNvSpPr txBox="1"/>
          <p:nvPr/>
        </p:nvSpPr>
        <p:spPr>
          <a:xfrm>
            <a:off x="694944" y="2273198"/>
            <a:ext cx="7808976" cy="179222"/>
          </a:xfrm>
          <a:prstGeom prst="rect">
            <a:avLst/>
          </a:prstGeom>
          <a:noFill/>
        </p:spPr>
        <p:txBody>
          <a:bodyPr wrap="square" anchor="t">
            <a:spAutoFit/>
          </a:bodyPr>
          <a:lstStyle/>
          <a:p>
            <a:pPr algn="l">
              <a:spcAft>
                <a:spcPts val="300"/>
              </a:spcAft>
            </a:pPr>
            <a:r>
              <a:rPr sz="850" b="0">
                <a:solidFill>
                  <a:srgbClr val="5B6372"/>
                </a:solidFill>
                <a:latin typeface="Arial"/>
              </a:rPr>
              <a:t>Learning outcomes, skills framework (TSC) briefing and course overview</a:t>
            </a:r>
          </a:p>
        </p:txBody>
      </p:sp>
      <p:sp>
        <p:nvSpPr>
          <p:cNvPr id="15" name="Rectangle 14"/>
          <p:cNvSpPr/>
          <p:nvPr/>
        </p:nvSpPr>
        <p:spPr>
          <a:xfrm>
            <a:off x="530352" y="2644444"/>
            <a:ext cx="8083296" cy="5998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 y="2644444"/>
            <a:ext cx="41148" cy="59984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2735884"/>
            <a:ext cx="7808976" cy="237744"/>
          </a:xfrm>
          <a:prstGeom prst="rect">
            <a:avLst/>
          </a:prstGeom>
          <a:noFill/>
        </p:spPr>
        <p:txBody>
          <a:bodyPr wrap="square" anchor="t">
            <a:spAutoFit/>
          </a:bodyPr>
          <a:lstStyle/>
          <a:p>
            <a:pPr algn="l">
              <a:spcAft>
                <a:spcPts val="300"/>
              </a:spcAft>
            </a:pPr>
            <a:r>
              <a:rPr sz="1100" b="1">
                <a:solidFill>
                  <a:srgbClr val="161B26"/>
                </a:solidFill>
                <a:latin typeface="Arial"/>
              </a:rPr>
              <a:t>11:15–13:00</a:t>
            </a:r>
          </a:p>
        </p:txBody>
      </p:sp>
      <p:sp>
        <p:nvSpPr>
          <p:cNvPr id="18" name="TextBox 17"/>
          <p:cNvSpPr txBox="1"/>
          <p:nvPr/>
        </p:nvSpPr>
        <p:spPr>
          <a:xfrm>
            <a:off x="694944" y="2991916"/>
            <a:ext cx="7808976" cy="179222"/>
          </a:xfrm>
          <a:prstGeom prst="rect">
            <a:avLst/>
          </a:prstGeom>
          <a:noFill/>
        </p:spPr>
        <p:txBody>
          <a:bodyPr wrap="square" anchor="t">
            <a:spAutoFit/>
          </a:bodyPr>
          <a:lstStyle/>
          <a:p>
            <a:pPr algn="l">
              <a:spcAft>
                <a:spcPts val="300"/>
              </a:spcAft>
            </a:pPr>
            <a:r>
              <a:rPr sz="850" b="0">
                <a:solidFill>
                  <a:srgbClr val="5B6372"/>
                </a:solidFill>
                <a:latin typeface="Arial"/>
              </a:rPr>
              <a:t>Topic 1 — Understand Key Concepts of Service Management: services, service management, ITIL and…</a:t>
            </a:r>
          </a:p>
        </p:txBody>
      </p:sp>
      <p:sp>
        <p:nvSpPr>
          <p:cNvPr id="19" name="Rectangle 18"/>
          <p:cNvSpPr/>
          <p:nvPr/>
        </p:nvSpPr>
        <p:spPr>
          <a:xfrm>
            <a:off x="530352" y="3363162"/>
            <a:ext cx="8083296" cy="5998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0352" y="3363162"/>
            <a:ext cx="41148" cy="5998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 y="3454602"/>
            <a:ext cx="7808976" cy="237744"/>
          </a:xfrm>
          <a:prstGeom prst="rect">
            <a:avLst/>
          </a:prstGeom>
          <a:noFill/>
        </p:spPr>
        <p:txBody>
          <a:bodyPr wrap="square" anchor="t">
            <a:spAutoFit/>
          </a:bodyPr>
          <a:lstStyle/>
          <a:p>
            <a:pPr algn="l">
              <a:spcAft>
                <a:spcPts val="300"/>
              </a:spcAft>
            </a:pPr>
            <a:r>
              <a:rPr sz="1100" b="1">
                <a:solidFill>
                  <a:srgbClr val="161B26"/>
                </a:solidFill>
                <a:latin typeface="Arial"/>
              </a:rPr>
              <a:t>14:00–15:00</a:t>
            </a:r>
          </a:p>
        </p:txBody>
      </p:sp>
      <p:sp>
        <p:nvSpPr>
          <p:cNvPr id="22" name="TextBox 21"/>
          <p:cNvSpPr txBox="1"/>
          <p:nvPr/>
        </p:nvSpPr>
        <p:spPr>
          <a:xfrm>
            <a:off x="694944" y="3710634"/>
            <a:ext cx="7808976" cy="179222"/>
          </a:xfrm>
          <a:prstGeom prst="rect">
            <a:avLst/>
          </a:prstGeom>
          <a:noFill/>
        </p:spPr>
        <p:txBody>
          <a:bodyPr wrap="square" anchor="t">
            <a:spAutoFit/>
          </a:bodyPr>
          <a:lstStyle/>
          <a:p>
            <a:pPr algn="l">
              <a:spcAft>
                <a:spcPts val="300"/>
              </a:spcAft>
            </a:pPr>
            <a:r>
              <a:rPr sz="850" b="0">
                <a:solidFill>
                  <a:srgbClr val="5B6372"/>
                </a:solidFill>
                <a:latin typeface="Arial"/>
              </a:rPr>
              <a:t>Topic 1 (continued) — service providers, consumers and the customer/user/sponsor roles; service…</a:t>
            </a:r>
          </a:p>
        </p:txBody>
      </p:sp>
      <p:sp>
        <p:nvSpPr>
          <p:cNvPr id="23" name="Rectangle 22"/>
          <p:cNvSpPr/>
          <p:nvPr/>
        </p:nvSpPr>
        <p:spPr>
          <a:xfrm>
            <a:off x="530352" y="4081880"/>
            <a:ext cx="8083296" cy="5998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30352" y="4081880"/>
            <a:ext cx="41148" cy="5998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4173320"/>
            <a:ext cx="7808976" cy="237744"/>
          </a:xfrm>
          <a:prstGeom prst="rect">
            <a:avLst/>
          </a:prstGeom>
          <a:noFill/>
        </p:spPr>
        <p:txBody>
          <a:bodyPr wrap="square" anchor="t">
            <a:spAutoFit/>
          </a:bodyPr>
          <a:lstStyle/>
          <a:p>
            <a:pPr algn="l">
              <a:spcAft>
                <a:spcPts val="300"/>
              </a:spcAft>
            </a:pPr>
            <a:r>
              <a:rPr sz="1100" b="1">
                <a:solidFill>
                  <a:srgbClr val="161B26"/>
                </a:solidFill>
                <a:latin typeface="Arial"/>
              </a:rPr>
              <a:t>15:00–16:00</a:t>
            </a:r>
          </a:p>
        </p:txBody>
      </p:sp>
      <p:sp>
        <p:nvSpPr>
          <p:cNvPr id="26" name="TextBox 25"/>
          <p:cNvSpPr txBox="1"/>
          <p:nvPr/>
        </p:nvSpPr>
        <p:spPr>
          <a:xfrm>
            <a:off x="694944" y="4429352"/>
            <a:ext cx="7808976" cy="179222"/>
          </a:xfrm>
          <a:prstGeom prst="rect">
            <a:avLst/>
          </a:prstGeom>
          <a:noFill/>
        </p:spPr>
        <p:txBody>
          <a:bodyPr wrap="square" anchor="t">
            <a:spAutoFit/>
          </a:bodyPr>
          <a:lstStyle/>
          <a:p>
            <a:pPr algn="l">
              <a:spcAft>
                <a:spcPts val="300"/>
              </a:spcAft>
            </a:pPr>
            <a:r>
              <a:rPr sz="850" b="0">
                <a:solidFill>
                  <a:srgbClr val="5B6372"/>
                </a:solidFill>
                <a:latin typeface="Arial"/>
              </a:rPr>
              <a:t>Topic 1 (continued) — outputs vs outcomes, costs, risks, utility and warranty. Digital…</a:t>
            </a:r>
          </a:p>
        </p:txBody>
      </p:sp>
      <p:sp>
        <p:nvSpPr>
          <p:cNvPr id="27" name="TextBox 26"/>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8" name="TextBox 27"/>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9" name="TextBox 28"/>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SCHEDULE  ·  THE FOUR DIMENSIONS OF SERVICE MANAGEMENT AND THE SERVICE VAL</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Lesson Plan — Day 2</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8083296" cy="5998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5998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298448"/>
            <a:ext cx="7808976" cy="237744"/>
          </a:xfrm>
          <a:prstGeom prst="rect">
            <a:avLst/>
          </a:prstGeom>
          <a:noFill/>
        </p:spPr>
        <p:txBody>
          <a:bodyPr wrap="square" anchor="t">
            <a:spAutoFit/>
          </a:bodyPr>
          <a:lstStyle/>
          <a:p>
            <a:pPr algn="l">
              <a:spcAft>
                <a:spcPts val="300"/>
              </a:spcAft>
            </a:pPr>
            <a:r>
              <a:rPr sz="1100" b="1">
                <a:solidFill>
                  <a:srgbClr val="161B26"/>
                </a:solidFill>
                <a:latin typeface="Arial"/>
              </a:rPr>
              <a:t>9:30–9:45</a:t>
            </a:r>
          </a:p>
        </p:txBody>
      </p:sp>
      <p:sp>
        <p:nvSpPr>
          <p:cNvPr id="10" name="TextBox 9"/>
          <p:cNvSpPr txBox="1"/>
          <p:nvPr/>
        </p:nvSpPr>
        <p:spPr>
          <a:xfrm>
            <a:off x="694944" y="1554480"/>
            <a:ext cx="7808976" cy="179222"/>
          </a:xfrm>
          <a:prstGeom prst="rect">
            <a:avLst/>
          </a:prstGeom>
          <a:noFill/>
        </p:spPr>
        <p:txBody>
          <a:bodyPr wrap="square" anchor="t">
            <a:spAutoFit/>
          </a:bodyPr>
          <a:lstStyle/>
          <a:p>
            <a:pPr algn="l">
              <a:spcAft>
                <a:spcPts val="300"/>
              </a:spcAft>
            </a:pPr>
            <a:r>
              <a:rPr sz="850" b="0">
                <a:solidFill>
                  <a:srgbClr val="5B6372"/>
                </a:solidFill>
                <a:latin typeface="Arial"/>
              </a:rPr>
              <a:t>Day 1 recap and mandatory digital attendance (AM)</a:t>
            </a:r>
          </a:p>
        </p:txBody>
      </p:sp>
      <p:sp>
        <p:nvSpPr>
          <p:cNvPr id="11" name="Rectangle 10"/>
          <p:cNvSpPr/>
          <p:nvPr/>
        </p:nvSpPr>
        <p:spPr>
          <a:xfrm>
            <a:off x="530352" y="1925726"/>
            <a:ext cx="8083296" cy="5998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0352" y="1925726"/>
            <a:ext cx="41148" cy="5998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2017166"/>
            <a:ext cx="7808976" cy="237744"/>
          </a:xfrm>
          <a:prstGeom prst="rect">
            <a:avLst/>
          </a:prstGeom>
          <a:noFill/>
        </p:spPr>
        <p:txBody>
          <a:bodyPr wrap="square" anchor="t">
            <a:spAutoFit/>
          </a:bodyPr>
          <a:lstStyle/>
          <a:p>
            <a:pPr algn="l">
              <a:spcAft>
                <a:spcPts val="300"/>
              </a:spcAft>
            </a:pPr>
            <a:r>
              <a:rPr sz="1100" b="1">
                <a:solidFill>
                  <a:srgbClr val="161B26"/>
                </a:solidFill>
                <a:latin typeface="Arial"/>
              </a:rPr>
              <a:t>9:45–11:00</a:t>
            </a:r>
          </a:p>
        </p:txBody>
      </p:sp>
      <p:sp>
        <p:nvSpPr>
          <p:cNvPr id="14" name="TextBox 13"/>
          <p:cNvSpPr txBox="1"/>
          <p:nvPr/>
        </p:nvSpPr>
        <p:spPr>
          <a:xfrm>
            <a:off x="694944" y="2273198"/>
            <a:ext cx="7808976" cy="179222"/>
          </a:xfrm>
          <a:prstGeom prst="rect">
            <a:avLst/>
          </a:prstGeom>
          <a:noFill/>
        </p:spPr>
        <p:txBody>
          <a:bodyPr wrap="square" anchor="t">
            <a:spAutoFit/>
          </a:bodyPr>
          <a:lstStyle/>
          <a:p>
            <a:pPr algn="l">
              <a:spcAft>
                <a:spcPts val="300"/>
              </a:spcAft>
            </a:pPr>
            <a:r>
              <a:rPr sz="850" b="0">
                <a:solidFill>
                  <a:srgbClr val="5B6372"/>
                </a:solidFill>
                <a:latin typeface="Arial"/>
              </a:rPr>
              <a:t>Topic 2 — ITIL Guiding Principles: the seven principles, with worked workplace examples</a:t>
            </a:r>
          </a:p>
        </p:txBody>
      </p:sp>
      <p:sp>
        <p:nvSpPr>
          <p:cNvPr id="15" name="Rectangle 14"/>
          <p:cNvSpPr/>
          <p:nvPr/>
        </p:nvSpPr>
        <p:spPr>
          <a:xfrm>
            <a:off x="530352" y="2644444"/>
            <a:ext cx="8083296" cy="5998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 y="2644444"/>
            <a:ext cx="41148" cy="59984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2735884"/>
            <a:ext cx="7808976" cy="237744"/>
          </a:xfrm>
          <a:prstGeom prst="rect">
            <a:avLst/>
          </a:prstGeom>
          <a:noFill/>
        </p:spPr>
        <p:txBody>
          <a:bodyPr wrap="square" anchor="t">
            <a:spAutoFit/>
          </a:bodyPr>
          <a:lstStyle/>
          <a:p>
            <a:pPr algn="l">
              <a:spcAft>
                <a:spcPts val="300"/>
              </a:spcAft>
            </a:pPr>
            <a:r>
              <a:rPr sz="1100" b="1">
                <a:solidFill>
                  <a:srgbClr val="161B26"/>
                </a:solidFill>
                <a:latin typeface="Arial"/>
              </a:rPr>
              <a:t>11:15–12:15</a:t>
            </a:r>
          </a:p>
        </p:txBody>
      </p:sp>
      <p:sp>
        <p:nvSpPr>
          <p:cNvPr id="18" name="TextBox 17"/>
          <p:cNvSpPr txBox="1"/>
          <p:nvPr/>
        </p:nvSpPr>
        <p:spPr>
          <a:xfrm>
            <a:off x="694944" y="2991916"/>
            <a:ext cx="7808976" cy="179222"/>
          </a:xfrm>
          <a:prstGeom prst="rect">
            <a:avLst/>
          </a:prstGeom>
          <a:noFill/>
        </p:spPr>
        <p:txBody>
          <a:bodyPr wrap="square" anchor="t">
            <a:spAutoFit/>
          </a:bodyPr>
          <a:lstStyle/>
          <a:p>
            <a:pPr algn="l">
              <a:spcAft>
                <a:spcPts val="300"/>
              </a:spcAft>
            </a:pPr>
            <a:r>
              <a:rPr sz="850" b="0">
                <a:solidFill>
                  <a:srgbClr val="5B6372"/>
                </a:solidFill>
                <a:latin typeface="Arial"/>
              </a:rPr>
              <a:t>Hands-on: Lab 2: Lab 2 — Seven Guiding Principles and Decision Scenarios</a:t>
            </a:r>
          </a:p>
        </p:txBody>
      </p:sp>
      <p:sp>
        <p:nvSpPr>
          <p:cNvPr id="19" name="Rectangle 18"/>
          <p:cNvSpPr/>
          <p:nvPr/>
        </p:nvSpPr>
        <p:spPr>
          <a:xfrm>
            <a:off x="530352" y="3363162"/>
            <a:ext cx="8083296" cy="5998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0352" y="3363162"/>
            <a:ext cx="41148" cy="5998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 y="3454602"/>
            <a:ext cx="7808976" cy="237744"/>
          </a:xfrm>
          <a:prstGeom prst="rect">
            <a:avLst/>
          </a:prstGeom>
          <a:noFill/>
        </p:spPr>
        <p:txBody>
          <a:bodyPr wrap="square" anchor="t">
            <a:spAutoFit/>
          </a:bodyPr>
          <a:lstStyle/>
          <a:p>
            <a:pPr algn="l">
              <a:spcAft>
                <a:spcPts val="300"/>
              </a:spcAft>
            </a:pPr>
            <a:r>
              <a:rPr sz="1100" b="1">
                <a:solidFill>
                  <a:srgbClr val="161B26"/>
                </a:solidFill>
                <a:latin typeface="Arial"/>
              </a:rPr>
              <a:t>12:15–13:00</a:t>
            </a:r>
          </a:p>
        </p:txBody>
      </p:sp>
      <p:sp>
        <p:nvSpPr>
          <p:cNvPr id="22" name="TextBox 21"/>
          <p:cNvSpPr txBox="1"/>
          <p:nvPr/>
        </p:nvSpPr>
        <p:spPr>
          <a:xfrm>
            <a:off x="694944" y="3710634"/>
            <a:ext cx="7808976" cy="179222"/>
          </a:xfrm>
          <a:prstGeom prst="rect">
            <a:avLst/>
          </a:prstGeom>
          <a:noFill/>
        </p:spPr>
        <p:txBody>
          <a:bodyPr wrap="square" anchor="t">
            <a:spAutoFit/>
          </a:bodyPr>
          <a:lstStyle/>
          <a:p>
            <a:pPr algn="l">
              <a:spcAft>
                <a:spcPts val="300"/>
              </a:spcAft>
            </a:pPr>
            <a:r>
              <a:rPr sz="850" b="0">
                <a:solidFill>
                  <a:srgbClr val="5B6372"/>
                </a:solidFill>
                <a:latin typeface="Arial"/>
              </a:rPr>
              <a:t>Topic 3 — The Four Dimensions of Service Management: organizations and people, information and…</a:t>
            </a:r>
          </a:p>
        </p:txBody>
      </p:sp>
      <p:sp>
        <p:nvSpPr>
          <p:cNvPr id="23" name="Rectangle 22"/>
          <p:cNvSpPr/>
          <p:nvPr/>
        </p:nvSpPr>
        <p:spPr>
          <a:xfrm>
            <a:off x="530352" y="4081880"/>
            <a:ext cx="8083296" cy="5998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30352" y="4081880"/>
            <a:ext cx="41148" cy="5998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4173320"/>
            <a:ext cx="7808976" cy="237744"/>
          </a:xfrm>
          <a:prstGeom prst="rect">
            <a:avLst/>
          </a:prstGeom>
          <a:noFill/>
        </p:spPr>
        <p:txBody>
          <a:bodyPr wrap="square" anchor="t">
            <a:spAutoFit/>
          </a:bodyPr>
          <a:lstStyle/>
          <a:p>
            <a:pPr algn="l">
              <a:spcAft>
                <a:spcPts val="300"/>
              </a:spcAft>
            </a:pPr>
            <a:r>
              <a:rPr sz="1100" b="1">
                <a:solidFill>
                  <a:srgbClr val="161B26"/>
                </a:solidFill>
                <a:latin typeface="Arial"/>
              </a:rPr>
              <a:t>14:00–15:15</a:t>
            </a:r>
          </a:p>
        </p:txBody>
      </p:sp>
      <p:sp>
        <p:nvSpPr>
          <p:cNvPr id="26" name="TextBox 25"/>
          <p:cNvSpPr txBox="1"/>
          <p:nvPr/>
        </p:nvSpPr>
        <p:spPr>
          <a:xfrm>
            <a:off x="694944" y="4429352"/>
            <a:ext cx="7808976" cy="179222"/>
          </a:xfrm>
          <a:prstGeom prst="rect">
            <a:avLst/>
          </a:prstGeom>
          <a:noFill/>
        </p:spPr>
        <p:txBody>
          <a:bodyPr wrap="square" anchor="t">
            <a:spAutoFit/>
          </a:bodyPr>
          <a:lstStyle/>
          <a:p>
            <a:pPr algn="l">
              <a:spcAft>
                <a:spcPts val="300"/>
              </a:spcAft>
            </a:pPr>
            <a:r>
              <a:rPr sz="850" b="0">
                <a:solidFill>
                  <a:srgbClr val="5B6372"/>
                </a:solidFill>
                <a:latin typeface="Arial"/>
              </a:rPr>
              <a:t>Topic 3 (continued) — partners and suppliers, value streams and processes; external factors and…</a:t>
            </a:r>
          </a:p>
        </p:txBody>
      </p:sp>
      <p:sp>
        <p:nvSpPr>
          <p:cNvPr id="27" name="TextBox 26"/>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8" name="TextBox 27"/>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9" name="TextBox 28"/>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SCHEDULE  ·  ITIL PRACTICES, REVISION AND FINAL ASSESSMENT</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Lesson Plan — Day 3</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8083296" cy="5998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5998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298448"/>
            <a:ext cx="7808976" cy="237744"/>
          </a:xfrm>
          <a:prstGeom prst="rect">
            <a:avLst/>
          </a:prstGeom>
          <a:noFill/>
        </p:spPr>
        <p:txBody>
          <a:bodyPr wrap="square" anchor="t">
            <a:spAutoFit/>
          </a:bodyPr>
          <a:lstStyle/>
          <a:p>
            <a:pPr algn="l">
              <a:spcAft>
                <a:spcPts val="300"/>
              </a:spcAft>
            </a:pPr>
            <a:r>
              <a:rPr sz="1100" b="1">
                <a:solidFill>
                  <a:srgbClr val="161B26"/>
                </a:solidFill>
                <a:latin typeface="Arial"/>
              </a:rPr>
              <a:t>9:30–9:45</a:t>
            </a:r>
          </a:p>
        </p:txBody>
      </p:sp>
      <p:sp>
        <p:nvSpPr>
          <p:cNvPr id="10" name="TextBox 9"/>
          <p:cNvSpPr txBox="1"/>
          <p:nvPr/>
        </p:nvSpPr>
        <p:spPr>
          <a:xfrm>
            <a:off x="694944" y="1554480"/>
            <a:ext cx="7808976" cy="179222"/>
          </a:xfrm>
          <a:prstGeom prst="rect">
            <a:avLst/>
          </a:prstGeom>
          <a:noFill/>
        </p:spPr>
        <p:txBody>
          <a:bodyPr wrap="square" anchor="t">
            <a:spAutoFit/>
          </a:bodyPr>
          <a:lstStyle/>
          <a:p>
            <a:pPr algn="l">
              <a:spcAft>
                <a:spcPts val="300"/>
              </a:spcAft>
            </a:pPr>
            <a:r>
              <a:rPr sz="850" b="0">
                <a:solidFill>
                  <a:srgbClr val="5B6372"/>
                </a:solidFill>
                <a:latin typeface="Arial"/>
              </a:rPr>
              <a:t>Day 2 recap and mandatory digital attendance (AM)</a:t>
            </a:r>
          </a:p>
        </p:txBody>
      </p:sp>
      <p:sp>
        <p:nvSpPr>
          <p:cNvPr id="11" name="Rectangle 10"/>
          <p:cNvSpPr/>
          <p:nvPr/>
        </p:nvSpPr>
        <p:spPr>
          <a:xfrm>
            <a:off x="530352" y="1925726"/>
            <a:ext cx="8083296" cy="5998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0352" y="1925726"/>
            <a:ext cx="41148" cy="5998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2017166"/>
            <a:ext cx="7808976" cy="237744"/>
          </a:xfrm>
          <a:prstGeom prst="rect">
            <a:avLst/>
          </a:prstGeom>
          <a:noFill/>
        </p:spPr>
        <p:txBody>
          <a:bodyPr wrap="square" anchor="t">
            <a:spAutoFit/>
          </a:bodyPr>
          <a:lstStyle/>
          <a:p>
            <a:pPr algn="l">
              <a:spcAft>
                <a:spcPts val="300"/>
              </a:spcAft>
            </a:pPr>
            <a:r>
              <a:rPr sz="1100" b="1">
                <a:solidFill>
                  <a:srgbClr val="161B26"/>
                </a:solidFill>
                <a:latin typeface="Arial"/>
              </a:rPr>
              <a:t>9:45–11:00</a:t>
            </a:r>
          </a:p>
        </p:txBody>
      </p:sp>
      <p:sp>
        <p:nvSpPr>
          <p:cNvPr id="14" name="TextBox 13"/>
          <p:cNvSpPr txBox="1"/>
          <p:nvPr/>
        </p:nvSpPr>
        <p:spPr>
          <a:xfrm>
            <a:off x="694944" y="2273198"/>
            <a:ext cx="7808976" cy="179222"/>
          </a:xfrm>
          <a:prstGeom prst="rect">
            <a:avLst/>
          </a:prstGeom>
          <a:noFill/>
        </p:spPr>
        <p:txBody>
          <a:bodyPr wrap="square" anchor="t">
            <a:spAutoFit/>
          </a:bodyPr>
          <a:lstStyle/>
          <a:p>
            <a:pPr algn="l">
              <a:spcAft>
                <a:spcPts val="300"/>
              </a:spcAft>
            </a:pPr>
            <a:r>
              <a:rPr sz="850" b="0">
                <a:solidFill>
                  <a:srgbClr val="5B6372"/>
                </a:solidFill>
                <a:latin typeface="Arial"/>
              </a:rPr>
              <a:t>Topic 4 (continued) — the continual improvement model, seven steps. Hands-on: Lab 4: Lab 4 —…</a:t>
            </a:r>
          </a:p>
        </p:txBody>
      </p:sp>
      <p:sp>
        <p:nvSpPr>
          <p:cNvPr id="15" name="Rectangle 14"/>
          <p:cNvSpPr/>
          <p:nvPr/>
        </p:nvSpPr>
        <p:spPr>
          <a:xfrm>
            <a:off x="530352" y="2644444"/>
            <a:ext cx="8083296" cy="5998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 y="2644444"/>
            <a:ext cx="41148" cy="59984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2735884"/>
            <a:ext cx="7808976" cy="237744"/>
          </a:xfrm>
          <a:prstGeom prst="rect">
            <a:avLst/>
          </a:prstGeom>
          <a:noFill/>
        </p:spPr>
        <p:txBody>
          <a:bodyPr wrap="square" anchor="t">
            <a:spAutoFit/>
          </a:bodyPr>
          <a:lstStyle/>
          <a:p>
            <a:pPr algn="l">
              <a:spcAft>
                <a:spcPts val="300"/>
              </a:spcAft>
            </a:pPr>
            <a:r>
              <a:rPr sz="1100" b="1">
                <a:solidFill>
                  <a:srgbClr val="161B26"/>
                </a:solidFill>
                <a:latin typeface="Arial"/>
              </a:rPr>
              <a:t>11:15–13:00</a:t>
            </a:r>
          </a:p>
        </p:txBody>
      </p:sp>
      <p:sp>
        <p:nvSpPr>
          <p:cNvPr id="18" name="TextBox 17"/>
          <p:cNvSpPr txBox="1"/>
          <p:nvPr/>
        </p:nvSpPr>
        <p:spPr>
          <a:xfrm>
            <a:off x="694944" y="2991916"/>
            <a:ext cx="7808976" cy="179222"/>
          </a:xfrm>
          <a:prstGeom prst="rect">
            <a:avLst/>
          </a:prstGeom>
          <a:noFill/>
        </p:spPr>
        <p:txBody>
          <a:bodyPr wrap="square" anchor="t">
            <a:spAutoFit/>
          </a:bodyPr>
          <a:lstStyle/>
          <a:p>
            <a:pPr algn="l">
              <a:spcAft>
                <a:spcPts val="300"/>
              </a:spcAft>
            </a:pPr>
            <a:r>
              <a:rPr sz="850" b="0">
                <a:solidFill>
                  <a:srgbClr val="5B6372"/>
                </a:solidFill>
                <a:latin typeface="Arial"/>
              </a:rPr>
              <a:t>Topic 5 — ITIL Practices: practice groups; continual improvement, information security,…</a:t>
            </a:r>
          </a:p>
        </p:txBody>
      </p:sp>
      <p:sp>
        <p:nvSpPr>
          <p:cNvPr id="19" name="Rectangle 18"/>
          <p:cNvSpPr/>
          <p:nvPr/>
        </p:nvSpPr>
        <p:spPr>
          <a:xfrm>
            <a:off x="530352" y="3363162"/>
            <a:ext cx="8083296" cy="5998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0352" y="3363162"/>
            <a:ext cx="41148" cy="5998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 y="3454602"/>
            <a:ext cx="7808976" cy="237744"/>
          </a:xfrm>
          <a:prstGeom prst="rect">
            <a:avLst/>
          </a:prstGeom>
          <a:noFill/>
        </p:spPr>
        <p:txBody>
          <a:bodyPr wrap="square" anchor="t">
            <a:spAutoFit/>
          </a:bodyPr>
          <a:lstStyle/>
          <a:p>
            <a:pPr algn="l">
              <a:spcAft>
                <a:spcPts val="300"/>
              </a:spcAft>
            </a:pPr>
            <a:r>
              <a:rPr sz="1100" b="1">
                <a:solidFill>
                  <a:srgbClr val="161B26"/>
                </a:solidFill>
                <a:latin typeface="Arial"/>
              </a:rPr>
              <a:t>14:00–15:00</a:t>
            </a:r>
          </a:p>
        </p:txBody>
      </p:sp>
      <p:sp>
        <p:nvSpPr>
          <p:cNvPr id="22" name="TextBox 21"/>
          <p:cNvSpPr txBox="1"/>
          <p:nvPr/>
        </p:nvSpPr>
        <p:spPr>
          <a:xfrm>
            <a:off x="694944" y="3710634"/>
            <a:ext cx="7808976" cy="179222"/>
          </a:xfrm>
          <a:prstGeom prst="rect">
            <a:avLst/>
          </a:prstGeom>
          <a:noFill/>
        </p:spPr>
        <p:txBody>
          <a:bodyPr wrap="square" anchor="t">
            <a:spAutoFit/>
          </a:bodyPr>
          <a:lstStyle/>
          <a:p>
            <a:pPr algn="l">
              <a:spcAft>
                <a:spcPts val="300"/>
              </a:spcAft>
            </a:pPr>
            <a:r>
              <a:rPr sz="850" b="0">
                <a:solidFill>
                  <a:srgbClr val="5B6372"/>
                </a:solidFill>
                <a:latin typeface="Arial"/>
              </a:rPr>
              <a:t>Topic 5 (continued) — change enablement, incident management, problem management, service…</a:t>
            </a:r>
          </a:p>
        </p:txBody>
      </p:sp>
      <p:sp>
        <p:nvSpPr>
          <p:cNvPr id="23" name="Rectangle 22"/>
          <p:cNvSpPr/>
          <p:nvPr/>
        </p:nvSpPr>
        <p:spPr>
          <a:xfrm>
            <a:off x="530352" y="4081880"/>
            <a:ext cx="8083296" cy="5998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30352" y="4081880"/>
            <a:ext cx="41148" cy="5998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4173320"/>
            <a:ext cx="7808976" cy="237744"/>
          </a:xfrm>
          <a:prstGeom prst="rect">
            <a:avLst/>
          </a:prstGeom>
          <a:noFill/>
        </p:spPr>
        <p:txBody>
          <a:bodyPr wrap="square" anchor="t">
            <a:spAutoFit/>
          </a:bodyPr>
          <a:lstStyle/>
          <a:p>
            <a:pPr algn="l">
              <a:spcAft>
                <a:spcPts val="300"/>
              </a:spcAft>
            </a:pPr>
            <a:r>
              <a:rPr sz="1100" b="1">
                <a:solidFill>
                  <a:srgbClr val="161B26"/>
                </a:solidFill>
                <a:latin typeface="Arial"/>
              </a:rPr>
              <a:t>15:00–16:00</a:t>
            </a:r>
          </a:p>
        </p:txBody>
      </p:sp>
      <p:sp>
        <p:nvSpPr>
          <p:cNvPr id="26" name="TextBox 25"/>
          <p:cNvSpPr txBox="1"/>
          <p:nvPr/>
        </p:nvSpPr>
        <p:spPr>
          <a:xfrm>
            <a:off x="694944" y="4429352"/>
            <a:ext cx="7808976" cy="179222"/>
          </a:xfrm>
          <a:prstGeom prst="rect">
            <a:avLst/>
          </a:prstGeom>
          <a:noFill/>
        </p:spPr>
        <p:txBody>
          <a:bodyPr wrap="square" anchor="t">
            <a:spAutoFit/>
          </a:bodyPr>
          <a:lstStyle/>
          <a:p>
            <a:pPr algn="l">
              <a:spcAft>
                <a:spcPts val="300"/>
              </a:spcAft>
            </a:pPr>
            <a:r>
              <a:rPr sz="850" b="0">
                <a:solidFill>
                  <a:srgbClr val="5B6372"/>
                </a:solidFill>
                <a:latin typeface="Arial"/>
              </a:rPr>
              <a:t>Hands-on: Lab 5: Lab 5 — Incident, Problem, Service Request, Service Desk; Lab 6: Lab 6 —…</a:t>
            </a:r>
          </a:p>
        </p:txBody>
      </p:sp>
      <p:sp>
        <p:nvSpPr>
          <p:cNvPr id="27" name="TextBox 26"/>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8" name="TextBox 27"/>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9" name="TextBox 28"/>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0B981"/>
                </a:solidFill>
                <a:latin typeface="Arial"/>
              </a:rPr>
              <a:t>WHAT YOU'LL ACHIEVE</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Learning Outcomes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298448"/>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Key Concepts of Service Management</a:t>
            </a:r>
          </a:p>
        </p:txBody>
      </p:sp>
      <p:sp>
        <p:nvSpPr>
          <p:cNvPr id="10" name="TextBox 9"/>
          <p:cNvSpPr txBox="1"/>
          <p:nvPr/>
        </p:nvSpPr>
        <p:spPr>
          <a:xfrm>
            <a:off x="694944" y="1554480"/>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Services, value co-creation, outcomes, costs, risks, utility and warranty; provider and consumer roles.</a:t>
            </a:r>
          </a:p>
        </p:txBody>
      </p:sp>
      <p:sp>
        <p:nvSpPr>
          <p:cNvPr id="11" name="Rectangle 10"/>
          <p:cNvSpPr/>
          <p:nvPr/>
        </p:nvSpPr>
        <p:spPr>
          <a:xfrm>
            <a:off x="4645152" y="1207008"/>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45152" y="1207008"/>
            <a:ext cx="41148"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9744" y="1298448"/>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ITIL Guiding Principles</a:t>
            </a:r>
          </a:p>
        </p:txBody>
      </p:sp>
      <p:sp>
        <p:nvSpPr>
          <p:cNvPr id="14" name="TextBox 13"/>
          <p:cNvSpPr txBox="1"/>
          <p:nvPr/>
        </p:nvSpPr>
        <p:spPr>
          <a:xfrm>
            <a:off x="4809744" y="1554480"/>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The seven principles and how to apply them to real service management decisions.</a:t>
            </a:r>
          </a:p>
        </p:txBody>
      </p:sp>
      <p:sp>
        <p:nvSpPr>
          <p:cNvPr id="15" name="Rectangle 14"/>
          <p:cNvSpPr/>
          <p:nvPr/>
        </p:nvSpPr>
        <p:spPr>
          <a:xfrm>
            <a:off x="530352" y="2377440"/>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 y="2377440"/>
            <a:ext cx="41148"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2468880"/>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Four Dimensions of Service Management</a:t>
            </a:r>
          </a:p>
        </p:txBody>
      </p:sp>
      <p:sp>
        <p:nvSpPr>
          <p:cNvPr id="18" name="TextBox 17"/>
          <p:cNvSpPr txBox="1"/>
          <p:nvPr/>
        </p:nvSpPr>
        <p:spPr>
          <a:xfrm>
            <a:off x="694944" y="2724912"/>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Organizations and people, information and technology, partners and suppliers, value streams and processes.</a:t>
            </a:r>
          </a:p>
        </p:txBody>
      </p:sp>
      <p:sp>
        <p:nvSpPr>
          <p:cNvPr id="19" name="Rectangle 18"/>
          <p:cNvSpPr/>
          <p:nvPr/>
        </p:nvSpPr>
        <p:spPr>
          <a:xfrm>
            <a:off x="4645152" y="2377440"/>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45152" y="2377440"/>
            <a:ext cx="41148"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9744" y="2468880"/>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The Service Value System</a:t>
            </a:r>
          </a:p>
        </p:txBody>
      </p:sp>
      <p:sp>
        <p:nvSpPr>
          <p:cNvPr id="22" name="TextBox 21"/>
          <p:cNvSpPr txBox="1"/>
          <p:nvPr/>
        </p:nvSpPr>
        <p:spPr>
          <a:xfrm>
            <a:off x="4809744" y="2724912"/>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The SVS, the six service value chain activities and the seven-step continual improvement model.</a:t>
            </a:r>
          </a:p>
        </p:txBody>
      </p:sp>
      <p:sp>
        <p:nvSpPr>
          <p:cNvPr id="23" name="Rectangle 22"/>
          <p:cNvSpPr/>
          <p:nvPr/>
        </p:nvSpPr>
        <p:spPr>
          <a:xfrm>
            <a:off x="530352" y="3547872"/>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30352" y="3547872"/>
            <a:ext cx="41148"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3639312"/>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ITIL Practices</a:t>
            </a:r>
          </a:p>
        </p:txBody>
      </p:sp>
      <p:sp>
        <p:nvSpPr>
          <p:cNvPr id="26" name="TextBox 25"/>
          <p:cNvSpPr txBox="1"/>
          <p:nvPr/>
        </p:nvSpPr>
        <p:spPr>
          <a:xfrm>
            <a:off x="694944" y="3895344"/>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Incident, problem, change enablement, service request, service desk and service level management.</a:t>
            </a:r>
          </a:p>
        </p:txBody>
      </p:sp>
      <p:sp>
        <p:nvSpPr>
          <p:cNvPr id="27" name="TextBox 26"/>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8" name="TextBox 27"/>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9" name="TextBox 28"/>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7C3AED"/>
                </a:solidFill>
                <a:latin typeface="Arial"/>
              </a:rPr>
              <a:t>SKILLS FRAMEWORK · TSC</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Skills Framework Alignment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114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61872"/>
            <a:ext cx="7680960" cy="274320"/>
          </a:xfrm>
          <a:prstGeom prst="rect">
            <a:avLst/>
          </a:prstGeom>
          <a:noFill/>
        </p:spPr>
        <p:txBody>
          <a:bodyPr wrap="square" anchor="t">
            <a:spAutoFit/>
          </a:bodyPr>
          <a:lstStyle/>
          <a:p>
            <a:pPr algn="l">
              <a:spcAft>
                <a:spcPts val="300"/>
              </a:spcAft>
            </a:pPr>
            <a:r>
              <a:rPr sz="1150" b="1">
                <a:solidFill>
                  <a:srgbClr val="161B26"/>
                </a:solidFill>
                <a:latin typeface="Arial"/>
              </a:rPr>
              <a:t>TSC: Infrastructure Support   (ICT-OUS-3007-1.1)</a:t>
            </a:r>
          </a:p>
        </p:txBody>
      </p:sp>
      <p:sp>
        <p:nvSpPr>
          <p:cNvPr id="10" name="Rectangle 9"/>
          <p:cNvSpPr/>
          <p:nvPr/>
        </p:nvSpPr>
        <p:spPr>
          <a:xfrm>
            <a:off x="530352" y="1755648"/>
            <a:ext cx="3931920" cy="2926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81728" y="1755648"/>
            <a:ext cx="3931920" cy="2926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0352" y="1755648"/>
            <a:ext cx="393192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81728" y="1755648"/>
            <a:ext cx="3931920" cy="45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865376"/>
            <a:ext cx="3566160" cy="237744"/>
          </a:xfrm>
          <a:prstGeom prst="rect">
            <a:avLst/>
          </a:prstGeom>
          <a:noFill/>
        </p:spPr>
        <p:txBody>
          <a:bodyPr wrap="square" anchor="t">
            <a:spAutoFit/>
          </a:bodyPr>
          <a:lstStyle/>
          <a:p>
            <a:pPr algn="l">
              <a:spcAft>
                <a:spcPts val="300"/>
              </a:spcAft>
            </a:pPr>
            <a:r>
              <a:rPr sz="1050" b="1">
                <a:solidFill>
                  <a:srgbClr val="1F6FEB"/>
                </a:solidFill>
                <a:latin typeface="Arial"/>
              </a:rPr>
              <a:t>Knowledge (K1–K6)</a:t>
            </a:r>
          </a:p>
        </p:txBody>
      </p:sp>
      <p:sp>
        <p:nvSpPr>
          <p:cNvPr id="15" name="TextBox 14"/>
          <p:cNvSpPr txBox="1"/>
          <p:nvPr/>
        </p:nvSpPr>
        <p:spPr>
          <a:xfrm>
            <a:off x="4864608" y="1865376"/>
            <a:ext cx="3566160" cy="237744"/>
          </a:xfrm>
          <a:prstGeom prst="rect">
            <a:avLst/>
          </a:prstGeom>
          <a:noFill/>
        </p:spPr>
        <p:txBody>
          <a:bodyPr wrap="square" anchor="t">
            <a:spAutoFit/>
          </a:bodyPr>
          <a:lstStyle/>
          <a:p>
            <a:pPr algn="l">
              <a:spcAft>
                <a:spcPts val="300"/>
              </a:spcAft>
            </a:pPr>
            <a:r>
              <a:rPr sz="1050" b="1">
                <a:solidFill>
                  <a:srgbClr val="10B981"/>
                </a:solidFill>
                <a:latin typeface="Arial"/>
              </a:rPr>
              <a:t>Abilities (A1–A8)</a:t>
            </a:r>
          </a:p>
        </p:txBody>
      </p:sp>
      <p:sp>
        <p:nvSpPr>
          <p:cNvPr id="16" name="TextBox 15"/>
          <p:cNvSpPr txBox="1"/>
          <p:nvPr/>
        </p:nvSpPr>
        <p:spPr>
          <a:xfrm>
            <a:off x="713232" y="2139696"/>
            <a:ext cx="3621024" cy="2468880"/>
          </a:xfrm>
          <a:prstGeom prst="rect">
            <a:avLst/>
          </a:prstGeom>
          <a:noFill/>
        </p:spPr>
        <p:txBody>
          <a:bodyPr wrap="square" anchor="t">
            <a:spAutoFit/>
          </a:bodyPr>
          <a:lstStyle/>
          <a:p>
            <a:pPr algn="l">
              <a:spcAft>
                <a:spcPts val="300"/>
              </a:spcAft>
            </a:pPr>
            <a:r>
              <a:rPr sz="580" b="0">
                <a:solidFill>
                  <a:srgbClr val="161B26"/>
                </a:solidFill>
                <a:latin typeface="Arial"/>
              </a:rPr>
              <a:t>K1: Diagnostic tools and processes to identify technical issues or disruptions in network infrastructure</a:t>
            </a:r>
          </a:p>
          <a:p>
            <a:pPr algn="l">
              <a:spcAft>
                <a:spcPts val="300"/>
              </a:spcAft>
            </a:pPr>
            <a:r>
              <a:rPr sz="580" b="0">
                <a:solidFill>
                  <a:srgbClr val="161B26"/>
                </a:solidFill>
                <a:latin typeface="Arial"/>
              </a:rPr>
              <a:t>K2: Infrastructure and network configuration techniques</a:t>
            </a:r>
          </a:p>
          <a:p>
            <a:pPr algn="l">
              <a:spcAft>
                <a:spcPts val="300"/>
              </a:spcAft>
            </a:pPr>
            <a:r>
              <a:rPr sz="580" b="0">
                <a:solidFill>
                  <a:srgbClr val="161B26"/>
                </a:solidFill>
                <a:latin typeface="Arial"/>
              </a:rPr>
              <a:t>K3: Troubleshooting techniques for infrastructure technical issues and problems</a:t>
            </a:r>
          </a:p>
          <a:p>
            <a:pPr algn="l">
              <a:spcAft>
                <a:spcPts val="300"/>
              </a:spcAft>
            </a:pPr>
            <a:r>
              <a:rPr sz="580" b="0">
                <a:solidFill>
                  <a:srgbClr val="161B26"/>
                </a:solidFill>
                <a:latin typeface="Arial"/>
              </a:rPr>
              <a:t>K4: Potential benefits and impact of infrastructure upgrades</a:t>
            </a:r>
          </a:p>
          <a:p>
            <a:pPr algn="l">
              <a:spcAft>
                <a:spcPts val="300"/>
              </a:spcAft>
            </a:pPr>
            <a:r>
              <a:rPr sz="580" b="0">
                <a:solidFill>
                  <a:srgbClr val="161B26"/>
                </a:solidFill>
                <a:latin typeface="Arial"/>
              </a:rPr>
              <a:t>K5: Sources of information and content for user guides and materials</a:t>
            </a:r>
          </a:p>
          <a:p>
            <a:pPr algn="l">
              <a:spcAft>
                <a:spcPts val="300"/>
              </a:spcAft>
            </a:pPr>
            <a:r>
              <a:rPr sz="580" b="0">
                <a:solidFill>
                  <a:srgbClr val="161B26"/>
                </a:solidFill>
                <a:latin typeface="Arial"/>
              </a:rPr>
              <a:t>K6: Types of system tests and their purpose</a:t>
            </a:r>
          </a:p>
        </p:txBody>
      </p:sp>
      <p:sp>
        <p:nvSpPr>
          <p:cNvPr id="17" name="TextBox 16"/>
          <p:cNvSpPr txBox="1"/>
          <p:nvPr/>
        </p:nvSpPr>
        <p:spPr>
          <a:xfrm>
            <a:off x="4864608" y="2139696"/>
            <a:ext cx="3621024" cy="2468880"/>
          </a:xfrm>
          <a:prstGeom prst="rect">
            <a:avLst/>
          </a:prstGeom>
          <a:noFill/>
        </p:spPr>
        <p:txBody>
          <a:bodyPr wrap="square" anchor="t">
            <a:spAutoFit/>
          </a:bodyPr>
          <a:lstStyle/>
          <a:p>
            <a:pPr algn="l">
              <a:spcAft>
                <a:spcPts val="300"/>
              </a:spcAft>
            </a:pPr>
            <a:r>
              <a:rPr sz="580" b="0">
                <a:solidFill>
                  <a:srgbClr val="161B26"/>
                </a:solidFill>
                <a:latin typeface="Arial"/>
              </a:rPr>
              <a:t>A1: Diagnose underlying technical problems or issues causing incidents and disruptions in infrastructure and network operations</a:t>
            </a:r>
          </a:p>
          <a:p>
            <a:pPr algn="l">
              <a:spcAft>
                <a:spcPts val="300"/>
              </a:spcAft>
            </a:pPr>
            <a:r>
              <a:rPr sz="580" b="0">
                <a:solidFill>
                  <a:srgbClr val="161B26"/>
                </a:solidFill>
                <a:latin typeface="Arial"/>
              </a:rPr>
              <a:t>A2: Implement problem management procedures to resolve root causes of infrastructure-related incidents</a:t>
            </a:r>
          </a:p>
          <a:p>
            <a:pPr algn="l">
              <a:spcAft>
                <a:spcPts val="300"/>
              </a:spcAft>
            </a:pPr>
            <a:r>
              <a:rPr sz="580" b="0">
                <a:solidFill>
                  <a:srgbClr val="161B26"/>
                </a:solidFill>
                <a:latin typeface="Arial"/>
              </a:rPr>
              <a:t>A3: Provide end-to-end management of technical issues and problems encountered by users within an agreed timeframe</a:t>
            </a:r>
          </a:p>
          <a:p>
            <a:pPr algn="l">
              <a:spcAft>
                <a:spcPts val="300"/>
              </a:spcAft>
            </a:pPr>
            <a:r>
              <a:rPr sz="580" b="0">
                <a:solidFill>
                  <a:srgbClr val="161B26"/>
                </a:solidFill>
                <a:latin typeface="Arial"/>
              </a:rPr>
              <a:t>A4: Perform infrastructure configuration and support activities at a higher level of difficulty or complexity</a:t>
            </a:r>
          </a:p>
          <a:p>
            <a:pPr algn="l">
              <a:spcAft>
                <a:spcPts val="300"/>
              </a:spcAft>
            </a:pPr>
            <a:r>
              <a:rPr sz="580" b="0">
                <a:solidFill>
                  <a:srgbClr val="161B26"/>
                </a:solidFill>
                <a:latin typeface="Arial"/>
              </a:rPr>
              <a:t>A5: Develop an action plan and timeline for infrastructure upgrade activities</a:t>
            </a:r>
          </a:p>
          <a:p>
            <a:pPr algn="l">
              <a:spcAft>
                <a:spcPts val="300"/>
              </a:spcAft>
            </a:pPr>
            <a:r>
              <a:rPr sz="580" b="0">
                <a:solidFill>
                  <a:srgbClr val="161B26"/>
                </a:solidFill>
                <a:latin typeface="Arial"/>
              </a:rPr>
              <a:t>A6: Propose ideas for infrastructure related upgrades and improvements based on current and future user needs</a:t>
            </a:r>
          </a:p>
          <a:p>
            <a:pPr algn="l">
              <a:spcAft>
                <a:spcPts val="300"/>
              </a:spcAft>
            </a:pPr>
            <a:r>
              <a:rPr sz="580" b="0">
                <a:solidFill>
                  <a:srgbClr val="161B26"/>
                </a:solidFill>
                <a:latin typeface="Arial"/>
              </a:rPr>
              <a:t>A7: Test infrastructure systems in advance to assess impact of potential upgrades or updates on performance level</a:t>
            </a:r>
          </a:p>
          <a:p>
            <a:pPr algn="l">
              <a:spcAft>
                <a:spcPts val="300"/>
              </a:spcAft>
            </a:pPr>
            <a:r>
              <a:rPr sz="580" b="0">
                <a:solidFill>
                  <a:srgbClr val="161B26"/>
                </a:solidFill>
                <a:latin typeface="Arial"/>
              </a:rPr>
              <a:t>A8: Organise information for the development of user guides and training materials for infrastructure administration activities</a:t>
            </a:r>
          </a:p>
        </p:txBody>
      </p:sp>
      <p:sp>
        <p:nvSpPr>
          <p:cNvPr id="18" name="TextBox 17"/>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9" name="TextBox 18"/>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0" name="TextBox 19"/>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BEFORE YOU START</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Briefing for Assessment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298448"/>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Phones away</a:t>
            </a:r>
          </a:p>
        </p:txBody>
      </p:sp>
      <p:sp>
        <p:nvSpPr>
          <p:cNvPr id="10" name="TextBox 9"/>
          <p:cNvSpPr txBox="1"/>
          <p:nvPr/>
        </p:nvSpPr>
        <p:spPr>
          <a:xfrm>
            <a:off x="694944" y="1554480"/>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Under the table or on the floor.</a:t>
            </a:r>
          </a:p>
        </p:txBody>
      </p:sp>
      <p:sp>
        <p:nvSpPr>
          <p:cNvPr id="11" name="Rectangle 10"/>
          <p:cNvSpPr/>
          <p:nvPr/>
        </p:nvSpPr>
        <p:spPr>
          <a:xfrm>
            <a:off x="4645152" y="1207008"/>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45152" y="1207008"/>
            <a:ext cx="41148"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9744" y="1298448"/>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No recording</a:t>
            </a:r>
          </a:p>
        </p:txBody>
      </p:sp>
      <p:sp>
        <p:nvSpPr>
          <p:cNvPr id="14" name="TextBox 13"/>
          <p:cNvSpPr txBox="1"/>
          <p:nvPr/>
        </p:nvSpPr>
        <p:spPr>
          <a:xfrm>
            <a:off x="4809744" y="1554480"/>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No photos of assessment scripts.</a:t>
            </a:r>
          </a:p>
        </p:txBody>
      </p:sp>
      <p:sp>
        <p:nvSpPr>
          <p:cNvPr id="15" name="Rectangle 14"/>
          <p:cNvSpPr/>
          <p:nvPr/>
        </p:nvSpPr>
        <p:spPr>
          <a:xfrm>
            <a:off x="530352" y="2377440"/>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 y="2377440"/>
            <a:ext cx="41148"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2468880"/>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Work alone</a:t>
            </a:r>
          </a:p>
        </p:txBody>
      </p:sp>
      <p:sp>
        <p:nvSpPr>
          <p:cNvPr id="18" name="TextBox 17"/>
          <p:cNvSpPr txBox="1"/>
          <p:nvPr/>
        </p:nvSpPr>
        <p:spPr>
          <a:xfrm>
            <a:off x="694944" y="2724912"/>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No discussion during the assessment.</a:t>
            </a:r>
          </a:p>
        </p:txBody>
      </p:sp>
      <p:sp>
        <p:nvSpPr>
          <p:cNvPr id="19" name="Rectangle 18"/>
          <p:cNvSpPr/>
          <p:nvPr/>
        </p:nvSpPr>
        <p:spPr>
          <a:xfrm>
            <a:off x="4645152" y="2377440"/>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45152" y="2377440"/>
            <a:ext cx="41148"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9744" y="2468880"/>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Black or blue pen</a:t>
            </a:r>
          </a:p>
        </p:txBody>
      </p:sp>
      <p:sp>
        <p:nvSpPr>
          <p:cNvPr id="22" name="TextBox 21"/>
          <p:cNvSpPr txBox="1"/>
          <p:nvPr/>
        </p:nvSpPr>
        <p:spPr>
          <a:xfrm>
            <a:off x="4809744" y="2724912"/>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For hard-copy assessments.</a:t>
            </a:r>
          </a:p>
        </p:txBody>
      </p:sp>
      <p:sp>
        <p:nvSpPr>
          <p:cNvPr id="23" name="Rectangle 22"/>
          <p:cNvSpPr/>
          <p:nvPr/>
        </p:nvSpPr>
        <p:spPr>
          <a:xfrm>
            <a:off x="530352" y="3547872"/>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30352" y="3547872"/>
            <a:ext cx="41148"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3639312"/>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No correction fluid</a:t>
            </a:r>
          </a:p>
        </p:txBody>
      </p:sp>
      <p:sp>
        <p:nvSpPr>
          <p:cNvPr id="26" name="TextBox 25"/>
          <p:cNvSpPr txBox="1"/>
          <p:nvPr/>
        </p:nvSpPr>
        <p:spPr>
          <a:xfrm>
            <a:off x="694944" y="3895344"/>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Cross out neatly instead.</a:t>
            </a:r>
          </a:p>
        </p:txBody>
      </p:sp>
      <p:sp>
        <p:nvSpPr>
          <p:cNvPr id="27" name="Rectangle 26"/>
          <p:cNvSpPr/>
          <p:nvPr/>
        </p:nvSpPr>
        <p:spPr>
          <a:xfrm>
            <a:off x="4645152" y="3547872"/>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645152" y="3547872"/>
            <a:ext cx="41148"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09744" y="3639312"/>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Pens down on time</a:t>
            </a:r>
          </a:p>
        </p:txBody>
      </p:sp>
      <p:sp>
        <p:nvSpPr>
          <p:cNvPr id="30" name="TextBox 29"/>
          <p:cNvSpPr txBox="1"/>
          <p:nvPr/>
        </p:nvSpPr>
        <p:spPr>
          <a:xfrm>
            <a:off x="4809744" y="3895344"/>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Scripts collected when time is up.</a:t>
            </a:r>
          </a:p>
        </p:txBody>
      </p:sp>
      <p:sp>
        <p:nvSpPr>
          <p:cNvPr id="31" name="TextBox 30"/>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32" name="TextBox 31"/>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33" name="TextBox 32"/>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FINAL ASSESSMENT</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Assessment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298448"/>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Written Assessment (WA)</a:t>
            </a:r>
          </a:p>
        </p:txBody>
      </p:sp>
      <p:sp>
        <p:nvSpPr>
          <p:cNvPr id="10" name="TextBox 9"/>
          <p:cNvSpPr txBox="1"/>
          <p:nvPr/>
        </p:nvSpPr>
        <p:spPr>
          <a:xfrm>
            <a:off x="694944" y="1554480"/>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Short-Answer Questions — 1 hour, open book.</a:t>
            </a:r>
          </a:p>
        </p:txBody>
      </p:sp>
      <p:sp>
        <p:nvSpPr>
          <p:cNvPr id="11" name="Rectangle 10"/>
          <p:cNvSpPr/>
          <p:nvPr/>
        </p:nvSpPr>
        <p:spPr>
          <a:xfrm>
            <a:off x="4645152" y="1207008"/>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45152" y="1207008"/>
            <a:ext cx="41148"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9744" y="1298448"/>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Case Study (CS)</a:t>
            </a:r>
          </a:p>
        </p:txBody>
      </p:sp>
      <p:sp>
        <p:nvSpPr>
          <p:cNvPr id="14" name="TextBox 13"/>
          <p:cNvSpPr txBox="1"/>
          <p:nvPr/>
        </p:nvSpPr>
        <p:spPr>
          <a:xfrm>
            <a:off x="4809744" y="1554480"/>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Scenario-based analysis — 1 hour, open book.</a:t>
            </a:r>
          </a:p>
        </p:txBody>
      </p:sp>
      <p:sp>
        <p:nvSpPr>
          <p:cNvPr id="15" name="Rectangle 14"/>
          <p:cNvSpPr/>
          <p:nvPr/>
        </p:nvSpPr>
        <p:spPr>
          <a:xfrm>
            <a:off x="530352" y="2377440"/>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 y="2377440"/>
            <a:ext cx="41148"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2468880"/>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Open book</a:t>
            </a:r>
          </a:p>
        </p:txBody>
      </p:sp>
      <p:sp>
        <p:nvSpPr>
          <p:cNvPr id="18" name="TextBox 17"/>
          <p:cNvSpPr txBox="1"/>
          <p:nvPr/>
        </p:nvSpPr>
        <p:spPr>
          <a:xfrm>
            <a:off x="694944" y="2724912"/>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Slides, Learner Guide and approved materials only.</a:t>
            </a:r>
          </a:p>
        </p:txBody>
      </p:sp>
      <p:sp>
        <p:nvSpPr>
          <p:cNvPr id="19" name="Rectangle 18"/>
          <p:cNvSpPr/>
          <p:nvPr/>
        </p:nvSpPr>
        <p:spPr>
          <a:xfrm>
            <a:off x="4645152" y="2377440"/>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45152" y="2377440"/>
            <a:ext cx="41148"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9744" y="2468880"/>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Eligibility</a:t>
            </a:r>
          </a:p>
        </p:txBody>
      </p:sp>
      <p:sp>
        <p:nvSpPr>
          <p:cNvPr id="22" name="TextBox 21"/>
          <p:cNvSpPr txBox="1"/>
          <p:nvPr/>
        </p:nvSpPr>
        <p:spPr>
          <a:xfrm>
            <a:off x="4809744" y="2724912"/>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75% attendance and assessed 'Competent'.</a:t>
            </a:r>
          </a:p>
        </p:txBody>
      </p:sp>
      <p:sp>
        <p:nvSpPr>
          <p:cNvPr id="23" name="TextBox 22"/>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4" name="TextBox 23"/>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5" name="TextBox 24"/>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ON ASSESSMENT DAY</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Assessment Flow</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600200"/>
            <a:ext cx="1543507"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600200"/>
            <a:ext cx="1543507"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28369" y="176479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1810512"/>
            <a:ext cx="1543507" cy="274320"/>
          </a:xfrm>
          <a:prstGeom prst="rect">
            <a:avLst/>
          </a:prstGeom>
          <a:noFill/>
        </p:spPr>
        <p:txBody>
          <a:bodyPr wrap="square" anchor="t">
            <a:spAutoFit/>
          </a:bodyPr>
          <a:lstStyle/>
          <a:p>
            <a:pPr algn="ctr">
              <a:spcAft>
                <a:spcPts val="300"/>
              </a:spcAft>
            </a:pPr>
            <a:r>
              <a:rPr sz="1100" b="1">
                <a:solidFill>
                  <a:srgbClr val="FFFFFF"/>
                </a:solidFill>
                <a:latin typeface="Arial"/>
              </a:rPr>
              <a:t>1</a:t>
            </a:r>
          </a:p>
        </p:txBody>
      </p:sp>
      <p:sp>
        <p:nvSpPr>
          <p:cNvPr id="11" name="TextBox 10"/>
          <p:cNvSpPr txBox="1"/>
          <p:nvPr/>
        </p:nvSpPr>
        <p:spPr>
          <a:xfrm>
            <a:off x="576072" y="2221992"/>
            <a:ext cx="1452067" cy="365760"/>
          </a:xfrm>
          <a:prstGeom prst="rect">
            <a:avLst/>
          </a:prstGeom>
          <a:noFill/>
        </p:spPr>
        <p:txBody>
          <a:bodyPr wrap="square" anchor="t">
            <a:spAutoFit/>
          </a:bodyPr>
          <a:lstStyle/>
          <a:p>
            <a:pPr algn="ctr">
              <a:spcAft>
                <a:spcPts val="300"/>
              </a:spcAft>
            </a:pPr>
            <a:r>
              <a:rPr sz="950" b="1">
                <a:solidFill>
                  <a:srgbClr val="161B26"/>
                </a:solidFill>
                <a:latin typeface="Arial"/>
              </a:rPr>
              <a:t>TRAQOM survey</a:t>
            </a:r>
          </a:p>
        </p:txBody>
      </p:sp>
      <p:sp>
        <p:nvSpPr>
          <p:cNvPr id="12" name="TextBox 11"/>
          <p:cNvSpPr txBox="1"/>
          <p:nvPr/>
        </p:nvSpPr>
        <p:spPr>
          <a:xfrm>
            <a:off x="576072" y="2560320"/>
            <a:ext cx="1452067" cy="475488"/>
          </a:xfrm>
          <a:prstGeom prst="rect">
            <a:avLst/>
          </a:prstGeom>
          <a:noFill/>
        </p:spPr>
        <p:txBody>
          <a:bodyPr wrap="square" anchor="t">
            <a:spAutoFit/>
          </a:bodyPr>
          <a:lstStyle/>
          <a:p>
            <a:pPr algn="ctr">
              <a:spcAft>
                <a:spcPts val="300"/>
              </a:spcAft>
            </a:pPr>
            <a:r>
              <a:rPr sz="750" b="0">
                <a:solidFill>
                  <a:srgbClr val="5B6372"/>
                </a:solidFill>
                <a:latin typeface="Arial"/>
              </a:rPr>
              <a:t>QR on the LMS</a:t>
            </a:r>
          </a:p>
        </p:txBody>
      </p:sp>
      <p:sp>
        <p:nvSpPr>
          <p:cNvPr id="13" name="TextBox 12"/>
          <p:cNvSpPr txBox="1"/>
          <p:nvPr/>
        </p:nvSpPr>
        <p:spPr>
          <a:xfrm>
            <a:off x="2073859" y="2148840"/>
            <a:ext cx="91440" cy="274320"/>
          </a:xfrm>
          <a:prstGeom prst="rect">
            <a:avLst/>
          </a:prstGeom>
          <a:noFill/>
        </p:spPr>
        <p:txBody>
          <a:bodyPr wrap="square" anchor="t">
            <a:spAutoFit/>
          </a:bodyPr>
          <a:lstStyle/>
          <a:p>
            <a:pPr algn="ctr">
              <a:spcAft>
                <a:spcPts val="300"/>
              </a:spcAft>
            </a:pPr>
            <a:r>
              <a:rPr sz="900" b="1">
                <a:solidFill>
                  <a:srgbClr val="1F6FEB"/>
                </a:solidFill>
                <a:latin typeface="Arial"/>
              </a:rPr>
              <a:t>▶</a:t>
            </a:r>
          </a:p>
        </p:txBody>
      </p:sp>
      <p:sp>
        <p:nvSpPr>
          <p:cNvPr id="14" name="Rectangle 13"/>
          <p:cNvSpPr/>
          <p:nvPr/>
        </p:nvSpPr>
        <p:spPr>
          <a:xfrm>
            <a:off x="2165299" y="1600200"/>
            <a:ext cx="1543507"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165299" y="1600200"/>
            <a:ext cx="1543507"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763316" y="176479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65299" y="1810512"/>
            <a:ext cx="1543507" cy="274320"/>
          </a:xfrm>
          <a:prstGeom prst="rect">
            <a:avLst/>
          </a:prstGeom>
          <a:noFill/>
        </p:spPr>
        <p:txBody>
          <a:bodyPr wrap="square" anchor="t">
            <a:spAutoFit/>
          </a:bodyPr>
          <a:lstStyle/>
          <a:p>
            <a:pPr algn="ctr">
              <a:spcAft>
                <a:spcPts val="300"/>
              </a:spcAft>
            </a:pPr>
            <a:r>
              <a:rPr sz="1100" b="1">
                <a:solidFill>
                  <a:srgbClr val="FFFFFF"/>
                </a:solidFill>
                <a:latin typeface="Arial"/>
              </a:rPr>
              <a:t>2</a:t>
            </a:r>
          </a:p>
        </p:txBody>
      </p:sp>
      <p:sp>
        <p:nvSpPr>
          <p:cNvPr id="18" name="TextBox 17"/>
          <p:cNvSpPr txBox="1"/>
          <p:nvPr/>
        </p:nvSpPr>
        <p:spPr>
          <a:xfrm>
            <a:off x="2211019" y="2221992"/>
            <a:ext cx="1452067" cy="365760"/>
          </a:xfrm>
          <a:prstGeom prst="rect">
            <a:avLst/>
          </a:prstGeom>
          <a:noFill/>
        </p:spPr>
        <p:txBody>
          <a:bodyPr wrap="square" anchor="t">
            <a:spAutoFit/>
          </a:bodyPr>
          <a:lstStyle/>
          <a:p>
            <a:pPr algn="ctr">
              <a:spcAft>
                <a:spcPts val="300"/>
              </a:spcAft>
            </a:pPr>
            <a:r>
              <a:rPr sz="950" b="1">
                <a:solidFill>
                  <a:srgbClr val="161B26"/>
                </a:solidFill>
                <a:latin typeface="Arial"/>
              </a:rPr>
              <a:t>Attendance</a:t>
            </a:r>
          </a:p>
        </p:txBody>
      </p:sp>
      <p:sp>
        <p:nvSpPr>
          <p:cNvPr id="19" name="TextBox 18"/>
          <p:cNvSpPr txBox="1"/>
          <p:nvPr/>
        </p:nvSpPr>
        <p:spPr>
          <a:xfrm>
            <a:off x="2211019" y="2560320"/>
            <a:ext cx="1452067" cy="475488"/>
          </a:xfrm>
          <a:prstGeom prst="rect">
            <a:avLst/>
          </a:prstGeom>
          <a:noFill/>
        </p:spPr>
        <p:txBody>
          <a:bodyPr wrap="square" anchor="t">
            <a:spAutoFit/>
          </a:bodyPr>
          <a:lstStyle/>
          <a:p>
            <a:pPr algn="ctr">
              <a:spcAft>
                <a:spcPts val="300"/>
              </a:spcAft>
            </a:pPr>
            <a:r>
              <a:rPr sz="750" b="0">
                <a:solidFill>
                  <a:srgbClr val="5B6372"/>
                </a:solidFill>
                <a:latin typeface="Arial"/>
              </a:rPr>
              <a:t>scan the SSG QR</a:t>
            </a:r>
          </a:p>
        </p:txBody>
      </p:sp>
      <p:sp>
        <p:nvSpPr>
          <p:cNvPr id="20" name="TextBox 19"/>
          <p:cNvSpPr txBox="1"/>
          <p:nvPr/>
        </p:nvSpPr>
        <p:spPr>
          <a:xfrm>
            <a:off x="3708806" y="2148840"/>
            <a:ext cx="91440" cy="274320"/>
          </a:xfrm>
          <a:prstGeom prst="rect">
            <a:avLst/>
          </a:prstGeom>
          <a:noFill/>
        </p:spPr>
        <p:txBody>
          <a:bodyPr wrap="square" anchor="t">
            <a:spAutoFit/>
          </a:bodyPr>
          <a:lstStyle/>
          <a:p>
            <a:pPr algn="ctr">
              <a:spcAft>
                <a:spcPts val="300"/>
              </a:spcAft>
            </a:pPr>
            <a:r>
              <a:rPr sz="900" b="1">
                <a:solidFill>
                  <a:srgbClr val="1F6FEB"/>
                </a:solidFill>
                <a:latin typeface="Arial"/>
              </a:rPr>
              <a:t>▶</a:t>
            </a:r>
          </a:p>
        </p:txBody>
      </p:sp>
      <p:sp>
        <p:nvSpPr>
          <p:cNvPr id="21" name="Rectangle 20"/>
          <p:cNvSpPr/>
          <p:nvPr/>
        </p:nvSpPr>
        <p:spPr>
          <a:xfrm>
            <a:off x="3800246" y="1600200"/>
            <a:ext cx="1543507"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800246" y="1600200"/>
            <a:ext cx="1543507"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398263" y="176479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00246" y="1810512"/>
            <a:ext cx="1543507" cy="274320"/>
          </a:xfrm>
          <a:prstGeom prst="rect">
            <a:avLst/>
          </a:prstGeom>
          <a:noFill/>
        </p:spPr>
        <p:txBody>
          <a:bodyPr wrap="square" anchor="t">
            <a:spAutoFit/>
          </a:bodyPr>
          <a:lstStyle/>
          <a:p>
            <a:pPr algn="ctr">
              <a:spcAft>
                <a:spcPts val="300"/>
              </a:spcAft>
            </a:pPr>
            <a:r>
              <a:rPr sz="1100" b="1">
                <a:solidFill>
                  <a:srgbClr val="FFFFFF"/>
                </a:solidFill>
                <a:latin typeface="Arial"/>
              </a:rPr>
              <a:t>3</a:t>
            </a:r>
          </a:p>
        </p:txBody>
      </p:sp>
      <p:sp>
        <p:nvSpPr>
          <p:cNvPr id="25" name="TextBox 24"/>
          <p:cNvSpPr txBox="1"/>
          <p:nvPr/>
        </p:nvSpPr>
        <p:spPr>
          <a:xfrm>
            <a:off x="3845966" y="2221992"/>
            <a:ext cx="1452067" cy="365760"/>
          </a:xfrm>
          <a:prstGeom prst="rect">
            <a:avLst/>
          </a:prstGeom>
          <a:noFill/>
        </p:spPr>
        <p:txBody>
          <a:bodyPr wrap="square" anchor="t">
            <a:spAutoFit/>
          </a:bodyPr>
          <a:lstStyle/>
          <a:p>
            <a:pPr algn="ctr">
              <a:spcAft>
                <a:spcPts val="300"/>
              </a:spcAft>
            </a:pPr>
            <a:r>
              <a:rPr sz="950" b="1">
                <a:solidFill>
                  <a:srgbClr val="161B26"/>
                </a:solidFill>
                <a:latin typeface="Arial"/>
              </a:rPr>
              <a:t>Sit WA then CS</a:t>
            </a:r>
          </a:p>
        </p:txBody>
      </p:sp>
      <p:sp>
        <p:nvSpPr>
          <p:cNvPr id="26" name="TextBox 25"/>
          <p:cNvSpPr txBox="1"/>
          <p:nvPr/>
        </p:nvSpPr>
        <p:spPr>
          <a:xfrm>
            <a:off x="3845966" y="2560320"/>
            <a:ext cx="1452067" cy="475488"/>
          </a:xfrm>
          <a:prstGeom prst="rect">
            <a:avLst/>
          </a:prstGeom>
          <a:noFill/>
        </p:spPr>
        <p:txBody>
          <a:bodyPr wrap="square" anchor="t">
            <a:spAutoFit/>
          </a:bodyPr>
          <a:lstStyle/>
          <a:p>
            <a:pPr algn="ctr">
              <a:spcAft>
                <a:spcPts val="300"/>
              </a:spcAft>
            </a:pPr>
            <a:r>
              <a:rPr sz="750" b="0">
                <a:solidFill>
                  <a:srgbClr val="5B6372"/>
                </a:solidFill>
                <a:latin typeface="Arial"/>
              </a:rPr>
              <a:t>open book</a:t>
            </a:r>
          </a:p>
        </p:txBody>
      </p:sp>
      <p:sp>
        <p:nvSpPr>
          <p:cNvPr id="27" name="TextBox 26"/>
          <p:cNvSpPr txBox="1"/>
          <p:nvPr/>
        </p:nvSpPr>
        <p:spPr>
          <a:xfrm>
            <a:off x="5343753" y="2148840"/>
            <a:ext cx="91440" cy="274320"/>
          </a:xfrm>
          <a:prstGeom prst="rect">
            <a:avLst/>
          </a:prstGeom>
          <a:noFill/>
        </p:spPr>
        <p:txBody>
          <a:bodyPr wrap="square" anchor="t">
            <a:spAutoFit/>
          </a:bodyPr>
          <a:lstStyle/>
          <a:p>
            <a:pPr algn="ctr">
              <a:spcAft>
                <a:spcPts val="300"/>
              </a:spcAft>
            </a:pPr>
            <a:r>
              <a:rPr sz="900" b="1">
                <a:solidFill>
                  <a:srgbClr val="1F6FEB"/>
                </a:solidFill>
                <a:latin typeface="Arial"/>
              </a:rPr>
              <a:t>▶</a:t>
            </a:r>
          </a:p>
        </p:txBody>
      </p:sp>
      <p:sp>
        <p:nvSpPr>
          <p:cNvPr id="28" name="Rectangle 27"/>
          <p:cNvSpPr/>
          <p:nvPr/>
        </p:nvSpPr>
        <p:spPr>
          <a:xfrm>
            <a:off x="5435193" y="1600200"/>
            <a:ext cx="1543507"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35193" y="1600200"/>
            <a:ext cx="1543507"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033210" y="176479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35193" y="1810512"/>
            <a:ext cx="1543507" cy="274320"/>
          </a:xfrm>
          <a:prstGeom prst="rect">
            <a:avLst/>
          </a:prstGeom>
          <a:noFill/>
        </p:spPr>
        <p:txBody>
          <a:bodyPr wrap="square" anchor="t">
            <a:spAutoFit/>
          </a:bodyPr>
          <a:lstStyle/>
          <a:p>
            <a:pPr algn="ctr">
              <a:spcAft>
                <a:spcPts val="300"/>
              </a:spcAft>
            </a:pPr>
            <a:r>
              <a:rPr sz="1100" b="1">
                <a:solidFill>
                  <a:srgbClr val="FFFFFF"/>
                </a:solidFill>
                <a:latin typeface="Arial"/>
              </a:rPr>
              <a:t>4</a:t>
            </a:r>
          </a:p>
        </p:txBody>
      </p:sp>
      <p:sp>
        <p:nvSpPr>
          <p:cNvPr id="32" name="TextBox 31"/>
          <p:cNvSpPr txBox="1"/>
          <p:nvPr/>
        </p:nvSpPr>
        <p:spPr>
          <a:xfrm>
            <a:off x="5480913" y="2221992"/>
            <a:ext cx="1452067" cy="365760"/>
          </a:xfrm>
          <a:prstGeom prst="rect">
            <a:avLst/>
          </a:prstGeom>
          <a:noFill/>
        </p:spPr>
        <p:txBody>
          <a:bodyPr wrap="square" anchor="t">
            <a:spAutoFit/>
          </a:bodyPr>
          <a:lstStyle/>
          <a:p>
            <a:pPr algn="ctr">
              <a:spcAft>
                <a:spcPts val="300"/>
              </a:spcAft>
            </a:pPr>
            <a:r>
              <a:rPr sz="950" b="1">
                <a:solidFill>
                  <a:srgbClr val="161B26"/>
                </a:solidFill>
                <a:latin typeface="Arial"/>
              </a:rPr>
              <a:t>Submit</a:t>
            </a:r>
          </a:p>
        </p:txBody>
      </p:sp>
      <p:sp>
        <p:nvSpPr>
          <p:cNvPr id="33" name="TextBox 32"/>
          <p:cNvSpPr txBox="1"/>
          <p:nvPr/>
        </p:nvSpPr>
        <p:spPr>
          <a:xfrm>
            <a:off x="5480913" y="2560320"/>
            <a:ext cx="1452067" cy="475488"/>
          </a:xfrm>
          <a:prstGeom prst="rect">
            <a:avLst/>
          </a:prstGeom>
          <a:noFill/>
        </p:spPr>
        <p:txBody>
          <a:bodyPr wrap="square" anchor="t">
            <a:spAutoFit/>
          </a:bodyPr>
          <a:lstStyle/>
          <a:p>
            <a:pPr algn="ctr">
              <a:spcAft>
                <a:spcPts val="300"/>
              </a:spcAft>
            </a:pPr>
            <a:r>
              <a:rPr sz="750" b="0">
                <a:solidFill>
                  <a:srgbClr val="5B6372"/>
                </a:solidFill>
                <a:latin typeface="Arial"/>
              </a:rPr>
              <a:t>on the LMS</a:t>
            </a:r>
          </a:p>
        </p:txBody>
      </p:sp>
      <p:sp>
        <p:nvSpPr>
          <p:cNvPr id="34" name="TextBox 33"/>
          <p:cNvSpPr txBox="1"/>
          <p:nvPr/>
        </p:nvSpPr>
        <p:spPr>
          <a:xfrm>
            <a:off x="6978700" y="2148840"/>
            <a:ext cx="91440" cy="274320"/>
          </a:xfrm>
          <a:prstGeom prst="rect">
            <a:avLst/>
          </a:prstGeom>
          <a:noFill/>
        </p:spPr>
        <p:txBody>
          <a:bodyPr wrap="square" anchor="t">
            <a:spAutoFit/>
          </a:bodyPr>
          <a:lstStyle/>
          <a:p>
            <a:pPr algn="ctr">
              <a:spcAft>
                <a:spcPts val="300"/>
              </a:spcAft>
            </a:pPr>
            <a:r>
              <a:rPr sz="900" b="1">
                <a:solidFill>
                  <a:srgbClr val="1F6FEB"/>
                </a:solidFill>
                <a:latin typeface="Arial"/>
              </a:rPr>
              <a:t>▶</a:t>
            </a:r>
          </a:p>
        </p:txBody>
      </p:sp>
      <p:sp>
        <p:nvSpPr>
          <p:cNvPr id="35" name="Rectangle 34"/>
          <p:cNvSpPr/>
          <p:nvPr/>
        </p:nvSpPr>
        <p:spPr>
          <a:xfrm>
            <a:off x="7070140" y="1600200"/>
            <a:ext cx="1543507"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70140" y="1600200"/>
            <a:ext cx="1543507"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668157" y="176479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70140" y="1810512"/>
            <a:ext cx="1543507" cy="274320"/>
          </a:xfrm>
          <a:prstGeom prst="rect">
            <a:avLst/>
          </a:prstGeom>
          <a:noFill/>
        </p:spPr>
        <p:txBody>
          <a:bodyPr wrap="square" anchor="t">
            <a:spAutoFit/>
          </a:bodyPr>
          <a:lstStyle/>
          <a:p>
            <a:pPr algn="ctr">
              <a:spcAft>
                <a:spcPts val="300"/>
              </a:spcAft>
            </a:pPr>
            <a:r>
              <a:rPr sz="1100" b="1">
                <a:solidFill>
                  <a:srgbClr val="FFFFFF"/>
                </a:solidFill>
                <a:latin typeface="Arial"/>
              </a:rPr>
              <a:t>5</a:t>
            </a:r>
          </a:p>
        </p:txBody>
      </p:sp>
      <p:sp>
        <p:nvSpPr>
          <p:cNvPr id="39" name="TextBox 38"/>
          <p:cNvSpPr txBox="1"/>
          <p:nvPr/>
        </p:nvSpPr>
        <p:spPr>
          <a:xfrm>
            <a:off x="7115860" y="2221992"/>
            <a:ext cx="1452067" cy="365760"/>
          </a:xfrm>
          <a:prstGeom prst="rect">
            <a:avLst/>
          </a:prstGeom>
          <a:noFill/>
        </p:spPr>
        <p:txBody>
          <a:bodyPr wrap="square" anchor="t">
            <a:spAutoFit/>
          </a:bodyPr>
          <a:lstStyle/>
          <a:p>
            <a:pPr algn="ctr">
              <a:spcAft>
                <a:spcPts val="300"/>
              </a:spcAft>
            </a:pPr>
            <a:r>
              <a:rPr sz="950" b="1">
                <a:solidFill>
                  <a:srgbClr val="161B26"/>
                </a:solidFill>
                <a:latin typeface="Arial"/>
              </a:rPr>
              <a:t>Sign off</a:t>
            </a:r>
          </a:p>
        </p:txBody>
      </p:sp>
      <p:sp>
        <p:nvSpPr>
          <p:cNvPr id="40" name="TextBox 39"/>
          <p:cNvSpPr txBox="1"/>
          <p:nvPr/>
        </p:nvSpPr>
        <p:spPr>
          <a:xfrm>
            <a:off x="7115860" y="2560320"/>
            <a:ext cx="1452067" cy="475488"/>
          </a:xfrm>
          <a:prstGeom prst="rect">
            <a:avLst/>
          </a:prstGeom>
          <a:noFill/>
        </p:spPr>
        <p:txBody>
          <a:bodyPr wrap="square" anchor="t">
            <a:spAutoFit/>
          </a:bodyPr>
          <a:lstStyle/>
          <a:p>
            <a:pPr algn="ctr">
              <a:spcAft>
                <a:spcPts val="300"/>
              </a:spcAft>
            </a:pPr>
            <a:r>
              <a:rPr sz="750" b="0">
                <a:solidFill>
                  <a:srgbClr val="5B6372"/>
                </a:solidFill>
                <a:latin typeface="Arial"/>
              </a:rPr>
              <a:t>Summary Record</a:t>
            </a:r>
          </a:p>
        </p:txBody>
      </p:sp>
      <p:sp>
        <p:nvSpPr>
          <p:cNvPr id="41" name="TextBox 40"/>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2" name="TextBox 41"/>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3" name="TextBox 42"/>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0B981"/>
                </a:solidFill>
                <a:latin typeface="Arial"/>
              </a:rPr>
              <a:t>SSG FUNDING</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Criteria for Funding</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298448"/>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Minimum 75% attendance</a:t>
            </a:r>
          </a:p>
        </p:txBody>
      </p:sp>
      <p:sp>
        <p:nvSpPr>
          <p:cNvPr id="10" name="TextBox 9"/>
          <p:cNvSpPr txBox="1"/>
          <p:nvPr/>
        </p:nvSpPr>
        <p:spPr>
          <a:xfrm>
            <a:off x="694944" y="1554480"/>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Per the SSG Digital Attendance record.</a:t>
            </a:r>
          </a:p>
        </p:txBody>
      </p:sp>
      <p:sp>
        <p:nvSpPr>
          <p:cNvPr id="11" name="Rectangle 10"/>
          <p:cNvSpPr/>
          <p:nvPr/>
        </p:nvSpPr>
        <p:spPr>
          <a:xfrm>
            <a:off x="4645152" y="1207008"/>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45152" y="1207008"/>
            <a:ext cx="41148"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9744" y="1298448"/>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Complete the assessment</a:t>
            </a:r>
          </a:p>
        </p:txBody>
      </p:sp>
      <p:sp>
        <p:nvSpPr>
          <p:cNvPr id="14" name="TextBox 13"/>
          <p:cNvSpPr txBox="1"/>
          <p:nvPr/>
        </p:nvSpPr>
        <p:spPr>
          <a:xfrm>
            <a:off x="4809744" y="1554480"/>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Both the WA and the Case Study.</a:t>
            </a:r>
          </a:p>
        </p:txBody>
      </p:sp>
      <p:sp>
        <p:nvSpPr>
          <p:cNvPr id="15" name="Rectangle 14"/>
          <p:cNvSpPr/>
          <p:nvPr/>
        </p:nvSpPr>
        <p:spPr>
          <a:xfrm>
            <a:off x="530352" y="2377440"/>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 y="2377440"/>
            <a:ext cx="41148"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2468880"/>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Assessed 'Competent'</a:t>
            </a:r>
          </a:p>
        </p:txBody>
      </p:sp>
      <p:sp>
        <p:nvSpPr>
          <p:cNvPr id="18" name="TextBox 17"/>
          <p:cNvSpPr txBox="1"/>
          <p:nvPr/>
        </p:nvSpPr>
        <p:spPr>
          <a:xfrm>
            <a:off x="694944" y="2724912"/>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Across every assessment criterion.</a:t>
            </a:r>
          </a:p>
        </p:txBody>
      </p:sp>
      <p:sp>
        <p:nvSpPr>
          <p:cNvPr id="19" name="Rectangle 18"/>
          <p:cNvSpPr/>
          <p:nvPr/>
        </p:nvSpPr>
        <p:spPr>
          <a:xfrm>
            <a:off x="4645152" y="2377440"/>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45152" y="2377440"/>
            <a:ext cx="41148"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9744" y="2468880"/>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TRAQOM survey</a:t>
            </a:r>
          </a:p>
        </p:txBody>
      </p:sp>
      <p:sp>
        <p:nvSpPr>
          <p:cNvPr id="22" name="TextBox 21"/>
          <p:cNvSpPr txBox="1"/>
          <p:nvPr/>
        </p:nvSpPr>
        <p:spPr>
          <a:xfrm>
            <a:off x="4809744" y="2724912"/>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Complete the mandatory survey on the LMS.</a:t>
            </a:r>
          </a:p>
        </p:txBody>
      </p:sp>
      <p:sp>
        <p:nvSpPr>
          <p:cNvPr id="23" name="TextBox 22"/>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4" name="TextBox 23"/>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5" name="TextBox 24"/>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0B981"/>
                </a:solidFill>
                <a:latin typeface="Arial"/>
              </a:rPr>
              <a:t>COURSE PORTAL · LMS / TMS</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Download Your Course Material</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600200"/>
            <a:ext cx="1543507"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600200"/>
            <a:ext cx="1543507" cy="45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28369" y="1764792"/>
            <a:ext cx="347472" cy="3474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1810512"/>
            <a:ext cx="1543507" cy="274320"/>
          </a:xfrm>
          <a:prstGeom prst="rect">
            <a:avLst/>
          </a:prstGeom>
          <a:noFill/>
        </p:spPr>
        <p:txBody>
          <a:bodyPr wrap="square" anchor="t">
            <a:spAutoFit/>
          </a:bodyPr>
          <a:lstStyle/>
          <a:p>
            <a:pPr algn="ctr">
              <a:spcAft>
                <a:spcPts val="300"/>
              </a:spcAft>
            </a:pPr>
            <a:r>
              <a:rPr sz="1100" b="1">
                <a:solidFill>
                  <a:srgbClr val="FFFFFF"/>
                </a:solidFill>
                <a:latin typeface="Arial"/>
              </a:rPr>
              <a:t>1</a:t>
            </a:r>
          </a:p>
        </p:txBody>
      </p:sp>
      <p:sp>
        <p:nvSpPr>
          <p:cNvPr id="11" name="TextBox 10"/>
          <p:cNvSpPr txBox="1"/>
          <p:nvPr/>
        </p:nvSpPr>
        <p:spPr>
          <a:xfrm>
            <a:off x="576072" y="2221992"/>
            <a:ext cx="1452067" cy="365760"/>
          </a:xfrm>
          <a:prstGeom prst="rect">
            <a:avLst/>
          </a:prstGeom>
          <a:noFill/>
        </p:spPr>
        <p:txBody>
          <a:bodyPr wrap="square" anchor="t">
            <a:spAutoFit/>
          </a:bodyPr>
          <a:lstStyle/>
          <a:p>
            <a:pPr algn="ctr">
              <a:spcAft>
                <a:spcPts val="300"/>
              </a:spcAft>
            </a:pPr>
            <a:r>
              <a:rPr sz="950" b="1">
                <a:solidFill>
                  <a:srgbClr val="161B26"/>
                </a:solidFill>
                <a:latin typeface="Arial"/>
              </a:rPr>
              <a:t>Open the portal</a:t>
            </a:r>
          </a:p>
        </p:txBody>
      </p:sp>
      <p:sp>
        <p:nvSpPr>
          <p:cNvPr id="12" name="TextBox 11"/>
          <p:cNvSpPr txBox="1"/>
          <p:nvPr/>
        </p:nvSpPr>
        <p:spPr>
          <a:xfrm>
            <a:off x="576072" y="2560320"/>
            <a:ext cx="1452067" cy="475488"/>
          </a:xfrm>
          <a:prstGeom prst="rect">
            <a:avLst/>
          </a:prstGeom>
          <a:noFill/>
        </p:spPr>
        <p:txBody>
          <a:bodyPr wrap="square" anchor="t">
            <a:spAutoFit/>
          </a:bodyPr>
          <a:lstStyle/>
          <a:p>
            <a:pPr algn="ctr">
              <a:spcAft>
                <a:spcPts val="300"/>
              </a:spcAft>
            </a:pPr>
            <a:r>
              <a:rPr sz="750" b="0">
                <a:solidFill>
                  <a:srgbClr val="5B6372"/>
                </a:solidFill>
                <a:latin typeface="Arial"/>
              </a:rPr>
              <a:t>lms-tms.tertiaryinfotech.com</a:t>
            </a:r>
          </a:p>
        </p:txBody>
      </p:sp>
      <p:sp>
        <p:nvSpPr>
          <p:cNvPr id="13" name="TextBox 12"/>
          <p:cNvSpPr txBox="1"/>
          <p:nvPr/>
        </p:nvSpPr>
        <p:spPr>
          <a:xfrm>
            <a:off x="2073859" y="2148840"/>
            <a:ext cx="91440" cy="274320"/>
          </a:xfrm>
          <a:prstGeom prst="rect">
            <a:avLst/>
          </a:prstGeom>
          <a:noFill/>
        </p:spPr>
        <p:txBody>
          <a:bodyPr wrap="square" anchor="t">
            <a:spAutoFit/>
          </a:bodyPr>
          <a:lstStyle/>
          <a:p>
            <a:pPr algn="ctr">
              <a:spcAft>
                <a:spcPts val="300"/>
              </a:spcAft>
            </a:pPr>
            <a:r>
              <a:rPr sz="900" b="1">
                <a:solidFill>
                  <a:srgbClr val="10B981"/>
                </a:solidFill>
                <a:latin typeface="Arial"/>
              </a:rPr>
              <a:t>▶</a:t>
            </a:r>
          </a:p>
        </p:txBody>
      </p:sp>
      <p:sp>
        <p:nvSpPr>
          <p:cNvPr id="14" name="Rectangle 13"/>
          <p:cNvSpPr/>
          <p:nvPr/>
        </p:nvSpPr>
        <p:spPr>
          <a:xfrm>
            <a:off x="2165299" y="1600200"/>
            <a:ext cx="1543507"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165299" y="1600200"/>
            <a:ext cx="1543507" cy="45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763316" y="1764792"/>
            <a:ext cx="347472" cy="3474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65299" y="1810512"/>
            <a:ext cx="1543507" cy="274320"/>
          </a:xfrm>
          <a:prstGeom prst="rect">
            <a:avLst/>
          </a:prstGeom>
          <a:noFill/>
        </p:spPr>
        <p:txBody>
          <a:bodyPr wrap="square" anchor="t">
            <a:spAutoFit/>
          </a:bodyPr>
          <a:lstStyle/>
          <a:p>
            <a:pPr algn="ctr">
              <a:spcAft>
                <a:spcPts val="300"/>
              </a:spcAft>
            </a:pPr>
            <a:r>
              <a:rPr sz="1100" b="1">
                <a:solidFill>
                  <a:srgbClr val="FFFFFF"/>
                </a:solidFill>
                <a:latin typeface="Arial"/>
              </a:rPr>
              <a:t>2</a:t>
            </a:r>
          </a:p>
        </p:txBody>
      </p:sp>
      <p:sp>
        <p:nvSpPr>
          <p:cNvPr id="18" name="TextBox 17"/>
          <p:cNvSpPr txBox="1"/>
          <p:nvPr/>
        </p:nvSpPr>
        <p:spPr>
          <a:xfrm>
            <a:off x="2211019" y="2221992"/>
            <a:ext cx="1452067" cy="365760"/>
          </a:xfrm>
          <a:prstGeom prst="rect">
            <a:avLst/>
          </a:prstGeom>
          <a:noFill/>
        </p:spPr>
        <p:txBody>
          <a:bodyPr wrap="square" anchor="t">
            <a:spAutoFit/>
          </a:bodyPr>
          <a:lstStyle/>
          <a:p>
            <a:pPr algn="ctr">
              <a:spcAft>
                <a:spcPts val="300"/>
              </a:spcAft>
            </a:pPr>
            <a:r>
              <a:rPr sz="950" b="1">
                <a:solidFill>
                  <a:srgbClr val="161B26"/>
                </a:solidFill>
                <a:latin typeface="Arial"/>
              </a:rPr>
              <a:t>Log in</a:t>
            </a:r>
          </a:p>
        </p:txBody>
      </p:sp>
      <p:sp>
        <p:nvSpPr>
          <p:cNvPr id="19" name="TextBox 18"/>
          <p:cNvSpPr txBox="1"/>
          <p:nvPr/>
        </p:nvSpPr>
        <p:spPr>
          <a:xfrm>
            <a:off x="2211019" y="2560320"/>
            <a:ext cx="1452067" cy="475488"/>
          </a:xfrm>
          <a:prstGeom prst="rect">
            <a:avLst/>
          </a:prstGeom>
          <a:noFill/>
        </p:spPr>
        <p:txBody>
          <a:bodyPr wrap="square" anchor="t">
            <a:spAutoFit/>
          </a:bodyPr>
          <a:lstStyle/>
          <a:p>
            <a:pPr algn="ctr">
              <a:spcAft>
                <a:spcPts val="300"/>
              </a:spcAft>
            </a:pPr>
            <a:r>
              <a:rPr sz="750" b="0">
                <a:solidFill>
                  <a:srgbClr val="5B6372"/>
                </a:solidFill>
                <a:latin typeface="Arial"/>
              </a:rPr>
              <a:t>registered email</a:t>
            </a:r>
          </a:p>
        </p:txBody>
      </p:sp>
      <p:sp>
        <p:nvSpPr>
          <p:cNvPr id="20" name="TextBox 19"/>
          <p:cNvSpPr txBox="1"/>
          <p:nvPr/>
        </p:nvSpPr>
        <p:spPr>
          <a:xfrm>
            <a:off x="3708806" y="2148840"/>
            <a:ext cx="91440" cy="274320"/>
          </a:xfrm>
          <a:prstGeom prst="rect">
            <a:avLst/>
          </a:prstGeom>
          <a:noFill/>
        </p:spPr>
        <p:txBody>
          <a:bodyPr wrap="square" anchor="t">
            <a:spAutoFit/>
          </a:bodyPr>
          <a:lstStyle/>
          <a:p>
            <a:pPr algn="ctr">
              <a:spcAft>
                <a:spcPts val="300"/>
              </a:spcAft>
            </a:pPr>
            <a:r>
              <a:rPr sz="900" b="1">
                <a:solidFill>
                  <a:srgbClr val="10B981"/>
                </a:solidFill>
                <a:latin typeface="Arial"/>
              </a:rPr>
              <a:t>▶</a:t>
            </a:r>
          </a:p>
        </p:txBody>
      </p:sp>
      <p:sp>
        <p:nvSpPr>
          <p:cNvPr id="21" name="Rectangle 20"/>
          <p:cNvSpPr/>
          <p:nvPr/>
        </p:nvSpPr>
        <p:spPr>
          <a:xfrm>
            <a:off x="3800246" y="1600200"/>
            <a:ext cx="1543507"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800246" y="1600200"/>
            <a:ext cx="1543507" cy="45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398263" y="1764792"/>
            <a:ext cx="347472" cy="3474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00246" y="1810512"/>
            <a:ext cx="1543507" cy="274320"/>
          </a:xfrm>
          <a:prstGeom prst="rect">
            <a:avLst/>
          </a:prstGeom>
          <a:noFill/>
        </p:spPr>
        <p:txBody>
          <a:bodyPr wrap="square" anchor="t">
            <a:spAutoFit/>
          </a:bodyPr>
          <a:lstStyle/>
          <a:p>
            <a:pPr algn="ctr">
              <a:spcAft>
                <a:spcPts val="300"/>
              </a:spcAft>
            </a:pPr>
            <a:r>
              <a:rPr sz="1100" b="1">
                <a:solidFill>
                  <a:srgbClr val="FFFFFF"/>
                </a:solidFill>
                <a:latin typeface="Arial"/>
              </a:rPr>
              <a:t>3</a:t>
            </a:r>
          </a:p>
        </p:txBody>
      </p:sp>
      <p:sp>
        <p:nvSpPr>
          <p:cNvPr id="25" name="TextBox 24"/>
          <p:cNvSpPr txBox="1"/>
          <p:nvPr/>
        </p:nvSpPr>
        <p:spPr>
          <a:xfrm>
            <a:off x="3845966" y="2221992"/>
            <a:ext cx="1452067" cy="365760"/>
          </a:xfrm>
          <a:prstGeom prst="rect">
            <a:avLst/>
          </a:prstGeom>
          <a:noFill/>
        </p:spPr>
        <p:txBody>
          <a:bodyPr wrap="square" anchor="t">
            <a:spAutoFit/>
          </a:bodyPr>
          <a:lstStyle/>
          <a:p>
            <a:pPr algn="ctr">
              <a:spcAft>
                <a:spcPts val="300"/>
              </a:spcAft>
            </a:pPr>
            <a:r>
              <a:rPr sz="950" b="1">
                <a:solidFill>
                  <a:srgbClr val="161B26"/>
                </a:solidFill>
                <a:latin typeface="Arial"/>
              </a:rPr>
              <a:t>My Courses</a:t>
            </a:r>
          </a:p>
        </p:txBody>
      </p:sp>
      <p:sp>
        <p:nvSpPr>
          <p:cNvPr id="26" name="TextBox 25"/>
          <p:cNvSpPr txBox="1"/>
          <p:nvPr/>
        </p:nvSpPr>
        <p:spPr>
          <a:xfrm>
            <a:off x="3845966" y="2560320"/>
            <a:ext cx="1452067" cy="475488"/>
          </a:xfrm>
          <a:prstGeom prst="rect">
            <a:avLst/>
          </a:prstGeom>
          <a:noFill/>
        </p:spPr>
        <p:txBody>
          <a:bodyPr wrap="square" anchor="t">
            <a:spAutoFit/>
          </a:bodyPr>
          <a:lstStyle/>
          <a:p>
            <a:pPr algn="ctr">
              <a:spcAft>
                <a:spcPts val="300"/>
              </a:spcAft>
            </a:pPr>
            <a:r>
              <a:rPr sz="750" b="0">
                <a:solidFill>
                  <a:srgbClr val="5B6372"/>
                </a:solidFill>
                <a:latin typeface="Arial"/>
              </a:rPr>
              <a:t>open this course</a:t>
            </a:r>
          </a:p>
        </p:txBody>
      </p:sp>
      <p:sp>
        <p:nvSpPr>
          <p:cNvPr id="27" name="TextBox 26"/>
          <p:cNvSpPr txBox="1"/>
          <p:nvPr/>
        </p:nvSpPr>
        <p:spPr>
          <a:xfrm>
            <a:off x="5343753" y="2148840"/>
            <a:ext cx="91440" cy="274320"/>
          </a:xfrm>
          <a:prstGeom prst="rect">
            <a:avLst/>
          </a:prstGeom>
          <a:noFill/>
        </p:spPr>
        <p:txBody>
          <a:bodyPr wrap="square" anchor="t">
            <a:spAutoFit/>
          </a:bodyPr>
          <a:lstStyle/>
          <a:p>
            <a:pPr algn="ctr">
              <a:spcAft>
                <a:spcPts val="300"/>
              </a:spcAft>
            </a:pPr>
            <a:r>
              <a:rPr sz="900" b="1">
                <a:solidFill>
                  <a:srgbClr val="10B981"/>
                </a:solidFill>
                <a:latin typeface="Arial"/>
              </a:rPr>
              <a:t>▶</a:t>
            </a:r>
          </a:p>
        </p:txBody>
      </p:sp>
      <p:sp>
        <p:nvSpPr>
          <p:cNvPr id="28" name="Rectangle 27"/>
          <p:cNvSpPr/>
          <p:nvPr/>
        </p:nvSpPr>
        <p:spPr>
          <a:xfrm>
            <a:off x="5435193" y="1600200"/>
            <a:ext cx="1543507"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35193" y="1600200"/>
            <a:ext cx="1543507" cy="45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033210" y="1764792"/>
            <a:ext cx="347472" cy="3474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35193" y="1810512"/>
            <a:ext cx="1543507" cy="274320"/>
          </a:xfrm>
          <a:prstGeom prst="rect">
            <a:avLst/>
          </a:prstGeom>
          <a:noFill/>
        </p:spPr>
        <p:txBody>
          <a:bodyPr wrap="square" anchor="t">
            <a:spAutoFit/>
          </a:bodyPr>
          <a:lstStyle/>
          <a:p>
            <a:pPr algn="ctr">
              <a:spcAft>
                <a:spcPts val="300"/>
              </a:spcAft>
            </a:pPr>
            <a:r>
              <a:rPr sz="1100" b="1">
                <a:solidFill>
                  <a:srgbClr val="FFFFFF"/>
                </a:solidFill>
                <a:latin typeface="Arial"/>
              </a:rPr>
              <a:t>4</a:t>
            </a:r>
          </a:p>
        </p:txBody>
      </p:sp>
      <p:sp>
        <p:nvSpPr>
          <p:cNvPr id="32" name="TextBox 31"/>
          <p:cNvSpPr txBox="1"/>
          <p:nvPr/>
        </p:nvSpPr>
        <p:spPr>
          <a:xfrm>
            <a:off x="5480913" y="2221992"/>
            <a:ext cx="1452067" cy="365760"/>
          </a:xfrm>
          <a:prstGeom prst="rect">
            <a:avLst/>
          </a:prstGeom>
          <a:noFill/>
        </p:spPr>
        <p:txBody>
          <a:bodyPr wrap="square" anchor="t">
            <a:spAutoFit/>
          </a:bodyPr>
          <a:lstStyle/>
          <a:p>
            <a:pPr algn="ctr">
              <a:spcAft>
                <a:spcPts val="300"/>
              </a:spcAft>
            </a:pPr>
            <a:r>
              <a:rPr sz="950" b="1">
                <a:solidFill>
                  <a:srgbClr val="161B26"/>
                </a:solidFill>
                <a:latin typeface="Arial"/>
              </a:rPr>
              <a:t>Download</a:t>
            </a:r>
          </a:p>
        </p:txBody>
      </p:sp>
      <p:sp>
        <p:nvSpPr>
          <p:cNvPr id="33" name="TextBox 32"/>
          <p:cNvSpPr txBox="1"/>
          <p:nvPr/>
        </p:nvSpPr>
        <p:spPr>
          <a:xfrm>
            <a:off x="5480913" y="2560320"/>
            <a:ext cx="1452067" cy="475488"/>
          </a:xfrm>
          <a:prstGeom prst="rect">
            <a:avLst/>
          </a:prstGeom>
          <a:noFill/>
        </p:spPr>
        <p:txBody>
          <a:bodyPr wrap="square" anchor="t">
            <a:spAutoFit/>
          </a:bodyPr>
          <a:lstStyle/>
          <a:p>
            <a:pPr algn="ctr">
              <a:spcAft>
                <a:spcPts val="300"/>
              </a:spcAft>
            </a:pPr>
            <a:r>
              <a:rPr sz="750" b="0">
                <a:solidFill>
                  <a:srgbClr val="5B6372"/>
                </a:solidFill>
                <a:latin typeface="Arial"/>
              </a:rPr>
              <a:t>slides + Learner Guide</a:t>
            </a:r>
          </a:p>
        </p:txBody>
      </p:sp>
      <p:sp>
        <p:nvSpPr>
          <p:cNvPr id="34" name="TextBox 33"/>
          <p:cNvSpPr txBox="1"/>
          <p:nvPr/>
        </p:nvSpPr>
        <p:spPr>
          <a:xfrm>
            <a:off x="6978700" y="2148840"/>
            <a:ext cx="91440" cy="274320"/>
          </a:xfrm>
          <a:prstGeom prst="rect">
            <a:avLst/>
          </a:prstGeom>
          <a:noFill/>
        </p:spPr>
        <p:txBody>
          <a:bodyPr wrap="square" anchor="t">
            <a:spAutoFit/>
          </a:bodyPr>
          <a:lstStyle/>
          <a:p>
            <a:pPr algn="ctr">
              <a:spcAft>
                <a:spcPts val="300"/>
              </a:spcAft>
            </a:pPr>
            <a:r>
              <a:rPr sz="900" b="1">
                <a:solidFill>
                  <a:srgbClr val="10B981"/>
                </a:solidFill>
                <a:latin typeface="Arial"/>
              </a:rPr>
              <a:t>▶</a:t>
            </a:r>
          </a:p>
        </p:txBody>
      </p:sp>
      <p:sp>
        <p:nvSpPr>
          <p:cNvPr id="35" name="Rectangle 34"/>
          <p:cNvSpPr/>
          <p:nvPr/>
        </p:nvSpPr>
        <p:spPr>
          <a:xfrm>
            <a:off x="7070140" y="1600200"/>
            <a:ext cx="1543507"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70140" y="1600200"/>
            <a:ext cx="1543507" cy="45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668157" y="1764792"/>
            <a:ext cx="347472" cy="3474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70140" y="1810512"/>
            <a:ext cx="1543507" cy="274320"/>
          </a:xfrm>
          <a:prstGeom prst="rect">
            <a:avLst/>
          </a:prstGeom>
          <a:noFill/>
        </p:spPr>
        <p:txBody>
          <a:bodyPr wrap="square" anchor="t">
            <a:spAutoFit/>
          </a:bodyPr>
          <a:lstStyle/>
          <a:p>
            <a:pPr algn="ctr">
              <a:spcAft>
                <a:spcPts val="300"/>
              </a:spcAft>
            </a:pPr>
            <a:r>
              <a:rPr sz="1100" b="1">
                <a:solidFill>
                  <a:srgbClr val="FFFFFF"/>
                </a:solidFill>
                <a:latin typeface="Arial"/>
              </a:rPr>
              <a:t>5</a:t>
            </a:r>
          </a:p>
        </p:txBody>
      </p:sp>
      <p:sp>
        <p:nvSpPr>
          <p:cNvPr id="39" name="TextBox 38"/>
          <p:cNvSpPr txBox="1"/>
          <p:nvPr/>
        </p:nvSpPr>
        <p:spPr>
          <a:xfrm>
            <a:off x="7115860" y="2221992"/>
            <a:ext cx="1452067" cy="365760"/>
          </a:xfrm>
          <a:prstGeom prst="rect">
            <a:avLst/>
          </a:prstGeom>
          <a:noFill/>
        </p:spPr>
        <p:txBody>
          <a:bodyPr wrap="square" anchor="t">
            <a:spAutoFit/>
          </a:bodyPr>
          <a:lstStyle/>
          <a:p>
            <a:pPr algn="ctr">
              <a:spcAft>
                <a:spcPts val="300"/>
              </a:spcAft>
            </a:pPr>
            <a:r>
              <a:rPr sz="950" b="1">
                <a:solidFill>
                  <a:srgbClr val="161B26"/>
                </a:solidFill>
                <a:latin typeface="Arial"/>
              </a:rPr>
              <a:t>Keep open</a:t>
            </a:r>
          </a:p>
        </p:txBody>
      </p:sp>
      <p:sp>
        <p:nvSpPr>
          <p:cNvPr id="40" name="TextBox 39"/>
          <p:cNvSpPr txBox="1"/>
          <p:nvPr/>
        </p:nvSpPr>
        <p:spPr>
          <a:xfrm>
            <a:off x="7115860" y="2560320"/>
            <a:ext cx="1452067" cy="475488"/>
          </a:xfrm>
          <a:prstGeom prst="rect">
            <a:avLst/>
          </a:prstGeom>
          <a:noFill/>
        </p:spPr>
        <p:txBody>
          <a:bodyPr wrap="square" anchor="t">
            <a:spAutoFit/>
          </a:bodyPr>
          <a:lstStyle/>
          <a:p>
            <a:pPr algn="ctr">
              <a:spcAft>
                <a:spcPts val="300"/>
              </a:spcAft>
            </a:pPr>
            <a:r>
              <a:rPr sz="750" b="0">
                <a:solidFill>
                  <a:srgbClr val="5B6372"/>
                </a:solidFill>
                <a:latin typeface="Arial"/>
              </a:rPr>
              <a:t>open-book assessment</a:t>
            </a:r>
          </a:p>
        </p:txBody>
      </p:sp>
      <p:sp>
        <p:nvSpPr>
          <p:cNvPr id="41" name="TextBox 40"/>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2" name="TextBox 41"/>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3" name="TextBox 42"/>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2024" cy="51435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691640"/>
            <a:ext cx="91440"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737360"/>
            <a:ext cx="6583680" cy="310896"/>
          </a:xfrm>
          <a:prstGeom prst="rect">
            <a:avLst/>
          </a:prstGeom>
          <a:noFill/>
        </p:spPr>
        <p:txBody>
          <a:bodyPr wrap="square" anchor="t">
            <a:spAutoFit/>
          </a:bodyPr>
          <a:lstStyle/>
          <a:p>
            <a:pPr algn="l">
              <a:spcAft>
                <a:spcPts val="300"/>
              </a:spcAft>
            </a:pPr>
            <a:r>
              <a:rPr sz="1200" b="1">
                <a:solidFill>
                  <a:srgbClr val="1F6FEB"/>
                </a:solidFill>
                <a:latin typeface="Arial"/>
              </a:rPr>
              <a:t>TOPIC 01</a:t>
            </a:r>
          </a:p>
        </p:txBody>
      </p:sp>
      <p:sp>
        <p:nvSpPr>
          <p:cNvPr id="6" name="TextBox 5"/>
          <p:cNvSpPr txBox="1"/>
          <p:nvPr/>
        </p:nvSpPr>
        <p:spPr>
          <a:xfrm>
            <a:off x="841248" y="2066543"/>
            <a:ext cx="6949440" cy="1097280"/>
          </a:xfrm>
          <a:prstGeom prst="rect">
            <a:avLst/>
          </a:prstGeom>
          <a:noFill/>
        </p:spPr>
        <p:txBody>
          <a:bodyPr wrap="square" anchor="t">
            <a:spAutoFit/>
          </a:bodyPr>
          <a:lstStyle/>
          <a:p>
            <a:pPr algn="l">
              <a:spcAft>
                <a:spcPts val="300"/>
              </a:spcAft>
            </a:pPr>
            <a:r>
              <a:rPr sz="2700" b="1">
                <a:solidFill>
                  <a:srgbClr val="161B26"/>
                </a:solidFill>
                <a:latin typeface="Arial"/>
              </a:rPr>
              <a:t>Understand Key Concepts of Service Management</a:t>
            </a:r>
          </a:p>
        </p:txBody>
      </p:sp>
      <p:sp>
        <p:nvSpPr>
          <p:cNvPr id="7" name="TextBox 6"/>
          <p:cNvSpPr txBox="1"/>
          <p:nvPr/>
        </p:nvSpPr>
        <p:spPr>
          <a:xfrm>
            <a:off x="859536" y="3127248"/>
            <a:ext cx="6949440" cy="640080"/>
          </a:xfrm>
          <a:prstGeom prst="rect">
            <a:avLst/>
          </a:prstGeom>
          <a:noFill/>
        </p:spPr>
        <p:txBody>
          <a:bodyPr wrap="square" anchor="t">
            <a:spAutoFit/>
          </a:bodyPr>
          <a:lstStyle/>
          <a:p>
            <a:pPr algn="l">
              <a:spcAft>
                <a:spcPts val="300"/>
              </a:spcAft>
            </a:pPr>
            <a:r>
              <a:rPr sz="1000" b="0">
                <a:solidFill>
                  <a:srgbClr val="5B6372"/>
                </a:solidFill>
                <a:latin typeface="Arial"/>
              </a:rPr>
              <a:t>Services · Value · Outcomes, Costs and Risks · Providers and Consumers · Utility and Warranty</a:t>
            </a:r>
          </a:p>
        </p:txBody>
      </p:sp>
      <p:sp>
        <p:nvSpPr>
          <p:cNvPr id="8" name="TextBox 7"/>
          <p:cNvSpPr txBox="1"/>
          <p:nvPr/>
        </p:nvSpPr>
        <p:spPr>
          <a:xfrm>
            <a:off x="6949440" y="640080"/>
            <a:ext cx="1737360" cy="1188720"/>
          </a:xfrm>
          <a:prstGeom prst="rect">
            <a:avLst/>
          </a:prstGeom>
          <a:noFill/>
        </p:spPr>
        <p:txBody>
          <a:bodyPr wrap="square" anchor="t">
            <a:spAutoFit/>
          </a:bodyPr>
          <a:lstStyle/>
          <a:p>
            <a:pPr algn="r">
              <a:spcAft>
                <a:spcPts val="300"/>
              </a:spcAft>
            </a:pPr>
            <a:r>
              <a:rPr sz="6000" b="1">
                <a:solidFill>
                  <a:srgbClr val="E8EEF7"/>
                </a:solidFill>
                <a:latin typeface="Arial"/>
              </a:rPr>
              <a:t>01</a:t>
            </a:r>
          </a:p>
        </p:txBody>
      </p:sp>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Topics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960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353312"/>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1</a:t>
            </a:r>
          </a:p>
        </p:txBody>
      </p:sp>
      <p:sp>
        <p:nvSpPr>
          <p:cNvPr id="11" name="TextBox 10"/>
          <p:cNvSpPr txBox="1"/>
          <p:nvPr/>
        </p:nvSpPr>
        <p:spPr>
          <a:xfrm>
            <a:off x="1005840" y="1316736"/>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Service Management</a:t>
            </a:r>
          </a:p>
        </p:txBody>
      </p:sp>
      <p:sp>
        <p:nvSpPr>
          <p:cNvPr id="12" name="Rectangle 11"/>
          <p:cNvSpPr/>
          <p:nvPr/>
        </p:nvSpPr>
        <p:spPr>
          <a:xfrm>
            <a:off x="4645152" y="1207008"/>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45152" y="1207008"/>
            <a:ext cx="41148"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91456" y="1353312"/>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4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2</a:t>
            </a:r>
          </a:p>
        </p:txBody>
      </p:sp>
      <p:sp>
        <p:nvSpPr>
          <p:cNvPr id="16" name="TextBox 15"/>
          <p:cNvSpPr txBox="1"/>
          <p:nvPr/>
        </p:nvSpPr>
        <p:spPr>
          <a:xfrm>
            <a:off x="5120640" y="1316736"/>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Service and relationship with Value, Outcome, Cost and Risks</a:t>
            </a:r>
          </a:p>
        </p:txBody>
      </p:sp>
      <p:sp>
        <p:nvSpPr>
          <p:cNvPr id="17" name="Rectangle 16"/>
          <p:cNvSpPr/>
          <p:nvPr/>
        </p:nvSpPr>
        <p:spPr>
          <a:xfrm>
            <a:off x="530352" y="2286000"/>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286000"/>
            <a:ext cx="41148" cy="960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432304"/>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455164"/>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3</a:t>
            </a:r>
          </a:p>
        </p:txBody>
      </p:sp>
      <p:sp>
        <p:nvSpPr>
          <p:cNvPr id="21" name="TextBox 20"/>
          <p:cNvSpPr txBox="1"/>
          <p:nvPr/>
        </p:nvSpPr>
        <p:spPr>
          <a:xfrm>
            <a:off x="1005840" y="2395728"/>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Service Consumers, Service Providers, Users, Customer</a:t>
            </a:r>
          </a:p>
        </p:txBody>
      </p:sp>
      <p:sp>
        <p:nvSpPr>
          <p:cNvPr id="22" name="Rectangle 21"/>
          <p:cNvSpPr/>
          <p:nvPr/>
        </p:nvSpPr>
        <p:spPr>
          <a:xfrm>
            <a:off x="4645152" y="2286000"/>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45152" y="2286000"/>
            <a:ext cx="41148"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91456" y="2432304"/>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91456" y="2455164"/>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4</a:t>
            </a:r>
          </a:p>
        </p:txBody>
      </p:sp>
      <p:sp>
        <p:nvSpPr>
          <p:cNvPr id="26" name="TextBox 25"/>
          <p:cNvSpPr txBox="1"/>
          <p:nvPr/>
        </p:nvSpPr>
        <p:spPr>
          <a:xfrm>
            <a:off x="5120640" y="2395728"/>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Understanding Nature and Components of Value</a:t>
            </a:r>
          </a:p>
        </p:txBody>
      </p:sp>
      <p:sp>
        <p:nvSpPr>
          <p:cNvPr id="27" name="Rectangle 26"/>
          <p:cNvSpPr/>
          <p:nvPr/>
        </p:nvSpPr>
        <p:spPr>
          <a:xfrm>
            <a:off x="530352" y="3364992"/>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3364992"/>
            <a:ext cx="41148" cy="960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511296"/>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53415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5</a:t>
            </a:r>
          </a:p>
        </p:txBody>
      </p:sp>
      <p:sp>
        <p:nvSpPr>
          <p:cNvPr id="31" name="TextBox 30"/>
          <p:cNvSpPr txBox="1"/>
          <p:nvPr/>
        </p:nvSpPr>
        <p:spPr>
          <a:xfrm>
            <a:off x="1005840" y="3474720"/>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Value Co-Creation</a:t>
            </a:r>
          </a:p>
        </p:txBody>
      </p:sp>
      <p:sp>
        <p:nvSpPr>
          <p:cNvPr id="32" name="Rectangle 31"/>
          <p:cNvSpPr/>
          <p:nvPr/>
        </p:nvSpPr>
        <p:spPr>
          <a:xfrm>
            <a:off x="4645152" y="3364992"/>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645152" y="3364992"/>
            <a:ext cx="41148"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91456" y="3511296"/>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1456" y="353415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6</a:t>
            </a:r>
          </a:p>
        </p:txBody>
      </p:sp>
      <p:sp>
        <p:nvSpPr>
          <p:cNvPr id="36" name="TextBox 35"/>
          <p:cNvSpPr txBox="1"/>
          <p:nvPr/>
        </p:nvSpPr>
        <p:spPr>
          <a:xfrm>
            <a:off x="5120640" y="3474720"/>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Understanding Service Relationships</a:t>
            </a:r>
          </a:p>
        </p:txBody>
      </p:sp>
      <p:sp>
        <p:nvSpPr>
          <p:cNvPr id="37" name="TextBox 36"/>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38" name="TextBox 37"/>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39" name="TextBox 38"/>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Services and Service Management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2"/>
          <a:stretch>
            <a:fillRect/>
          </a:stretch>
        </p:blipFill>
        <p:spPr>
          <a:xfrm>
            <a:off x="1693063" y="1329538"/>
            <a:ext cx="5757874"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What are Services?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958471"/>
            <a:ext cx="7436632" cy="1660897"/>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A service is a means of enabling value co-creation by facilitating outcomes that customers want to achieve, without the customer having to manage specific costs and risks.</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What Is a Service?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696677" y="1329538"/>
            <a:ext cx="5750645"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What is IT Service Management?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907398" y="1316736"/>
            <a:ext cx="3329203"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Service management is a set of specialized organizational capabilities for enabling value to customers in the form of services.</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Value System</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898279" y="1316736"/>
            <a:ext cx="3347441"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The purpose of the Service Value System (SVS) is to ensure that organization continually co-creates value with all stakeholders through the use and management of products and services.</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What is ITIL ?</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411480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000104" y="1329538"/>
            <a:ext cx="3175295" cy="3238804"/>
          </a:xfrm>
          <a:prstGeom prst="rect">
            <a:avLst/>
          </a:prstGeom>
        </p:spPr>
      </p:pic>
      <p:sp>
        <p:nvSpPr>
          <p:cNvPr id="9" name="Rectangle 8"/>
          <p:cNvSpPr/>
          <p:nvPr/>
        </p:nvSpPr>
        <p:spPr>
          <a:xfrm>
            <a:off x="4828032" y="1188720"/>
            <a:ext cx="3785615"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28032" y="1188720"/>
            <a:ext cx="41148"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10912" y="1353312"/>
            <a:ext cx="3474720" cy="3246120"/>
          </a:xfrm>
          <a:prstGeom prst="rect">
            <a:avLst/>
          </a:prstGeom>
          <a:noFill/>
        </p:spPr>
        <p:txBody>
          <a:bodyPr wrap="square" anchor="t">
            <a:spAutoFit/>
          </a:bodyPr>
          <a:lstStyle/>
          <a:p>
            <a:pPr algn="l">
              <a:spcAft>
                <a:spcPts val="600"/>
              </a:spcAft>
            </a:pPr>
            <a:r>
              <a:rPr sz="950" b="0">
                <a:solidFill>
                  <a:srgbClr val="161B26"/>
                </a:solidFill>
                <a:latin typeface="Arial"/>
              </a:rPr>
              <a:t>•  ITIL is a source of good practice in IT Service Management</a:t>
            </a:r>
          </a:p>
          <a:p>
            <a:pPr algn="l">
              <a:spcAft>
                <a:spcPts val="600"/>
              </a:spcAft>
            </a:pPr>
            <a:r>
              <a:rPr sz="950" b="0">
                <a:solidFill>
                  <a:srgbClr val="161B26"/>
                </a:solidFill>
                <a:latin typeface="Arial"/>
              </a:rPr>
              <a:t>•  By good practice we mean guidance that is:</a:t>
            </a:r>
          </a:p>
          <a:p>
            <a:pPr algn="l">
              <a:spcAft>
                <a:spcPts val="600"/>
              </a:spcAft>
            </a:pPr>
            <a:r>
              <a:rPr sz="950" b="0">
                <a:solidFill>
                  <a:srgbClr val="161B26"/>
                </a:solidFill>
                <a:latin typeface="Arial"/>
              </a:rPr>
              <a:t>•  validated across a diverse set of environments</a:t>
            </a:r>
          </a:p>
          <a:p>
            <a:pPr algn="l">
              <a:spcAft>
                <a:spcPts val="600"/>
              </a:spcAft>
            </a:pPr>
            <a:r>
              <a:rPr sz="950" b="0">
                <a:solidFill>
                  <a:srgbClr val="161B26"/>
                </a:solidFill>
                <a:latin typeface="Arial"/>
              </a:rPr>
              <a:t>•  widely distributed.</a:t>
            </a:r>
          </a:p>
          <a:p>
            <a:pPr algn="l">
              <a:spcAft>
                <a:spcPts val="600"/>
              </a:spcAft>
            </a:pPr>
            <a:r>
              <a:rPr sz="950" b="0">
                <a:solidFill>
                  <a:srgbClr val="161B26"/>
                </a:solidFill>
                <a:latin typeface="Arial"/>
              </a:rPr>
              <a:t>•  ITIL is not a standard</a:t>
            </a:r>
          </a:p>
          <a:p>
            <a:pPr algn="l">
              <a:spcAft>
                <a:spcPts val="600"/>
              </a:spcAft>
            </a:pPr>
            <a:r>
              <a:rPr sz="950" b="0">
                <a:solidFill>
                  <a:srgbClr val="161B26"/>
                </a:solidFill>
                <a:latin typeface="Arial"/>
              </a:rPr>
              <a:t>•  ITIL is non-prescriptive</a:t>
            </a:r>
          </a:p>
        </p:txBody>
      </p:sp>
      <p:sp>
        <p:nvSpPr>
          <p:cNvPr id="12" name="TextBox 1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3" name="TextBox 1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4" name="TextBox 1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The ITIL Service Value System (SVS)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 SVS describes how all the components and activities of an organisation work together as a system to enable value creation.</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Inputs: OPPORTUNITY (possibilities to add value) and DEMAND (the need for services from consumers).</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Output: VALUE — the perceived benefits, usefulness and importance of something.</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Five components: guiding principles, governance, the service value chain, practices, and continual improvement.</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Its purpose is to prevent organisational silos — every part must work as one system, not as separate functions.</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WHY IT MATTERS</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A service desk that hits its own ticket targets while releases keep breaking production is optimising a silo, not the system.</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Know the five SVS components and that the two inputs are opportunity and demand.</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Why ITIL ?</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962640" y="1329538"/>
            <a:ext cx="3218720"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Why ITIL ?</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072807" y="1329538"/>
            <a:ext cx="6998386"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ITIL Versions Overview</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353312"/>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1</a:t>
            </a:r>
          </a:p>
        </p:txBody>
      </p:sp>
      <p:sp>
        <p:nvSpPr>
          <p:cNvPr id="11" name="TextBox 10"/>
          <p:cNvSpPr txBox="1"/>
          <p:nvPr/>
        </p:nvSpPr>
        <p:spPr>
          <a:xfrm>
            <a:off x="10058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ITIL Version 1 – 1986</a:t>
            </a:r>
          </a:p>
        </p:txBody>
      </p:sp>
      <p:sp>
        <p:nvSpPr>
          <p:cNvPr id="12" name="Rectangle 11"/>
          <p:cNvSpPr/>
          <p:nvPr/>
        </p:nvSpPr>
        <p:spPr>
          <a:xfrm>
            <a:off x="46451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45152" y="1207008"/>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91456" y="1353312"/>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4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2</a:t>
            </a:r>
          </a:p>
        </p:txBody>
      </p:sp>
      <p:sp>
        <p:nvSpPr>
          <p:cNvPr id="16" name="TextBox 15"/>
          <p:cNvSpPr txBox="1"/>
          <p:nvPr/>
        </p:nvSpPr>
        <p:spPr>
          <a:xfrm>
            <a:off x="51206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Function-based practice of 40+ books dealing with a variety of IT practices developed by Central Computer and Telecommunications Agency (CCTA) in the United Kingdom.</a:t>
            </a:r>
          </a:p>
        </p:txBody>
      </p:sp>
      <p:sp>
        <p:nvSpPr>
          <p:cNvPr id="17" name="Rectangle 16"/>
          <p:cNvSpPr/>
          <p:nvPr/>
        </p:nvSpPr>
        <p:spPr>
          <a:xfrm>
            <a:off x="5303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105406"/>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251710"/>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3</a:t>
            </a:r>
          </a:p>
        </p:txBody>
      </p:sp>
      <p:sp>
        <p:nvSpPr>
          <p:cNvPr id="21" name="TextBox 20"/>
          <p:cNvSpPr txBox="1"/>
          <p:nvPr/>
        </p:nvSpPr>
        <p:spPr>
          <a:xfrm>
            <a:off x="10058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ITIL Version 2 – 1999</a:t>
            </a:r>
          </a:p>
        </p:txBody>
      </p:sp>
      <p:sp>
        <p:nvSpPr>
          <p:cNvPr id="22" name="Rectangle 21"/>
          <p:cNvSpPr/>
          <p:nvPr/>
        </p:nvSpPr>
        <p:spPr>
          <a:xfrm>
            <a:off x="46451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45152" y="2105406"/>
            <a:ext cx="41148" cy="7795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91456" y="2251710"/>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914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4</a:t>
            </a:r>
          </a:p>
        </p:txBody>
      </p:sp>
      <p:sp>
        <p:nvSpPr>
          <p:cNvPr id="26" name="TextBox 25"/>
          <p:cNvSpPr txBox="1"/>
          <p:nvPr/>
        </p:nvSpPr>
        <p:spPr>
          <a:xfrm>
            <a:off x="51206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Process-based practice of 10 books and the globally accepted best practice framework for IT Service Management. The most popular books were “Service Support” and “Service Delivery”.</a:t>
            </a:r>
          </a:p>
        </p:txBody>
      </p:sp>
      <p:sp>
        <p:nvSpPr>
          <p:cNvPr id="27" name="Rectangle 26"/>
          <p:cNvSpPr/>
          <p:nvPr/>
        </p:nvSpPr>
        <p:spPr>
          <a:xfrm>
            <a:off x="5303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3003804"/>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15010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5</a:t>
            </a:r>
          </a:p>
        </p:txBody>
      </p:sp>
      <p:sp>
        <p:nvSpPr>
          <p:cNvPr id="31" name="TextBox 30"/>
          <p:cNvSpPr txBox="1"/>
          <p:nvPr/>
        </p:nvSpPr>
        <p:spPr>
          <a:xfrm>
            <a:off x="10058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ITIL Version 3 – 2007</a:t>
            </a:r>
          </a:p>
        </p:txBody>
      </p:sp>
      <p:sp>
        <p:nvSpPr>
          <p:cNvPr id="32" name="Rectangle 31"/>
          <p:cNvSpPr/>
          <p:nvPr/>
        </p:nvSpPr>
        <p:spPr>
          <a:xfrm>
            <a:off x="46451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645152" y="3003804"/>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91456" y="315010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14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6</a:t>
            </a:r>
          </a:p>
        </p:txBody>
      </p:sp>
      <p:sp>
        <p:nvSpPr>
          <p:cNvPr id="36" name="TextBox 35"/>
          <p:cNvSpPr txBox="1"/>
          <p:nvPr/>
        </p:nvSpPr>
        <p:spPr>
          <a:xfrm>
            <a:off x="51206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Service lifecycle-based practice incorporating five lifecycle titles forming the core of ITIL practice.</a:t>
            </a:r>
          </a:p>
        </p:txBody>
      </p:sp>
      <p:sp>
        <p:nvSpPr>
          <p:cNvPr id="37" name="Rectangle 36"/>
          <p:cNvSpPr/>
          <p:nvPr/>
        </p:nvSpPr>
        <p:spPr>
          <a:xfrm>
            <a:off x="530352" y="3902202"/>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0352" y="3902202"/>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76656" y="4048506"/>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6656" y="407136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7</a:t>
            </a:r>
          </a:p>
        </p:txBody>
      </p:sp>
      <p:sp>
        <p:nvSpPr>
          <p:cNvPr id="41" name="TextBox 40"/>
          <p:cNvSpPr txBox="1"/>
          <p:nvPr/>
        </p:nvSpPr>
        <p:spPr>
          <a:xfrm>
            <a:off x="1005840" y="4011930"/>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ITIL 2011 – 2011</a:t>
            </a:r>
          </a:p>
        </p:txBody>
      </p:sp>
      <p:sp>
        <p:nvSpPr>
          <p:cNvPr id="42" name="Rectangle 41"/>
          <p:cNvSpPr/>
          <p:nvPr/>
        </p:nvSpPr>
        <p:spPr>
          <a:xfrm>
            <a:off x="4645152" y="3902202"/>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645152" y="3902202"/>
            <a:ext cx="41148" cy="7795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791456" y="4048506"/>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91456" y="407136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8</a:t>
            </a:r>
          </a:p>
        </p:txBody>
      </p:sp>
      <p:sp>
        <p:nvSpPr>
          <p:cNvPr id="46" name="TextBox 45"/>
          <p:cNvSpPr txBox="1"/>
          <p:nvPr/>
        </p:nvSpPr>
        <p:spPr>
          <a:xfrm>
            <a:off x="5120640" y="4011930"/>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Updated for consistency and clarity.</a:t>
            </a:r>
          </a:p>
        </p:txBody>
      </p:sp>
      <p:sp>
        <p:nvSpPr>
          <p:cNvPr id="47" name="TextBox 46"/>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8" name="TextBox 47"/>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9" name="TextBox 48"/>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How to Use ITIL</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901351" y="1329538"/>
            <a:ext cx="3341298"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ITIL Service Value System</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411480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694944" y="1870134"/>
            <a:ext cx="3785616" cy="2157611"/>
          </a:xfrm>
          <a:prstGeom prst="rect">
            <a:avLst/>
          </a:prstGeom>
        </p:spPr>
      </p:pic>
      <p:sp>
        <p:nvSpPr>
          <p:cNvPr id="9" name="Rectangle 8"/>
          <p:cNvSpPr/>
          <p:nvPr/>
        </p:nvSpPr>
        <p:spPr>
          <a:xfrm>
            <a:off x="4828032" y="1188720"/>
            <a:ext cx="3785615"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28032" y="1188720"/>
            <a:ext cx="41148"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10912" y="1353312"/>
            <a:ext cx="3474720" cy="3246120"/>
          </a:xfrm>
          <a:prstGeom prst="rect">
            <a:avLst/>
          </a:prstGeom>
          <a:noFill/>
        </p:spPr>
        <p:txBody>
          <a:bodyPr wrap="square" anchor="t">
            <a:spAutoFit/>
          </a:bodyPr>
          <a:lstStyle/>
          <a:p>
            <a:pPr algn="l">
              <a:spcAft>
                <a:spcPts val="600"/>
              </a:spcAft>
            </a:pPr>
            <a:r>
              <a:rPr sz="1050" b="0">
                <a:solidFill>
                  <a:srgbClr val="161B26"/>
                </a:solidFill>
                <a:latin typeface="Arial"/>
              </a:rPr>
              <a:t>•  Guiding principles</a:t>
            </a:r>
          </a:p>
          <a:p>
            <a:pPr algn="l">
              <a:spcAft>
                <a:spcPts val="600"/>
              </a:spcAft>
            </a:pPr>
            <a:r>
              <a:rPr sz="1050" b="0">
                <a:solidFill>
                  <a:srgbClr val="161B26"/>
                </a:solidFill>
                <a:latin typeface="Arial"/>
              </a:rPr>
              <a:t>•  Governance</a:t>
            </a:r>
          </a:p>
          <a:p>
            <a:pPr algn="l">
              <a:spcAft>
                <a:spcPts val="600"/>
              </a:spcAft>
            </a:pPr>
            <a:r>
              <a:rPr sz="1050" b="0">
                <a:solidFill>
                  <a:srgbClr val="161B26"/>
                </a:solidFill>
                <a:latin typeface="Arial"/>
              </a:rPr>
              <a:t>•  Service value chain</a:t>
            </a:r>
          </a:p>
          <a:p>
            <a:pPr algn="l">
              <a:spcAft>
                <a:spcPts val="600"/>
              </a:spcAft>
            </a:pPr>
            <a:r>
              <a:rPr sz="1050" b="0">
                <a:solidFill>
                  <a:srgbClr val="161B26"/>
                </a:solidFill>
                <a:latin typeface="Arial"/>
              </a:rPr>
              <a:t>•  Practices</a:t>
            </a:r>
          </a:p>
          <a:p>
            <a:pPr algn="l">
              <a:spcAft>
                <a:spcPts val="600"/>
              </a:spcAft>
            </a:pPr>
            <a:r>
              <a:rPr sz="1050" b="0">
                <a:solidFill>
                  <a:srgbClr val="161B26"/>
                </a:solidFill>
                <a:latin typeface="Arial"/>
              </a:rPr>
              <a:t>•  Continual improvement.</a:t>
            </a:r>
          </a:p>
        </p:txBody>
      </p:sp>
      <p:sp>
        <p:nvSpPr>
          <p:cNvPr id="12" name="TextBox 1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3" name="TextBox 1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4" name="TextBox 1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Opportunity and Demand — the Inputs to the SVS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OPPORTUNITY represents options or possibilities to add value for stakeholders, or otherwise improve the organisation.</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DEMAND is the need or desire for products and services from internal and external consumers.</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Both trigger activities within the SVS; those activities lead to the creation of value.</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Opportunity and demand are always entering the system — the organisation chooses which to accept.</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Not all demand should be met, and not every opportunity should be pursued: both are filtered against strategy and capacity.</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IN PRACTICE</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Rising remote working (demand) plus a new cloud licensing model (opportunity) together justify a VDI service.</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Exam wording: the INPUTS to the SVS are 'opportunity and demand'. Value is the OUTPUT.</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Opportunity and Demand</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359104" y="1316736"/>
            <a:ext cx="4425792" cy="2944367"/>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Opportunities represent options or possibilities to add value for stakeholders or otherwise improve the organization.</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Value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3151468" y="1316736"/>
            <a:ext cx="2841064"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Value is the perceived benefits, usefulness, and importance of something</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The Nature of Value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693066" y="1329538"/>
            <a:ext cx="5757868"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Three Dimensions of Value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761525" y="1329538"/>
            <a:ext cx="3620949"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Three Dimensions of Value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952598" y="1329538"/>
            <a:ext cx="3238804"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What is an Organization?</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411480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995346" y="1329538"/>
            <a:ext cx="3184812" cy="3238804"/>
          </a:xfrm>
          <a:prstGeom prst="rect">
            <a:avLst/>
          </a:prstGeom>
        </p:spPr>
      </p:pic>
      <p:sp>
        <p:nvSpPr>
          <p:cNvPr id="9" name="Rectangle 8"/>
          <p:cNvSpPr/>
          <p:nvPr/>
        </p:nvSpPr>
        <p:spPr>
          <a:xfrm>
            <a:off x="4828032" y="1188720"/>
            <a:ext cx="3785615"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28032" y="1188720"/>
            <a:ext cx="41148"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10912" y="1353312"/>
            <a:ext cx="3474720" cy="3246120"/>
          </a:xfrm>
          <a:prstGeom prst="rect">
            <a:avLst/>
          </a:prstGeom>
          <a:noFill/>
        </p:spPr>
        <p:txBody>
          <a:bodyPr wrap="square" anchor="t">
            <a:spAutoFit/>
          </a:bodyPr>
          <a:lstStyle/>
          <a:p>
            <a:pPr algn="l">
              <a:spcAft>
                <a:spcPts val="600"/>
              </a:spcAft>
            </a:pPr>
            <a:r>
              <a:rPr sz="1050" b="0">
                <a:solidFill>
                  <a:srgbClr val="161B26"/>
                </a:solidFill>
                <a:latin typeface="Arial"/>
              </a:rPr>
              <a:t>•  An organization is a person or a group of people that has its functions with responsibilities, authorities, and relationships to achieve its objectives</a:t>
            </a:r>
          </a:p>
          <a:p>
            <a:pPr algn="l">
              <a:spcAft>
                <a:spcPts val="600"/>
              </a:spcAft>
            </a:pPr>
            <a:r>
              <a:rPr sz="1050" b="0">
                <a:solidFill>
                  <a:srgbClr val="161B26"/>
                </a:solidFill>
                <a:latin typeface="Arial"/>
              </a:rPr>
              <a:t>•  Organizations vary in size, complexity, and legal relationships</a:t>
            </a:r>
          </a:p>
          <a:p>
            <a:pPr algn="l">
              <a:spcAft>
                <a:spcPts val="600"/>
              </a:spcAft>
            </a:pPr>
            <a:r>
              <a:rPr sz="1050" b="0">
                <a:solidFill>
                  <a:srgbClr val="161B26"/>
                </a:solidFill>
                <a:latin typeface="Arial"/>
              </a:rPr>
              <a:t>•  Organizations: entities with functions, responsibilities, authorities, and relationships to achieve objectives</a:t>
            </a:r>
          </a:p>
          <a:p>
            <a:pPr algn="l">
              <a:spcAft>
                <a:spcPts val="600"/>
              </a:spcAft>
            </a:pPr>
            <a:r>
              <a:rPr sz="1050" b="0">
                <a:solidFill>
                  <a:srgbClr val="161B26"/>
                </a:solidFill>
                <a:latin typeface="Arial"/>
              </a:rPr>
              <a:t>•  Organizational interdependence and role variability</a:t>
            </a:r>
          </a:p>
        </p:txBody>
      </p:sp>
      <p:sp>
        <p:nvSpPr>
          <p:cNvPr id="12" name="TextBox 1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3" name="TextBox 1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4" name="TextBox 1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Providers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917828"/>
            <a:ext cx="7436632" cy="1742183"/>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When provisioning services, an organization takes on the role of the service provider. The provider can be external to the consumer’s organization, or they can both be part of the same organization.</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Provisioning</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960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353312"/>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1</a:t>
            </a:r>
          </a:p>
        </p:txBody>
      </p:sp>
      <p:sp>
        <p:nvSpPr>
          <p:cNvPr id="11" name="TextBox 10"/>
          <p:cNvSpPr txBox="1"/>
          <p:nvPr/>
        </p:nvSpPr>
        <p:spPr>
          <a:xfrm>
            <a:off x="1005840" y="1316736"/>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Management of the provider’s resources, configured to deliver the service</a:t>
            </a:r>
          </a:p>
        </p:txBody>
      </p:sp>
      <p:sp>
        <p:nvSpPr>
          <p:cNvPr id="12" name="Rectangle 11"/>
          <p:cNvSpPr/>
          <p:nvPr/>
        </p:nvSpPr>
        <p:spPr>
          <a:xfrm>
            <a:off x="4645152" y="1207008"/>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45152" y="1207008"/>
            <a:ext cx="41148"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91456" y="1353312"/>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4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2</a:t>
            </a:r>
          </a:p>
        </p:txBody>
      </p:sp>
      <p:sp>
        <p:nvSpPr>
          <p:cNvPr id="16" name="TextBox 15"/>
          <p:cNvSpPr txBox="1"/>
          <p:nvPr/>
        </p:nvSpPr>
        <p:spPr>
          <a:xfrm>
            <a:off x="5120640" y="1316736"/>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Access to these resources for users</a:t>
            </a:r>
          </a:p>
        </p:txBody>
      </p:sp>
      <p:sp>
        <p:nvSpPr>
          <p:cNvPr id="17" name="Rectangle 16"/>
          <p:cNvSpPr/>
          <p:nvPr/>
        </p:nvSpPr>
        <p:spPr>
          <a:xfrm>
            <a:off x="530352" y="2286000"/>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286000"/>
            <a:ext cx="41148" cy="960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432304"/>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455164"/>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3</a:t>
            </a:r>
          </a:p>
        </p:txBody>
      </p:sp>
      <p:sp>
        <p:nvSpPr>
          <p:cNvPr id="21" name="TextBox 20"/>
          <p:cNvSpPr txBox="1"/>
          <p:nvPr/>
        </p:nvSpPr>
        <p:spPr>
          <a:xfrm>
            <a:off x="1005840" y="2395728"/>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Fulfilment of the agreed-upon service actions</a:t>
            </a:r>
          </a:p>
        </p:txBody>
      </p:sp>
      <p:sp>
        <p:nvSpPr>
          <p:cNvPr id="22" name="Rectangle 21"/>
          <p:cNvSpPr/>
          <p:nvPr/>
        </p:nvSpPr>
        <p:spPr>
          <a:xfrm>
            <a:off x="4645152" y="2286000"/>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45152" y="2286000"/>
            <a:ext cx="41148"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91456" y="2432304"/>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91456" y="2455164"/>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4</a:t>
            </a:r>
          </a:p>
        </p:txBody>
      </p:sp>
      <p:sp>
        <p:nvSpPr>
          <p:cNvPr id="26" name="TextBox 25"/>
          <p:cNvSpPr txBox="1"/>
          <p:nvPr/>
        </p:nvSpPr>
        <p:spPr>
          <a:xfrm>
            <a:off x="5120640" y="2395728"/>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Service level management and continual improvement</a:t>
            </a:r>
          </a:p>
        </p:txBody>
      </p:sp>
      <p:sp>
        <p:nvSpPr>
          <p:cNvPr id="27" name="Rectangle 26"/>
          <p:cNvSpPr/>
          <p:nvPr/>
        </p:nvSpPr>
        <p:spPr>
          <a:xfrm>
            <a:off x="530352" y="3364992"/>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3364992"/>
            <a:ext cx="41148" cy="960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511296"/>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53415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5</a:t>
            </a:r>
          </a:p>
        </p:txBody>
      </p:sp>
      <p:sp>
        <p:nvSpPr>
          <p:cNvPr id="31" name="TextBox 30"/>
          <p:cNvSpPr txBox="1"/>
          <p:nvPr/>
        </p:nvSpPr>
        <p:spPr>
          <a:xfrm>
            <a:off x="1005840" y="3474720"/>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The supplying of goods</a:t>
            </a:r>
          </a:p>
        </p:txBody>
      </p:sp>
      <p:sp>
        <p:nvSpPr>
          <p:cNvPr id="32" name="TextBox 3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33" name="TextBox 3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34" name="TextBox 3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Consumers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670468" y="1316736"/>
            <a:ext cx="5803064"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When receiving services, an organization takes on the role of the service consumer.</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Consumption</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411480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135562" y="1329538"/>
            <a:ext cx="2904380" cy="3238804"/>
          </a:xfrm>
          <a:prstGeom prst="rect">
            <a:avLst/>
          </a:prstGeom>
        </p:spPr>
      </p:pic>
      <p:sp>
        <p:nvSpPr>
          <p:cNvPr id="9" name="Rectangle 8"/>
          <p:cNvSpPr/>
          <p:nvPr/>
        </p:nvSpPr>
        <p:spPr>
          <a:xfrm>
            <a:off x="4828032" y="1188720"/>
            <a:ext cx="3785615"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28032" y="1188720"/>
            <a:ext cx="41148"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10912" y="1353312"/>
            <a:ext cx="3474720" cy="3246120"/>
          </a:xfrm>
          <a:prstGeom prst="rect">
            <a:avLst/>
          </a:prstGeom>
          <a:noFill/>
        </p:spPr>
        <p:txBody>
          <a:bodyPr wrap="square" anchor="t">
            <a:spAutoFit/>
          </a:bodyPr>
          <a:lstStyle/>
          <a:p>
            <a:pPr algn="l">
              <a:spcAft>
                <a:spcPts val="600"/>
              </a:spcAft>
            </a:pPr>
            <a:r>
              <a:rPr sz="1050" b="0">
                <a:solidFill>
                  <a:srgbClr val="161B26"/>
                </a:solidFill>
                <a:latin typeface="Arial"/>
              </a:rPr>
              <a:t>•  Management of the consumer’s resources needed to use the service</a:t>
            </a:r>
          </a:p>
          <a:p>
            <a:pPr algn="l">
              <a:spcAft>
                <a:spcPts val="600"/>
              </a:spcAft>
            </a:pPr>
            <a:r>
              <a:rPr sz="1050" b="0">
                <a:solidFill>
                  <a:srgbClr val="161B26"/>
                </a:solidFill>
                <a:latin typeface="Arial"/>
              </a:rPr>
              <a:t>•  Service actions performed by users, including utilitizing the provider’s resources, and requesting service actions to be fulfilled</a:t>
            </a:r>
          </a:p>
          <a:p>
            <a:pPr algn="l">
              <a:spcAft>
                <a:spcPts val="600"/>
              </a:spcAft>
            </a:pPr>
            <a:r>
              <a:rPr sz="1050" b="0">
                <a:solidFill>
                  <a:srgbClr val="161B26"/>
                </a:solidFill>
                <a:latin typeface="Arial"/>
              </a:rPr>
              <a:t>•  The receipt or acquisition of goods</a:t>
            </a:r>
          </a:p>
        </p:txBody>
      </p:sp>
      <p:sp>
        <p:nvSpPr>
          <p:cNvPr id="12" name="TextBox 1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3" name="TextBox 1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4" name="TextBox 1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Consumers Roles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411480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694944" y="2206837"/>
            <a:ext cx="3785616" cy="1484206"/>
          </a:xfrm>
          <a:prstGeom prst="rect">
            <a:avLst/>
          </a:prstGeom>
        </p:spPr>
      </p:pic>
      <p:sp>
        <p:nvSpPr>
          <p:cNvPr id="9" name="Rectangle 8"/>
          <p:cNvSpPr/>
          <p:nvPr/>
        </p:nvSpPr>
        <p:spPr>
          <a:xfrm>
            <a:off x="4828032" y="1188720"/>
            <a:ext cx="3785615"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28032" y="1188720"/>
            <a:ext cx="41148"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10912" y="1353312"/>
            <a:ext cx="3474720" cy="3246120"/>
          </a:xfrm>
          <a:prstGeom prst="rect">
            <a:avLst/>
          </a:prstGeom>
          <a:noFill/>
        </p:spPr>
        <p:txBody>
          <a:bodyPr wrap="square" anchor="t">
            <a:spAutoFit/>
          </a:bodyPr>
          <a:lstStyle/>
          <a:p>
            <a:pPr algn="l">
              <a:spcAft>
                <a:spcPts val="600"/>
              </a:spcAft>
            </a:pPr>
            <a:r>
              <a:rPr sz="1050" b="0">
                <a:solidFill>
                  <a:srgbClr val="161B26"/>
                </a:solidFill>
                <a:latin typeface="Arial"/>
              </a:rPr>
              <a:t>•  Customer A person who defines the requirements for a service and takes responsibility for the outcomes of service consumption.</a:t>
            </a:r>
          </a:p>
          <a:p>
            <a:pPr algn="l">
              <a:spcAft>
                <a:spcPts val="600"/>
              </a:spcAft>
            </a:pPr>
            <a:r>
              <a:rPr sz="1050" b="0">
                <a:solidFill>
                  <a:srgbClr val="161B26"/>
                </a:solidFill>
                <a:latin typeface="Arial"/>
              </a:rPr>
              <a:t>•  User A person who uses services.</a:t>
            </a:r>
          </a:p>
          <a:p>
            <a:pPr algn="l">
              <a:spcAft>
                <a:spcPts val="600"/>
              </a:spcAft>
            </a:pPr>
            <a:r>
              <a:rPr sz="1050" b="0">
                <a:solidFill>
                  <a:srgbClr val="161B26"/>
                </a:solidFill>
                <a:latin typeface="Arial"/>
              </a:rPr>
              <a:t>•  Sponsor A person who authorizes budget for service consumption.</a:t>
            </a:r>
          </a:p>
        </p:txBody>
      </p:sp>
      <p:sp>
        <p:nvSpPr>
          <p:cNvPr id="12" name="TextBox 1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3" name="TextBox 1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4" name="TextBox 1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Offerings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 service offering is a formal description of one or more services, designed to address the needs of a target consumer group.</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It may include GOODS, ACCESS TO RESOURCES, and SERVICE ACTIONS.</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GOODS — ownership is TRANSFERRED to the consumer, who takes responsibility for future use.</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ACCESS TO RESOURCES — ownership is NOT transferred; access is granted or licensed under agreed terms and conditions.</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SERVICE ACTIONS — performed by the service provider to address a consumer need, according to an agreement.</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MOBILE PHONE PLAN</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Goods: the handset you keep. Access to resources: the network and data allowance. Service actions: activation and support calls.</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The test is ownership: transferred = goods; granted for a period = access to resources; performed by the provider = service action.</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vs Products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3144366" y="1316736"/>
            <a:ext cx="2855268"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 Services: A means of enabling value co-creation by facilitating outcomes that customers want to achieve, without the customer having to manage specific costs and risks.</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Offering</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353312"/>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1</a:t>
            </a:r>
          </a:p>
        </p:txBody>
      </p:sp>
      <p:sp>
        <p:nvSpPr>
          <p:cNvPr id="11" name="TextBox 10"/>
          <p:cNvSpPr txBox="1"/>
          <p:nvPr/>
        </p:nvSpPr>
        <p:spPr>
          <a:xfrm>
            <a:off x="10058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Goods</a:t>
            </a:r>
          </a:p>
        </p:txBody>
      </p:sp>
      <p:sp>
        <p:nvSpPr>
          <p:cNvPr id="12" name="Rectangle 11"/>
          <p:cNvSpPr/>
          <p:nvPr/>
        </p:nvSpPr>
        <p:spPr>
          <a:xfrm>
            <a:off x="46451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45152" y="1207008"/>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91456" y="1353312"/>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4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2</a:t>
            </a:r>
          </a:p>
        </p:txBody>
      </p:sp>
      <p:sp>
        <p:nvSpPr>
          <p:cNvPr id="16" name="TextBox 15"/>
          <p:cNvSpPr txBox="1"/>
          <p:nvPr/>
        </p:nvSpPr>
        <p:spPr>
          <a:xfrm>
            <a:off x="51206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Supplied to consumer;</a:t>
            </a:r>
          </a:p>
        </p:txBody>
      </p:sp>
      <p:sp>
        <p:nvSpPr>
          <p:cNvPr id="17" name="Rectangle 16"/>
          <p:cNvSpPr/>
          <p:nvPr/>
        </p:nvSpPr>
        <p:spPr>
          <a:xfrm>
            <a:off x="5303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105406"/>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251710"/>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3</a:t>
            </a:r>
          </a:p>
        </p:txBody>
      </p:sp>
      <p:sp>
        <p:nvSpPr>
          <p:cNvPr id="21" name="TextBox 20"/>
          <p:cNvSpPr txBox="1"/>
          <p:nvPr/>
        </p:nvSpPr>
        <p:spPr>
          <a:xfrm>
            <a:off x="10058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Ownership is transferred to consumer;</a:t>
            </a:r>
          </a:p>
        </p:txBody>
      </p:sp>
      <p:sp>
        <p:nvSpPr>
          <p:cNvPr id="22" name="Rectangle 21"/>
          <p:cNvSpPr/>
          <p:nvPr/>
        </p:nvSpPr>
        <p:spPr>
          <a:xfrm>
            <a:off x="46451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45152" y="2105406"/>
            <a:ext cx="41148" cy="7795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91456" y="2251710"/>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914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4</a:t>
            </a:r>
          </a:p>
        </p:txBody>
      </p:sp>
      <p:sp>
        <p:nvSpPr>
          <p:cNvPr id="26" name="TextBox 25"/>
          <p:cNvSpPr txBox="1"/>
          <p:nvPr/>
        </p:nvSpPr>
        <p:spPr>
          <a:xfrm>
            <a:off x="51206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Consumer takes responsibility for future use</a:t>
            </a:r>
          </a:p>
        </p:txBody>
      </p:sp>
      <p:sp>
        <p:nvSpPr>
          <p:cNvPr id="27" name="Rectangle 26"/>
          <p:cNvSpPr/>
          <p:nvPr/>
        </p:nvSpPr>
        <p:spPr>
          <a:xfrm>
            <a:off x="5303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3003804"/>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15010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5</a:t>
            </a:r>
          </a:p>
        </p:txBody>
      </p:sp>
      <p:sp>
        <p:nvSpPr>
          <p:cNvPr id="31" name="TextBox 30"/>
          <p:cNvSpPr txBox="1"/>
          <p:nvPr/>
        </p:nvSpPr>
        <p:spPr>
          <a:xfrm>
            <a:off x="10058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Access to Resources</a:t>
            </a:r>
          </a:p>
        </p:txBody>
      </p:sp>
      <p:sp>
        <p:nvSpPr>
          <p:cNvPr id="32" name="Rectangle 31"/>
          <p:cNvSpPr/>
          <p:nvPr/>
        </p:nvSpPr>
        <p:spPr>
          <a:xfrm>
            <a:off x="46451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645152" y="3003804"/>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91456" y="315010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14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6</a:t>
            </a:r>
          </a:p>
        </p:txBody>
      </p:sp>
      <p:sp>
        <p:nvSpPr>
          <p:cNvPr id="36" name="TextBox 35"/>
          <p:cNvSpPr txBox="1"/>
          <p:nvPr/>
        </p:nvSpPr>
        <p:spPr>
          <a:xfrm>
            <a:off x="51206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Ownership is not transferred to the consumer;</a:t>
            </a:r>
          </a:p>
        </p:txBody>
      </p:sp>
      <p:sp>
        <p:nvSpPr>
          <p:cNvPr id="37" name="Rectangle 36"/>
          <p:cNvSpPr/>
          <p:nvPr/>
        </p:nvSpPr>
        <p:spPr>
          <a:xfrm>
            <a:off x="530352" y="3902202"/>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0352" y="3902202"/>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76656" y="4048506"/>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6656" y="407136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7</a:t>
            </a:r>
          </a:p>
        </p:txBody>
      </p:sp>
      <p:sp>
        <p:nvSpPr>
          <p:cNvPr id="41" name="TextBox 40"/>
          <p:cNvSpPr txBox="1"/>
          <p:nvPr/>
        </p:nvSpPr>
        <p:spPr>
          <a:xfrm>
            <a:off x="1005840" y="4011930"/>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Access is granted or licensed to the consumer under agreed terms and conditions</a:t>
            </a:r>
          </a:p>
        </p:txBody>
      </p:sp>
      <p:sp>
        <p:nvSpPr>
          <p:cNvPr id="42" name="Rectangle 41"/>
          <p:cNvSpPr/>
          <p:nvPr/>
        </p:nvSpPr>
        <p:spPr>
          <a:xfrm>
            <a:off x="4645152" y="3902202"/>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645152" y="3902202"/>
            <a:ext cx="41148" cy="7795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791456" y="4048506"/>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91456" y="407136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8</a:t>
            </a:r>
          </a:p>
        </p:txBody>
      </p:sp>
      <p:sp>
        <p:nvSpPr>
          <p:cNvPr id="46" name="TextBox 45"/>
          <p:cNvSpPr txBox="1"/>
          <p:nvPr/>
        </p:nvSpPr>
        <p:spPr>
          <a:xfrm>
            <a:off x="5120640" y="4011930"/>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The consumer can only access the resources during the agreed consumption period and according to the agreed services and terms</a:t>
            </a:r>
          </a:p>
        </p:txBody>
      </p:sp>
      <p:sp>
        <p:nvSpPr>
          <p:cNvPr id="47" name="TextBox 46"/>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8" name="TextBox 47"/>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9" name="TextBox 48"/>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Offering</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161552" y="1329538"/>
            <a:ext cx="4820895"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Offerings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484484"/>
            <a:ext cx="7436632" cy="2928911"/>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Offering</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827027" y="1329538"/>
            <a:ext cx="5489945"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Relationship</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3526385" y="1316736"/>
            <a:ext cx="2091229"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A service relationship is cooperation between a service provider and service consumer.</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Relationship</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3526385" y="1316736"/>
            <a:ext cx="2091229"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Service relationships are established between two or more organizations to co-create value. In a service relationship, organizations will take on the roles of service providers or service consumers.</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Relationship Model</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562141"/>
            <a:ext cx="7436632" cy="2453557"/>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When services are delivered by the provider, they create new resources for service consumers or modify their existing ones.</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Resources, Cost and Risk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 RESOURCE is personnel, material, finance or any other entity required to execute an activity or achieve an objective.</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Resources used by an organisation may be owned by it, or used under agreement with their owner.</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Service relationships shift the burden of certain resources from the consumer to the provider.</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This is precisely how a service removes cost and risk from the consumer — the provider carries them instead.</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 consumer still manages the resources it needs in order to CONSUME the service.</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CLOUD HOSTING</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The provider owns the data centre, hardware and patching; the consumer keeps only the skills to use the platform.</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Resources are the 'what you need to do the work'. Do not confuse them with the service actions performed with them.</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Relationship Model</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333953"/>
            <a:ext cx="7436632" cy="322997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Value - Outcomes, Costs and Risks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418783" y="1329538"/>
            <a:ext cx="4306433"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Output vs Outcome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393192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681728" y="1188720"/>
            <a:ext cx="393192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0352" y="1188720"/>
            <a:ext cx="393192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81728" y="1188720"/>
            <a:ext cx="393192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335024"/>
            <a:ext cx="3566160" cy="274320"/>
          </a:xfrm>
          <a:prstGeom prst="rect">
            <a:avLst/>
          </a:prstGeom>
          <a:noFill/>
        </p:spPr>
        <p:txBody>
          <a:bodyPr wrap="square" anchor="t">
            <a:spAutoFit/>
          </a:bodyPr>
          <a:lstStyle/>
          <a:p>
            <a:pPr algn="l">
              <a:spcAft>
                <a:spcPts val="300"/>
              </a:spcAft>
            </a:pPr>
            <a:r>
              <a:rPr sz="1250" b="1">
                <a:solidFill>
                  <a:srgbClr val="1F6FEB"/>
                </a:solidFill>
                <a:latin typeface="Arial"/>
              </a:rPr>
              <a:t>Output</a:t>
            </a:r>
          </a:p>
        </p:txBody>
      </p:sp>
      <p:sp>
        <p:nvSpPr>
          <p:cNvPr id="12" name="TextBox 11"/>
          <p:cNvSpPr txBox="1"/>
          <p:nvPr/>
        </p:nvSpPr>
        <p:spPr>
          <a:xfrm>
            <a:off x="4864608" y="1335024"/>
            <a:ext cx="3566160" cy="274320"/>
          </a:xfrm>
          <a:prstGeom prst="rect">
            <a:avLst/>
          </a:prstGeom>
          <a:noFill/>
        </p:spPr>
        <p:txBody>
          <a:bodyPr wrap="square" anchor="t">
            <a:spAutoFit/>
          </a:bodyPr>
          <a:lstStyle/>
          <a:p>
            <a:pPr algn="l">
              <a:spcAft>
                <a:spcPts val="300"/>
              </a:spcAft>
            </a:pPr>
            <a:r>
              <a:rPr sz="1250" b="1">
                <a:solidFill>
                  <a:srgbClr val="10B981"/>
                </a:solidFill>
                <a:latin typeface="Arial"/>
              </a:rPr>
              <a:t>Outcome</a:t>
            </a:r>
          </a:p>
        </p:txBody>
      </p:sp>
      <p:sp>
        <p:nvSpPr>
          <p:cNvPr id="13" name="TextBox 12"/>
          <p:cNvSpPr txBox="1"/>
          <p:nvPr/>
        </p:nvSpPr>
        <p:spPr>
          <a:xfrm>
            <a:off x="713232" y="1682496"/>
            <a:ext cx="3566160" cy="2926080"/>
          </a:xfrm>
          <a:prstGeom prst="rect">
            <a:avLst/>
          </a:prstGeom>
          <a:noFill/>
        </p:spPr>
        <p:txBody>
          <a:bodyPr wrap="square" anchor="t">
            <a:spAutoFit/>
          </a:bodyPr>
          <a:lstStyle/>
          <a:p>
            <a:pPr algn="l">
              <a:spcAft>
                <a:spcPts val="600"/>
              </a:spcAft>
            </a:pPr>
            <a:r>
              <a:rPr sz="950" b="0">
                <a:solidFill>
                  <a:srgbClr val="161B26"/>
                </a:solidFill>
                <a:latin typeface="Arial"/>
              </a:rPr>
              <a:t>•  Output:</a:t>
            </a:r>
          </a:p>
          <a:p>
            <a:pPr algn="l">
              <a:spcAft>
                <a:spcPts val="600"/>
              </a:spcAft>
            </a:pPr>
            <a:r>
              <a:rPr sz="950" b="0">
                <a:solidFill>
                  <a:srgbClr val="161B26"/>
                </a:solidFill>
                <a:latin typeface="Arial"/>
              </a:rPr>
              <a:t>•  A tangible or intangible deliverable of an activity.</a:t>
            </a:r>
          </a:p>
          <a:p>
            <a:pPr algn="l">
              <a:spcAft>
                <a:spcPts val="600"/>
              </a:spcAft>
            </a:pPr>
            <a:r>
              <a:rPr sz="950" b="0">
                <a:solidFill>
                  <a:srgbClr val="161B26"/>
                </a:solidFill>
                <a:latin typeface="Arial"/>
              </a:rPr>
              <a:t>•  Example: delivery of a package or completed task</a:t>
            </a:r>
          </a:p>
          <a:p>
            <a:pPr algn="l">
              <a:spcAft>
                <a:spcPts val="600"/>
              </a:spcAft>
            </a:pPr>
            <a:r>
              <a:rPr sz="950" b="0">
                <a:solidFill>
                  <a:srgbClr val="161B26"/>
                </a:solidFill>
                <a:latin typeface="Arial"/>
              </a:rPr>
              <a:t>•  Outcome:</a:t>
            </a:r>
          </a:p>
          <a:p>
            <a:pPr algn="l">
              <a:spcAft>
                <a:spcPts val="600"/>
              </a:spcAft>
            </a:pPr>
            <a:r>
              <a:rPr sz="950" b="0">
                <a:solidFill>
                  <a:srgbClr val="161B26"/>
                </a:solidFill>
                <a:latin typeface="Arial"/>
              </a:rPr>
              <a:t>•  A result for a stakeholder enabled by one or more outputs.</a:t>
            </a:r>
          </a:p>
          <a:p>
            <a:pPr algn="l">
              <a:spcAft>
                <a:spcPts val="600"/>
              </a:spcAft>
            </a:pPr>
            <a:r>
              <a:rPr sz="950" b="0">
                <a:solidFill>
                  <a:srgbClr val="161B26"/>
                </a:solidFill>
                <a:latin typeface="Arial"/>
              </a:rPr>
              <a:t>•  Example: ability to print a report due to delivered equipment</a:t>
            </a:r>
          </a:p>
          <a:p>
            <a:pPr algn="l">
              <a:spcAft>
                <a:spcPts val="600"/>
              </a:spcAft>
            </a:pPr>
            <a:r>
              <a:rPr sz="950" b="0">
                <a:solidFill>
                  <a:srgbClr val="161B26"/>
                </a:solidFill>
                <a:latin typeface="Arial"/>
              </a:rPr>
              <a:t>•  Key distinction:</a:t>
            </a:r>
          </a:p>
        </p:txBody>
      </p:sp>
      <p:sp>
        <p:nvSpPr>
          <p:cNvPr id="14" name="TextBox 13"/>
          <p:cNvSpPr txBox="1"/>
          <p:nvPr/>
        </p:nvSpPr>
        <p:spPr>
          <a:xfrm>
            <a:off x="4864608" y="1682496"/>
            <a:ext cx="3566160" cy="2926080"/>
          </a:xfrm>
          <a:prstGeom prst="rect">
            <a:avLst/>
          </a:prstGeom>
          <a:noFill/>
        </p:spPr>
        <p:txBody>
          <a:bodyPr wrap="square" anchor="t">
            <a:spAutoFit/>
          </a:bodyPr>
          <a:lstStyle/>
          <a:p>
            <a:pPr algn="l">
              <a:spcAft>
                <a:spcPts val="600"/>
              </a:spcAft>
            </a:pPr>
            <a:r>
              <a:rPr sz="950" b="0">
                <a:solidFill>
                  <a:srgbClr val="161B26"/>
                </a:solidFill>
                <a:latin typeface="Arial"/>
              </a:rPr>
              <a:t>•  Outputs are deliverables from activities</a:t>
            </a:r>
          </a:p>
          <a:p>
            <a:pPr algn="l">
              <a:spcAft>
                <a:spcPts val="600"/>
              </a:spcAft>
            </a:pPr>
            <a:r>
              <a:rPr sz="950" b="0">
                <a:solidFill>
                  <a:srgbClr val="161B26"/>
                </a:solidFill>
                <a:latin typeface="Arial"/>
              </a:rPr>
              <a:t>•  Outcomes are benefits or results gained from outputs</a:t>
            </a:r>
          </a:p>
        </p:txBody>
      </p:sp>
      <p:sp>
        <p:nvSpPr>
          <p:cNvPr id="15" name="TextBox 14"/>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6" name="TextBox 15"/>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7" name="TextBox 16"/>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Output vs Outcome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780544"/>
            <a:ext cx="7436632" cy="2336792"/>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Costs in a Service Relationship</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COST is the amount of money spent on a specific activity or resource; it can also be expressed non-monetarily, as time or effort.</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Every service both IMPOSES costs on the consumer and REMOVES costs from the consumer.</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Costs IMPOSED: the fees, charges and effort of adopting and using the service.</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Costs REMOVED: the infrastructure, staff, training and maintenance the consumer no longer has to fund.</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 service is worth adopting when the costs removed plus the outcomes enabled exceed the costs imposed.</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PAYROLL SAAS</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Imposes a subscription and migration effort; removes a payroll server, an in-house specialist and quarterly compliance updates.</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Expect a question that asks which costs a service REMOVES — the answer is the consumer's own infrastructure and effort.</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Types of Cost — Imposed and Removed</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Costs IMPOSED on the consumer: the fees, charges and expenses of adopting and using the service.</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Also imposed: migration effort, training time, and the cost of integrating the service with existing systems.</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Costs REMOVED from the consumer: the infrastructure, licences, premises and staff no longer needed.</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Also removed: the effort of maintenance, patching, capacity planning and specialist recruitment.</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Adoption is justified when the costs removed, plus the outcomes enabled, outweigh the costs imposed.</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BOTH DIRECTIONS AT ONCE</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Moving email to a cloud suite imposes per-seat fees; it removes mail servers, backups and an administrator.</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Every service does BOTH. A question naming only one direction is testing whether you know the other exists.</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Risks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3126363" y="1316736"/>
            <a:ext cx="2891274"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A possible event that could cause harm or loss, or make it more difficult to achieve objectives.</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Risks in a Service Relationship</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 RISK is a possible event that could cause harm or loss, or make it more difficult to achieve objectives.</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Risk can also be defined as uncertainty of outcome, and can be used to measure both positive and negative uncertainty.</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Like cost, a service both IMPOSES and REMOVES risk for the consumer.</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Risks IMPOSED: service outages, security exposure, supplier lock-in, compliance gaps.</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Risks REMOVED: the consumer no longer carries hardware failure, capacity planning or specialist staff turnover.</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MANAGED SECURITY</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Removes the risk of missing a critical patch; imposes the risk of depending on the provider's own response times.</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A service NEVER removes all risk. Foundation questions test that both directions exist.</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Utility and Warranty</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338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338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20724"/>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34440"/>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338328"/>
          </a:xfrm>
          <a:prstGeom prst="rect">
            <a:avLst/>
          </a:prstGeom>
          <a:noFill/>
        </p:spPr>
        <p:txBody>
          <a:bodyPr wrap="square" anchor="ctr">
            <a:spAutoFit/>
          </a:bodyPr>
          <a:lstStyle/>
          <a:p>
            <a:pPr algn="l">
              <a:spcAft>
                <a:spcPts val="300"/>
              </a:spcAft>
            </a:pPr>
            <a:r>
              <a:rPr sz="900" b="0">
                <a:solidFill>
                  <a:srgbClr val="161B26"/>
                </a:solidFill>
                <a:latin typeface="Arial"/>
              </a:rPr>
              <a:t>UTILITY is the functionality offered by a product or service to meet a particular need — 'what the service DOES'.</a:t>
            </a:r>
          </a:p>
        </p:txBody>
      </p:sp>
      <p:sp>
        <p:nvSpPr>
          <p:cNvPr id="12" name="Rectangle 11"/>
          <p:cNvSpPr/>
          <p:nvPr/>
        </p:nvSpPr>
        <p:spPr>
          <a:xfrm>
            <a:off x="530352" y="1554480"/>
            <a:ext cx="8083296" cy="338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554480"/>
            <a:ext cx="36576" cy="338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604772"/>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618488"/>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554480"/>
            <a:ext cx="7498079" cy="338328"/>
          </a:xfrm>
          <a:prstGeom prst="rect">
            <a:avLst/>
          </a:prstGeom>
          <a:noFill/>
        </p:spPr>
        <p:txBody>
          <a:bodyPr wrap="square" anchor="ctr">
            <a:spAutoFit/>
          </a:bodyPr>
          <a:lstStyle/>
          <a:p>
            <a:pPr algn="l">
              <a:spcAft>
                <a:spcPts val="300"/>
              </a:spcAft>
            </a:pPr>
            <a:r>
              <a:rPr sz="900" b="0">
                <a:solidFill>
                  <a:srgbClr val="161B26"/>
                </a:solidFill>
                <a:latin typeface="Arial"/>
              </a:rPr>
              <a:t>Utility determines whether a service is FIT FOR PURPOSE.</a:t>
            </a:r>
          </a:p>
        </p:txBody>
      </p:sp>
      <p:sp>
        <p:nvSpPr>
          <p:cNvPr id="17" name="Rectangle 16"/>
          <p:cNvSpPr/>
          <p:nvPr/>
        </p:nvSpPr>
        <p:spPr>
          <a:xfrm>
            <a:off x="530352" y="1938528"/>
            <a:ext cx="8083296" cy="338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1938528"/>
            <a:ext cx="36576" cy="338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198882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00253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1938528"/>
            <a:ext cx="7498079" cy="338328"/>
          </a:xfrm>
          <a:prstGeom prst="rect">
            <a:avLst/>
          </a:prstGeom>
          <a:noFill/>
        </p:spPr>
        <p:txBody>
          <a:bodyPr wrap="square" anchor="ctr">
            <a:spAutoFit/>
          </a:bodyPr>
          <a:lstStyle/>
          <a:p>
            <a:pPr algn="l">
              <a:spcAft>
                <a:spcPts val="300"/>
              </a:spcAft>
            </a:pPr>
            <a:r>
              <a:rPr sz="900" b="0">
                <a:solidFill>
                  <a:srgbClr val="161B26"/>
                </a:solidFill>
                <a:latin typeface="Arial"/>
              </a:rPr>
              <a:t>To have utility, a service must either support the performance of the consumer, or remove constraints from the consumer — many do both.</a:t>
            </a:r>
          </a:p>
        </p:txBody>
      </p:sp>
      <p:sp>
        <p:nvSpPr>
          <p:cNvPr id="22" name="Rectangle 21"/>
          <p:cNvSpPr/>
          <p:nvPr/>
        </p:nvSpPr>
        <p:spPr>
          <a:xfrm>
            <a:off x="530352" y="2322576"/>
            <a:ext cx="8083296" cy="338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322576"/>
            <a:ext cx="36576" cy="338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372868"/>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386584"/>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322576"/>
            <a:ext cx="7498079" cy="338328"/>
          </a:xfrm>
          <a:prstGeom prst="rect">
            <a:avLst/>
          </a:prstGeom>
          <a:noFill/>
        </p:spPr>
        <p:txBody>
          <a:bodyPr wrap="square" anchor="ctr">
            <a:spAutoFit/>
          </a:bodyPr>
          <a:lstStyle/>
          <a:p>
            <a:pPr algn="l">
              <a:spcAft>
                <a:spcPts val="300"/>
              </a:spcAft>
            </a:pPr>
            <a:r>
              <a:rPr sz="900" b="0">
                <a:solidFill>
                  <a:srgbClr val="161B26"/>
                </a:solidFill>
                <a:latin typeface="Arial"/>
              </a:rPr>
              <a:t>WARRANTY is the assurance that a product or service will meet agreed requirements — 'how the service PERFORMS'.</a:t>
            </a:r>
          </a:p>
        </p:txBody>
      </p:sp>
      <p:sp>
        <p:nvSpPr>
          <p:cNvPr id="27" name="Rectangle 26"/>
          <p:cNvSpPr/>
          <p:nvPr/>
        </p:nvSpPr>
        <p:spPr>
          <a:xfrm>
            <a:off x="530352" y="2706624"/>
            <a:ext cx="8083296" cy="338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706624"/>
            <a:ext cx="36576" cy="338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2756916"/>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2770632"/>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706624"/>
            <a:ext cx="7498079" cy="338328"/>
          </a:xfrm>
          <a:prstGeom prst="rect">
            <a:avLst/>
          </a:prstGeom>
          <a:noFill/>
        </p:spPr>
        <p:txBody>
          <a:bodyPr wrap="square" anchor="ctr">
            <a:spAutoFit/>
          </a:bodyPr>
          <a:lstStyle/>
          <a:p>
            <a:pPr algn="l">
              <a:spcAft>
                <a:spcPts val="300"/>
              </a:spcAft>
            </a:pPr>
            <a:r>
              <a:rPr sz="900" b="0">
                <a:solidFill>
                  <a:srgbClr val="161B26"/>
                </a:solidFill>
                <a:latin typeface="Arial"/>
              </a:rPr>
              <a:t>Warranty determines whether a service is FIT FOR USE, and covers availability, capacity, security and continuity.</a:t>
            </a:r>
          </a:p>
        </p:txBody>
      </p:sp>
      <p:sp>
        <p:nvSpPr>
          <p:cNvPr id="32" name="Rectangle 31"/>
          <p:cNvSpPr/>
          <p:nvPr/>
        </p:nvSpPr>
        <p:spPr>
          <a:xfrm>
            <a:off x="530352" y="3090672"/>
            <a:ext cx="8083296" cy="338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090672"/>
            <a:ext cx="36576" cy="338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6656" y="3140964"/>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 y="3154680"/>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6</a:t>
            </a:r>
          </a:p>
        </p:txBody>
      </p:sp>
      <p:sp>
        <p:nvSpPr>
          <p:cNvPr id="36" name="TextBox 35"/>
          <p:cNvSpPr txBox="1"/>
          <p:nvPr/>
        </p:nvSpPr>
        <p:spPr>
          <a:xfrm>
            <a:off x="987552" y="3090672"/>
            <a:ext cx="7498079" cy="338328"/>
          </a:xfrm>
          <a:prstGeom prst="rect">
            <a:avLst/>
          </a:prstGeom>
          <a:noFill/>
        </p:spPr>
        <p:txBody>
          <a:bodyPr wrap="square" anchor="ctr">
            <a:spAutoFit/>
          </a:bodyPr>
          <a:lstStyle/>
          <a:p>
            <a:pPr algn="l">
              <a:spcAft>
                <a:spcPts val="300"/>
              </a:spcAft>
            </a:pPr>
            <a:r>
              <a:rPr sz="900" b="0">
                <a:solidFill>
                  <a:srgbClr val="161B26"/>
                </a:solidFill>
                <a:latin typeface="Arial"/>
              </a:rPr>
              <a:t>A service needs BOTH to create value: functionality nobody can reach delivers nothing.</a:t>
            </a:r>
          </a:p>
        </p:txBody>
      </p:sp>
      <p:sp>
        <p:nvSpPr>
          <p:cNvPr id="37" name="Rectangle 36"/>
          <p:cNvSpPr/>
          <p:nvPr/>
        </p:nvSpPr>
        <p:spPr>
          <a:xfrm>
            <a:off x="530352" y="3529584"/>
            <a:ext cx="3968496" cy="111556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0352" y="3529584"/>
            <a:ext cx="36576" cy="11155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6656" y="3575304"/>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HOTEL ROOM</a:t>
            </a:r>
          </a:p>
        </p:txBody>
      </p:sp>
      <p:sp>
        <p:nvSpPr>
          <p:cNvPr id="40" name="TextBox 39"/>
          <p:cNvSpPr txBox="1"/>
          <p:nvPr/>
        </p:nvSpPr>
        <p:spPr>
          <a:xfrm>
            <a:off x="676656" y="3730752"/>
            <a:ext cx="3712464" cy="859536"/>
          </a:xfrm>
          <a:prstGeom prst="rect">
            <a:avLst/>
          </a:prstGeom>
          <a:noFill/>
        </p:spPr>
        <p:txBody>
          <a:bodyPr wrap="square" anchor="t">
            <a:spAutoFit/>
          </a:bodyPr>
          <a:lstStyle/>
          <a:p>
            <a:pPr algn="l">
              <a:spcAft>
                <a:spcPts val="300"/>
              </a:spcAft>
            </a:pPr>
            <a:r>
              <a:rPr sz="850" b="0">
                <a:solidFill>
                  <a:srgbClr val="161B26"/>
                </a:solidFill>
                <a:latin typeface="Arial"/>
              </a:rPr>
              <a:t>Utility: a bed, wifi and a desk. Warranty: the room is available on the night booked, and the door lock works.</a:t>
            </a:r>
          </a:p>
        </p:txBody>
      </p:sp>
      <p:sp>
        <p:nvSpPr>
          <p:cNvPr id="41" name="Rectangle 40"/>
          <p:cNvSpPr/>
          <p:nvPr/>
        </p:nvSpPr>
        <p:spPr>
          <a:xfrm>
            <a:off x="4645152" y="3529584"/>
            <a:ext cx="3968496" cy="111556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645152" y="3529584"/>
            <a:ext cx="36576" cy="11155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91456" y="3575304"/>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44" name="TextBox 43"/>
          <p:cNvSpPr txBox="1"/>
          <p:nvPr/>
        </p:nvSpPr>
        <p:spPr>
          <a:xfrm>
            <a:off x="4791456" y="3730752"/>
            <a:ext cx="3712464" cy="859536"/>
          </a:xfrm>
          <a:prstGeom prst="rect">
            <a:avLst/>
          </a:prstGeom>
          <a:noFill/>
        </p:spPr>
        <p:txBody>
          <a:bodyPr wrap="square" anchor="t">
            <a:spAutoFit/>
          </a:bodyPr>
          <a:lstStyle/>
          <a:p>
            <a:pPr algn="l">
              <a:spcAft>
                <a:spcPts val="300"/>
              </a:spcAft>
            </a:pPr>
            <a:r>
              <a:rPr sz="850" b="0">
                <a:solidFill>
                  <a:srgbClr val="161B26"/>
                </a:solidFill>
                <a:latin typeface="Arial"/>
              </a:rPr>
              <a:t>Utility = fit for PURPOSE = what it does. Warranty = fit for USE = how it performs. Both are needed.</a:t>
            </a:r>
          </a:p>
        </p:txBody>
      </p:sp>
      <p:sp>
        <p:nvSpPr>
          <p:cNvPr id="45" name="TextBox 44"/>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6" name="TextBox 45"/>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7" name="TextBox 46"/>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Utility vs Warranty</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393192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681728" y="1188720"/>
            <a:ext cx="393192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0352" y="1188720"/>
            <a:ext cx="393192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81728" y="1188720"/>
            <a:ext cx="393192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335024"/>
            <a:ext cx="3566160" cy="274320"/>
          </a:xfrm>
          <a:prstGeom prst="rect">
            <a:avLst/>
          </a:prstGeom>
          <a:noFill/>
        </p:spPr>
        <p:txBody>
          <a:bodyPr wrap="square" anchor="t">
            <a:spAutoFit/>
          </a:bodyPr>
          <a:lstStyle/>
          <a:p>
            <a:pPr algn="l">
              <a:spcAft>
                <a:spcPts val="300"/>
              </a:spcAft>
            </a:pPr>
            <a:r>
              <a:rPr sz="1250" b="1">
                <a:solidFill>
                  <a:srgbClr val="1F6FEB"/>
                </a:solidFill>
                <a:latin typeface="Arial"/>
              </a:rPr>
              <a:t>Utility</a:t>
            </a:r>
          </a:p>
        </p:txBody>
      </p:sp>
      <p:sp>
        <p:nvSpPr>
          <p:cNvPr id="12" name="TextBox 11"/>
          <p:cNvSpPr txBox="1"/>
          <p:nvPr/>
        </p:nvSpPr>
        <p:spPr>
          <a:xfrm>
            <a:off x="4864608" y="1335024"/>
            <a:ext cx="3566160" cy="274320"/>
          </a:xfrm>
          <a:prstGeom prst="rect">
            <a:avLst/>
          </a:prstGeom>
          <a:noFill/>
        </p:spPr>
        <p:txBody>
          <a:bodyPr wrap="square" anchor="t">
            <a:spAutoFit/>
          </a:bodyPr>
          <a:lstStyle/>
          <a:p>
            <a:pPr algn="l">
              <a:spcAft>
                <a:spcPts val="300"/>
              </a:spcAft>
            </a:pPr>
            <a:r>
              <a:rPr sz="1250" b="1">
                <a:solidFill>
                  <a:srgbClr val="10B981"/>
                </a:solidFill>
                <a:latin typeface="Arial"/>
              </a:rPr>
              <a:t>Warranty</a:t>
            </a:r>
          </a:p>
        </p:txBody>
      </p:sp>
      <p:sp>
        <p:nvSpPr>
          <p:cNvPr id="13" name="TextBox 12"/>
          <p:cNvSpPr txBox="1"/>
          <p:nvPr/>
        </p:nvSpPr>
        <p:spPr>
          <a:xfrm>
            <a:off x="713232" y="1682496"/>
            <a:ext cx="3566160" cy="2926080"/>
          </a:xfrm>
          <a:prstGeom prst="rect">
            <a:avLst/>
          </a:prstGeom>
          <a:noFill/>
        </p:spPr>
        <p:txBody>
          <a:bodyPr wrap="square" anchor="t">
            <a:spAutoFit/>
          </a:bodyPr>
          <a:lstStyle/>
          <a:p>
            <a:pPr algn="l">
              <a:spcAft>
                <a:spcPts val="600"/>
              </a:spcAft>
            </a:pPr>
            <a:r>
              <a:rPr sz="950" b="0">
                <a:solidFill>
                  <a:srgbClr val="161B26"/>
                </a:solidFill>
                <a:latin typeface="Arial"/>
              </a:rPr>
              <a:t>•  Utility</a:t>
            </a:r>
          </a:p>
        </p:txBody>
      </p:sp>
      <p:sp>
        <p:nvSpPr>
          <p:cNvPr id="14" name="TextBox 13"/>
          <p:cNvSpPr txBox="1"/>
          <p:nvPr/>
        </p:nvSpPr>
        <p:spPr>
          <a:xfrm>
            <a:off x="4864608" y="1682496"/>
            <a:ext cx="3566160" cy="2926080"/>
          </a:xfrm>
          <a:prstGeom prst="rect">
            <a:avLst/>
          </a:prstGeom>
          <a:noFill/>
        </p:spPr>
        <p:txBody>
          <a:bodyPr wrap="square" anchor="t">
            <a:spAutoFit/>
          </a:bodyPr>
          <a:lstStyle/>
          <a:p>
            <a:pPr algn="l">
              <a:spcAft>
                <a:spcPts val="600"/>
              </a:spcAft>
            </a:pPr>
            <a:r>
              <a:rPr sz="950" b="0">
                <a:solidFill>
                  <a:srgbClr val="161B26"/>
                </a:solidFill>
                <a:latin typeface="Arial"/>
              </a:rPr>
              <a:t>•  What the service does - fit for purpose</a:t>
            </a:r>
          </a:p>
          <a:p>
            <a:pPr algn="l">
              <a:spcAft>
                <a:spcPts val="600"/>
              </a:spcAft>
            </a:pPr>
            <a:r>
              <a:rPr sz="950" b="0">
                <a:solidFill>
                  <a:srgbClr val="161B26"/>
                </a:solidFill>
                <a:latin typeface="Arial"/>
              </a:rPr>
              <a:t>•  Functionality offered to meet a need</a:t>
            </a:r>
          </a:p>
          <a:p>
            <a:pPr algn="l">
              <a:spcAft>
                <a:spcPts val="600"/>
              </a:spcAft>
            </a:pPr>
            <a:r>
              <a:rPr sz="950" b="0">
                <a:solidFill>
                  <a:srgbClr val="161B26"/>
                </a:solidFill>
                <a:latin typeface="Arial"/>
              </a:rPr>
              <a:t>•  Examples:</a:t>
            </a:r>
          </a:p>
          <a:p>
            <a:pPr algn="l">
              <a:spcAft>
                <a:spcPts val="600"/>
              </a:spcAft>
            </a:pPr>
            <a:r>
              <a:rPr sz="950" b="0">
                <a:solidFill>
                  <a:srgbClr val="161B26"/>
                </a:solidFill>
                <a:latin typeface="Arial"/>
              </a:rPr>
              <a:t>•  Access to:</a:t>
            </a:r>
          </a:p>
          <a:p>
            <a:pPr algn="l">
              <a:spcAft>
                <a:spcPts val="600"/>
              </a:spcAft>
            </a:pPr>
            <a:r>
              <a:rPr sz="950" b="0">
                <a:solidFill>
                  <a:srgbClr val="161B26"/>
                </a:solidFill>
                <a:latin typeface="Arial"/>
              </a:rPr>
              <a:t>•  Bed</a:t>
            </a:r>
          </a:p>
          <a:p>
            <a:pPr algn="l">
              <a:spcAft>
                <a:spcPts val="600"/>
              </a:spcAft>
            </a:pPr>
            <a:r>
              <a:rPr sz="950" b="0">
                <a:solidFill>
                  <a:srgbClr val="161B26"/>
                </a:solidFill>
                <a:latin typeface="Arial"/>
              </a:rPr>
              <a:t>•  Internet connection</a:t>
            </a:r>
          </a:p>
          <a:p>
            <a:pPr algn="l">
              <a:spcAft>
                <a:spcPts val="600"/>
              </a:spcAft>
            </a:pPr>
            <a:r>
              <a:rPr sz="950" b="0">
                <a:solidFill>
                  <a:srgbClr val="161B26"/>
                </a:solidFill>
                <a:latin typeface="Arial"/>
              </a:rPr>
              <a:t>•  Food</a:t>
            </a:r>
          </a:p>
          <a:p>
            <a:pPr algn="l">
              <a:spcAft>
                <a:spcPts val="600"/>
              </a:spcAft>
            </a:pPr>
            <a:r>
              <a:rPr sz="950" b="0">
                <a:solidFill>
                  <a:srgbClr val="161B26"/>
                </a:solidFill>
                <a:latin typeface="Arial"/>
              </a:rPr>
              <a:t>•  Warranty</a:t>
            </a:r>
          </a:p>
        </p:txBody>
      </p:sp>
      <p:sp>
        <p:nvSpPr>
          <p:cNvPr id="15" name="TextBox 14"/>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6" name="TextBox 15"/>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7" name="TextBox 16"/>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Utility  vs Warranty</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3087625" y="1316736"/>
            <a:ext cx="2968749"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Utility focuses on the functionality and ensuring that the service meets the needs and purposes of the consumer.</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1700" b="1">
                <a:solidFill>
                  <a:srgbClr val="161B26"/>
                </a:solidFill>
                <a:latin typeface="Arial"/>
              </a:rPr>
              <a:t>From Utility and Warranty to the Service Value Chain</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3396142" y="1329538"/>
            <a:ext cx="2351715"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The Service Value Chain</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 service value chain is an operating model: a set of six interconnected activities an organisation performs to deliver a valuable product or service.</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 six activities are PLAN, IMPROVE, ENGAGE, DESIGN AND TRANSITION, OBTAIN/BUILD, and DELIVER AND SUPPORT.</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Each activity converts inputs into outputs; the outputs of one commonly become the inputs of another.</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 activities can be combined in many sequences — these combinations are called VALUE STREAMS.</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 chain is flexible by design: no fixed order is prescribed, so it adapts to any type of demand.</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ONE VALUE STREAM</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An incident enters at 'engage', is resolved by 'deliver and support', and a fix is fed to 'improve'.</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Learn all six activity names and the PURPOSE sentence of each — they are examined directly.</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Value Chain</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122312" y="1329538"/>
            <a:ext cx="4899375"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Value Chain Activities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960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353312"/>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1</a:t>
            </a:r>
          </a:p>
        </p:txBody>
      </p:sp>
      <p:sp>
        <p:nvSpPr>
          <p:cNvPr id="11" name="TextBox 10"/>
          <p:cNvSpPr txBox="1"/>
          <p:nvPr/>
        </p:nvSpPr>
        <p:spPr>
          <a:xfrm>
            <a:off x="1005840" y="1316736"/>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Plan</a:t>
            </a:r>
          </a:p>
        </p:txBody>
      </p:sp>
      <p:sp>
        <p:nvSpPr>
          <p:cNvPr id="12" name="Rectangle 11"/>
          <p:cNvSpPr/>
          <p:nvPr/>
        </p:nvSpPr>
        <p:spPr>
          <a:xfrm>
            <a:off x="4645152" y="1207008"/>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45152" y="1207008"/>
            <a:ext cx="41148"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91456" y="1353312"/>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4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2</a:t>
            </a:r>
          </a:p>
        </p:txBody>
      </p:sp>
      <p:sp>
        <p:nvSpPr>
          <p:cNvPr id="16" name="TextBox 15"/>
          <p:cNvSpPr txBox="1"/>
          <p:nvPr/>
        </p:nvSpPr>
        <p:spPr>
          <a:xfrm>
            <a:off x="5120640" y="1316736"/>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Improve</a:t>
            </a:r>
          </a:p>
        </p:txBody>
      </p:sp>
      <p:sp>
        <p:nvSpPr>
          <p:cNvPr id="17" name="Rectangle 16"/>
          <p:cNvSpPr/>
          <p:nvPr/>
        </p:nvSpPr>
        <p:spPr>
          <a:xfrm>
            <a:off x="530352" y="2286000"/>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286000"/>
            <a:ext cx="41148" cy="960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432304"/>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455164"/>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3</a:t>
            </a:r>
          </a:p>
        </p:txBody>
      </p:sp>
      <p:sp>
        <p:nvSpPr>
          <p:cNvPr id="21" name="TextBox 20"/>
          <p:cNvSpPr txBox="1"/>
          <p:nvPr/>
        </p:nvSpPr>
        <p:spPr>
          <a:xfrm>
            <a:off x="1005840" y="2395728"/>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Engage</a:t>
            </a:r>
          </a:p>
        </p:txBody>
      </p:sp>
      <p:sp>
        <p:nvSpPr>
          <p:cNvPr id="22" name="Rectangle 21"/>
          <p:cNvSpPr/>
          <p:nvPr/>
        </p:nvSpPr>
        <p:spPr>
          <a:xfrm>
            <a:off x="4645152" y="2286000"/>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45152" y="2286000"/>
            <a:ext cx="41148"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91456" y="2432304"/>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91456" y="2455164"/>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4</a:t>
            </a:r>
          </a:p>
        </p:txBody>
      </p:sp>
      <p:sp>
        <p:nvSpPr>
          <p:cNvPr id="26" name="TextBox 25"/>
          <p:cNvSpPr txBox="1"/>
          <p:nvPr/>
        </p:nvSpPr>
        <p:spPr>
          <a:xfrm>
            <a:off x="5120640" y="2395728"/>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Design and transition</a:t>
            </a:r>
          </a:p>
        </p:txBody>
      </p:sp>
      <p:sp>
        <p:nvSpPr>
          <p:cNvPr id="27" name="Rectangle 26"/>
          <p:cNvSpPr/>
          <p:nvPr/>
        </p:nvSpPr>
        <p:spPr>
          <a:xfrm>
            <a:off x="530352" y="3364992"/>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3364992"/>
            <a:ext cx="41148" cy="960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511296"/>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53415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5</a:t>
            </a:r>
          </a:p>
        </p:txBody>
      </p:sp>
      <p:sp>
        <p:nvSpPr>
          <p:cNvPr id="31" name="TextBox 30"/>
          <p:cNvSpPr txBox="1"/>
          <p:nvPr/>
        </p:nvSpPr>
        <p:spPr>
          <a:xfrm>
            <a:off x="1005840" y="3474720"/>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Obtain/build</a:t>
            </a:r>
          </a:p>
        </p:txBody>
      </p:sp>
      <p:sp>
        <p:nvSpPr>
          <p:cNvPr id="32" name="Rectangle 31"/>
          <p:cNvSpPr/>
          <p:nvPr/>
        </p:nvSpPr>
        <p:spPr>
          <a:xfrm>
            <a:off x="4645152" y="3364992"/>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645152" y="3364992"/>
            <a:ext cx="41148"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91456" y="3511296"/>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1456" y="353415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6</a:t>
            </a:r>
          </a:p>
        </p:txBody>
      </p:sp>
      <p:sp>
        <p:nvSpPr>
          <p:cNvPr id="36" name="TextBox 35"/>
          <p:cNvSpPr txBox="1"/>
          <p:nvPr/>
        </p:nvSpPr>
        <p:spPr>
          <a:xfrm>
            <a:off x="5120640" y="3474720"/>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Deliver and support.</a:t>
            </a:r>
          </a:p>
        </p:txBody>
      </p:sp>
      <p:sp>
        <p:nvSpPr>
          <p:cNvPr id="37" name="TextBox 36"/>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38" name="TextBox 37"/>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39" name="TextBox 38"/>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Practices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926519" y="1316736"/>
            <a:ext cx="5290961"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The 34 practices are set of organization resources designed for performing work or accomplishing an objective.</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Governance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337490" y="1316736"/>
            <a:ext cx="4469019"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Governance is the means by which an organization is directed and controlled.</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Guiding Principles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332798" y="1316736"/>
            <a:ext cx="4478403"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Guiding principles are recommendations that can guide an organization in all circumstances, regardless of changes in its goals, strategies, type of work, or management.</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Continual Improvement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925749" y="1316736"/>
            <a:ext cx="5292501"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Continual improvement is a recurring organizational activity performed at all levels to ensure that an organization’s performance continually meets stakeholders’ expectations.</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Four Dimensions of ITSM</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606797"/>
            <a:ext cx="7436632" cy="2364246"/>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To ensure a holistic approach to service management, ITIL 4 outlines four dimensions of service management, from which each component of the SVS should be considered.</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Four Dimensions of ITSM</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270485" y="1329538"/>
            <a:ext cx="4603030"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External Factors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3152322" y="1316736"/>
            <a:ext cx="2839356"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Service providers do not operate in isolation. They are affected by many external factors, and work in dynamic and complex environments that can exhibit high degrees of volatility and uncertainty that impose constraints on how the service provider can work.</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PESTLE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2019172"/>
            <a:ext cx="7436632" cy="1859536"/>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Within ITIL 4, how many components make up the Service Value System?</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4</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5</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6</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7</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What are the inputs to Service Value System?</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Demand or value</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Value or cost</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Opportunities or risk</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Demand or opportunities</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3</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Service value chain is define as:</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A set of interconnected tasks that are performed to deliver value</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A set of interconnected activities that are performed to deliver good to consumers</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A set of interconnected procedure that are performed to deliver service</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A set of interconnected activities that are performed to deliver a product or service to consumers</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Which component within ITIL SVS is supposed to make recommendations to guide an organization in all circumstances?</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Organization and people</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34 practices</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Continual improvement</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Guiding principles</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ITIL ensures a holistic approach to ITSM through the consideration of?</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Service Value System</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Governance</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Four dimensions of service management</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34 practices</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6</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How many roles are there for consumers?</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1</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2</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3</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4</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7</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The definition of cost from ITIL perspective</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Money gain from using the service</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Business lost from the using the service</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Money spent on resources or specific activity</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Money saved from using the service</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8</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Utility is defined as:</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Assurance that a service will meet agreed-upon requirements</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Functionality of the service to meet a particular need</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How it performs and whether it is fit for use</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How it facilitates its desired outcome and create value</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9</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What is a description of one or more services, designed to address the needs of a target consumer group?</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Products</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Resources</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Goods</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Service offering</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10</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When services are delivered by the provider, they create new 	___________ for service consumers or modify their existing ones.</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Value</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Risk</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Cost</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Resources</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11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What is the definition of warranty?</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A tangible or intangible deliverable that is produced by carrying out an activity</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The assurance that a product or service will meet agreed requirements</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A possible event that could cause harm or loss or make it more difficult to achieve objectives</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The functionality offered by a product or service to meet a particular need</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0B981"/>
                </a:solidFill>
                <a:latin typeface="Arial"/>
              </a:rPr>
              <a:t>IN-CLASS ACTIVITY</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Case Study</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389888"/>
            <a:ext cx="7406640" cy="3108960"/>
          </a:xfrm>
          <a:prstGeom prst="rect">
            <a:avLst/>
          </a:prstGeom>
          <a:noFill/>
        </p:spPr>
        <p:txBody>
          <a:bodyPr wrap="square" anchor="t">
            <a:spAutoFit/>
          </a:bodyPr>
          <a:lstStyle/>
          <a:p>
            <a:pPr algn="l">
              <a:spcAft>
                <a:spcPts val="700"/>
              </a:spcAft>
            </a:pPr>
            <a:r>
              <a:rPr sz="1000" b="1">
                <a:solidFill>
                  <a:srgbClr val="10B981"/>
                </a:solidFill>
                <a:latin typeface="Arial"/>
              </a:rPr>
              <a:t>1.  </a:t>
            </a:r>
            <a:r>
              <a:rPr sz="1000" b="0">
                <a:solidFill>
                  <a:srgbClr val="161B26"/>
                </a:solidFill>
                <a:latin typeface="Arial"/>
              </a:rPr>
              <a:t>Tech Solutions Inc. is a global IT services company established in 2005, employing over 15,000 professionals across North America, Europe, and Asia. It has been ranked among the top 10 IT service providers by Global IT Services Magazine. The company offers a wide range of services, including IT consulting, software development, cloud solutions, cybersecurity, and managed IT services.</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0B981"/>
                </a:solidFill>
                <a:latin typeface="Arial"/>
              </a:rPr>
              <a:t>IN-CLASS ACTIVITY</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Case Study</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389888"/>
            <a:ext cx="7406640" cy="3108960"/>
          </a:xfrm>
          <a:prstGeom prst="rect">
            <a:avLst/>
          </a:prstGeom>
          <a:noFill/>
        </p:spPr>
        <p:txBody>
          <a:bodyPr wrap="square" anchor="t">
            <a:spAutoFit/>
          </a:bodyPr>
          <a:lstStyle/>
          <a:p>
            <a:pPr algn="l">
              <a:spcAft>
                <a:spcPts val="700"/>
              </a:spcAft>
            </a:pPr>
            <a:r>
              <a:rPr sz="1000" b="1">
                <a:solidFill>
                  <a:srgbClr val="10B981"/>
                </a:solidFill>
                <a:latin typeface="Arial"/>
              </a:rPr>
              <a:t>1.  </a:t>
            </a:r>
            <a:r>
              <a:rPr sz="1000" b="0">
                <a:solidFill>
                  <a:srgbClr val="161B26"/>
                </a:solidFill>
                <a:latin typeface="Arial"/>
              </a:rPr>
              <a:t>With the increasing adoption of cloud computing and remote work solutions, Tech Solutions Inc. sees an opportunity to expand its cloud services offerings. The company plans to introduce a new range of cloud solutions designed to help businesses transition smoothly to the cloud, enhance cybersecurity, and manage their IT infrastructure more efficiently.</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0B981"/>
                </a:solidFill>
                <a:latin typeface="Arial"/>
              </a:rPr>
              <a:t>IN-CLASS ACTIVITY</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Case Study</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389888"/>
            <a:ext cx="7406640" cy="3108960"/>
          </a:xfrm>
          <a:prstGeom prst="rect">
            <a:avLst/>
          </a:prstGeom>
          <a:noFill/>
        </p:spPr>
        <p:txBody>
          <a:bodyPr wrap="square" anchor="t">
            <a:spAutoFit/>
          </a:bodyPr>
          <a:lstStyle/>
          <a:p>
            <a:pPr algn="l">
              <a:spcAft>
                <a:spcPts val="700"/>
              </a:spcAft>
            </a:pPr>
            <a:r>
              <a:rPr sz="1000" b="1">
                <a:solidFill>
                  <a:srgbClr val="10B981"/>
                </a:solidFill>
                <a:latin typeface="Arial"/>
              </a:rPr>
              <a:t>1.  </a:t>
            </a:r>
            <a:r>
              <a:rPr sz="1000" b="0">
                <a:solidFill>
                  <a:srgbClr val="161B26"/>
                </a:solidFill>
                <a:latin typeface="Arial"/>
              </a:rPr>
              <a:t>Cloud Solutions Packages:</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0B981"/>
                </a:solidFill>
                <a:latin typeface="Arial"/>
              </a:rPr>
              <a:t>IN-CLASS ACTIVITY</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Case Study</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389888"/>
            <a:ext cx="7406640" cy="3108960"/>
          </a:xfrm>
          <a:prstGeom prst="rect">
            <a:avLst/>
          </a:prstGeom>
          <a:noFill/>
        </p:spPr>
        <p:txBody>
          <a:bodyPr wrap="square" anchor="t">
            <a:spAutoFit/>
          </a:bodyPr>
          <a:lstStyle/>
          <a:p>
            <a:pPr algn="l">
              <a:spcAft>
                <a:spcPts val="700"/>
              </a:spcAft>
            </a:pPr>
            <a:r>
              <a:rPr sz="1000" b="1">
                <a:solidFill>
                  <a:srgbClr val="10B981"/>
                </a:solidFill>
                <a:latin typeface="Arial"/>
              </a:rPr>
              <a:t>1.  </a:t>
            </a:r>
            <a:r>
              <a:rPr sz="1000" b="0">
                <a:solidFill>
                  <a:srgbClr val="161B26"/>
                </a:solidFill>
                <a:latin typeface="Arial"/>
              </a:rPr>
              <a:t>All packages guarantee a smooth transition within 10 business days. If customers do not receive any updates within this period, they can contact the 24/7 support hotline or use the online customer portal with chatbot assistance.</a:t>
            </a:r>
          </a:p>
          <a:p>
            <a:pPr algn="l">
              <a:spcAft>
                <a:spcPts val="700"/>
              </a:spcAft>
            </a:pPr>
            <a:r>
              <a:rPr sz="1000" b="1">
                <a:solidFill>
                  <a:srgbClr val="10B981"/>
                </a:solidFill>
                <a:latin typeface="Arial"/>
              </a:rPr>
              <a:t>2.  </a:t>
            </a:r>
            <a:r>
              <a:rPr sz="1000" b="0">
                <a:solidFill>
                  <a:srgbClr val="161B26"/>
                </a:solidFill>
                <a:latin typeface="Arial"/>
              </a:rPr>
              <a:t>As the company expands its services, there is a need for better insight into customer satisfaction and service performance. The IT Director has been tasked with evaluating a service management solution to address this need.</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0B981"/>
                </a:solidFill>
                <a:latin typeface="Arial"/>
              </a:rPr>
              <a:t>IN-CLASS ACTIVITY</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Case Study</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389888"/>
            <a:ext cx="7406640" cy="3108960"/>
          </a:xfrm>
          <a:prstGeom prst="rect">
            <a:avLst/>
          </a:prstGeom>
          <a:noFill/>
        </p:spPr>
        <p:txBody>
          <a:bodyPr wrap="square" anchor="t">
            <a:spAutoFit/>
          </a:bodyPr>
          <a:lstStyle/>
          <a:p>
            <a:pPr algn="l">
              <a:spcAft>
                <a:spcPts val="700"/>
              </a:spcAft>
            </a:pPr>
            <a:r>
              <a:rPr sz="1000" b="1">
                <a:solidFill>
                  <a:srgbClr val="10B981"/>
                </a:solidFill>
                <a:latin typeface="Arial"/>
              </a:rPr>
              <a:t>1.  </a:t>
            </a:r>
            <a:r>
              <a:rPr sz="1000" b="0">
                <a:solidFill>
                  <a:srgbClr val="161B26"/>
                </a:solidFill>
                <a:latin typeface="Arial"/>
              </a:rPr>
              <a:t>Divide the class into 2-4 small groups, each with 2-3 persons.</a:t>
            </a:r>
          </a:p>
          <a:p>
            <a:pPr algn="l">
              <a:spcAft>
                <a:spcPts val="700"/>
              </a:spcAft>
            </a:pPr>
            <a:r>
              <a:rPr sz="1000" b="1">
                <a:solidFill>
                  <a:srgbClr val="10B981"/>
                </a:solidFill>
                <a:latin typeface="Arial"/>
              </a:rPr>
              <a:t>2.  </a:t>
            </a:r>
            <a:r>
              <a:rPr sz="1000" b="0">
                <a:solidFill>
                  <a:srgbClr val="161B26"/>
                </a:solidFill>
                <a:latin typeface="Arial"/>
              </a:rPr>
              <a:t>Scenario Analysis from ITIL Context</a:t>
            </a:r>
          </a:p>
          <a:p>
            <a:pPr algn="l">
              <a:spcAft>
                <a:spcPts val="700"/>
              </a:spcAft>
            </a:pPr>
            <a:r>
              <a:rPr sz="1000" b="1">
                <a:solidFill>
                  <a:srgbClr val="10B981"/>
                </a:solidFill>
                <a:latin typeface="Arial"/>
              </a:rPr>
              <a:t>3.  </a:t>
            </a:r>
            <a:r>
              <a:rPr sz="1000" b="0">
                <a:solidFill>
                  <a:srgbClr val="161B26"/>
                </a:solidFill>
                <a:latin typeface="Arial"/>
              </a:rPr>
              <a:t>Questions:</a:t>
            </a:r>
          </a:p>
          <a:p>
            <a:pPr algn="l">
              <a:spcAft>
                <a:spcPts val="700"/>
              </a:spcAft>
            </a:pPr>
            <a:r>
              <a:rPr sz="1000" b="1">
                <a:solidFill>
                  <a:srgbClr val="10B981"/>
                </a:solidFill>
                <a:latin typeface="Arial"/>
              </a:rPr>
              <a:t>4.  </a:t>
            </a:r>
            <a:r>
              <a:rPr sz="1000" b="0">
                <a:solidFill>
                  <a:srgbClr val="161B26"/>
                </a:solidFill>
                <a:latin typeface="Arial"/>
              </a:rPr>
              <a:t>1: List examples of opportunity and value</a:t>
            </a:r>
          </a:p>
          <a:p>
            <a:pPr algn="l">
              <a:spcAft>
                <a:spcPts val="700"/>
              </a:spcAft>
            </a:pPr>
            <a:r>
              <a:rPr sz="1000" b="1">
                <a:solidFill>
                  <a:srgbClr val="10B981"/>
                </a:solidFill>
                <a:latin typeface="Arial"/>
              </a:rPr>
              <a:t>5.  </a:t>
            </a:r>
            <a:r>
              <a:rPr sz="1000" b="0">
                <a:solidFill>
                  <a:srgbClr val="161B26"/>
                </a:solidFill>
                <a:latin typeface="Arial"/>
              </a:rPr>
              <a:t>2: Consider external factors leveraged by the company</a:t>
            </a:r>
          </a:p>
          <a:p>
            <a:pPr algn="l">
              <a:spcAft>
                <a:spcPts val="700"/>
              </a:spcAft>
            </a:pPr>
            <a:r>
              <a:rPr sz="1000" b="1">
                <a:solidFill>
                  <a:srgbClr val="10B981"/>
                </a:solidFill>
                <a:latin typeface="Arial"/>
              </a:rPr>
              <a:t>6.  </a:t>
            </a:r>
            <a:r>
              <a:rPr sz="1000" b="0">
                <a:solidFill>
                  <a:srgbClr val="161B26"/>
                </a:solidFill>
                <a:latin typeface="Arial"/>
              </a:rPr>
              <a:t>3: What are the goods, access to resources, and service actions</a:t>
            </a:r>
          </a:p>
          <a:p>
            <a:pPr algn="l">
              <a:spcAft>
                <a:spcPts val="700"/>
              </a:spcAft>
            </a:pPr>
            <a:r>
              <a:rPr sz="1000" b="1">
                <a:solidFill>
                  <a:srgbClr val="10B981"/>
                </a:solidFill>
                <a:latin typeface="Arial"/>
              </a:rPr>
              <a:t>7.  </a:t>
            </a:r>
            <a:r>
              <a:rPr sz="1000" b="0">
                <a:solidFill>
                  <a:srgbClr val="161B26"/>
                </a:solidFill>
                <a:latin typeface="Arial"/>
              </a:rPr>
              <a:t>4: What are the consideration factors for service management solution</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0B981"/>
                </a:solidFill>
                <a:latin typeface="Arial"/>
              </a:rPr>
              <a:t>IN-CLASS ACTIVITY</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Case Study</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389888"/>
            <a:ext cx="7406640" cy="3108960"/>
          </a:xfrm>
          <a:prstGeom prst="rect">
            <a:avLst/>
          </a:prstGeom>
          <a:noFill/>
        </p:spPr>
        <p:txBody>
          <a:bodyPr wrap="square" anchor="t">
            <a:spAutoFit/>
          </a:bodyPr>
          <a:lstStyle/>
          <a:p>
            <a:pPr algn="l">
              <a:spcAft>
                <a:spcPts val="700"/>
              </a:spcAft>
            </a:pPr>
            <a:r>
              <a:rPr sz="1000" b="1">
                <a:solidFill>
                  <a:srgbClr val="10B981"/>
                </a:solidFill>
                <a:latin typeface="Arial"/>
              </a:rPr>
              <a:t>1.  </a:t>
            </a:r>
            <a:r>
              <a:rPr sz="1000" b="0">
                <a:solidFill>
                  <a:srgbClr val="161B26"/>
                </a:solidFill>
                <a:latin typeface="Arial"/>
              </a:rPr>
              <a:t>Presentation:</a:t>
            </a:r>
          </a:p>
          <a:p>
            <a:pPr algn="l">
              <a:spcAft>
                <a:spcPts val="700"/>
              </a:spcAft>
            </a:pPr>
            <a:r>
              <a:rPr sz="1000" b="1">
                <a:solidFill>
                  <a:srgbClr val="10B981"/>
                </a:solidFill>
                <a:latin typeface="Arial"/>
              </a:rPr>
              <a:t>2.  </a:t>
            </a:r>
            <a:r>
              <a:rPr sz="1000" b="0">
                <a:solidFill>
                  <a:srgbClr val="161B26"/>
                </a:solidFill>
                <a:latin typeface="Arial"/>
              </a:rPr>
              <a:t>Groups will discuss their findings and present them to the rest of the class.</a:t>
            </a:r>
          </a:p>
          <a:p>
            <a:pPr algn="l">
              <a:spcAft>
                <a:spcPts val="700"/>
              </a:spcAft>
            </a:pPr>
            <a:r>
              <a:rPr sz="1000" b="1">
                <a:solidFill>
                  <a:srgbClr val="10B981"/>
                </a:solidFill>
                <a:latin typeface="Arial"/>
              </a:rPr>
              <a:t>3.  </a:t>
            </a:r>
            <a:r>
              <a:rPr sz="1000" b="0">
                <a:solidFill>
                  <a:srgbClr val="161B26"/>
                </a:solidFill>
                <a:latin typeface="Arial"/>
              </a:rPr>
              <a:t>Each group should clearly justify their answers, mentioning any assumptions made during the analysis.</a:t>
            </a:r>
          </a:p>
          <a:p>
            <a:pPr algn="l">
              <a:spcAft>
                <a:spcPts val="700"/>
              </a:spcAft>
            </a:pPr>
            <a:r>
              <a:rPr sz="1000" b="1">
                <a:solidFill>
                  <a:srgbClr val="10B981"/>
                </a:solidFill>
                <a:latin typeface="Arial"/>
              </a:rPr>
              <a:t>4.  </a:t>
            </a:r>
            <a:r>
              <a:rPr sz="1000" b="0">
                <a:solidFill>
                  <a:srgbClr val="161B26"/>
                </a:solidFill>
                <a:latin typeface="Arial"/>
              </a:rPr>
              <a:t>Assumptions:</a:t>
            </a:r>
          </a:p>
          <a:p>
            <a:pPr algn="l">
              <a:spcAft>
                <a:spcPts val="700"/>
              </a:spcAft>
            </a:pPr>
            <a:r>
              <a:rPr sz="1000" b="1">
                <a:solidFill>
                  <a:srgbClr val="10B981"/>
                </a:solidFill>
                <a:latin typeface="Arial"/>
              </a:rPr>
              <a:t>5.  </a:t>
            </a:r>
            <a:r>
              <a:rPr sz="1000" b="0">
                <a:solidFill>
                  <a:srgbClr val="161B26"/>
                </a:solidFill>
                <a:latin typeface="Arial"/>
              </a:rPr>
              <a:t>Assumptions may include specific market conditions, customer behaviors, or technological capabilities available to the company.</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2024" cy="51435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691640"/>
            <a:ext cx="91440"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737360"/>
            <a:ext cx="6583680" cy="310896"/>
          </a:xfrm>
          <a:prstGeom prst="rect">
            <a:avLst/>
          </a:prstGeom>
          <a:noFill/>
        </p:spPr>
        <p:txBody>
          <a:bodyPr wrap="square" anchor="t">
            <a:spAutoFit/>
          </a:bodyPr>
          <a:lstStyle/>
          <a:p>
            <a:pPr algn="l">
              <a:spcAft>
                <a:spcPts val="300"/>
              </a:spcAft>
            </a:pPr>
            <a:r>
              <a:rPr sz="1200" b="1">
                <a:solidFill>
                  <a:srgbClr val="1F6FEB"/>
                </a:solidFill>
                <a:latin typeface="Arial"/>
              </a:rPr>
              <a:t>TOPIC 02</a:t>
            </a:r>
          </a:p>
        </p:txBody>
      </p:sp>
      <p:sp>
        <p:nvSpPr>
          <p:cNvPr id="6" name="TextBox 5"/>
          <p:cNvSpPr txBox="1"/>
          <p:nvPr/>
        </p:nvSpPr>
        <p:spPr>
          <a:xfrm>
            <a:off x="841248" y="2066543"/>
            <a:ext cx="6949440" cy="1097280"/>
          </a:xfrm>
          <a:prstGeom prst="rect">
            <a:avLst/>
          </a:prstGeom>
          <a:noFill/>
        </p:spPr>
        <p:txBody>
          <a:bodyPr wrap="square" anchor="t">
            <a:spAutoFit/>
          </a:bodyPr>
          <a:lstStyle/>
          <a:p>
            <a:pPr algn="l">
              <a:spcAft>
                <a:spcPts val="300"/>
              </a:spcAft>
            </a:pPr>
            <a:r>
              <a:rPr sz="2700" b="1">
                <a:solidFill>
                  <a:srgbClr val="161B26"/>
                </a:solidFill>
                <a:latin typeface="Arial"/>
              </a:rPr>
              <a:t>ITIL Guiding Principles</a:t>
            </a:r>
          </a:p>
        </p:txBody>
      </p:sp>
      <p:sp>
        <p:nvSpPr>
          <p:cNvPr id="7" name="TextBox 6"/>
          <p:cNvSpPr txBox="1"/>
          <p:nvPr/>
        </p:nvSpPr>
        <p:spPr>
          <a:xfrm>
            <a:off x="859536" y="3127248"/>
            <a:ext cx="6949440" cy="640080"/>
          </a:xfrm>
          <a:prstGeom prst="rect">
            <a:avLst/>
          </a:prstGeom>
          <a:noFill/>
        </p:spPr>
        <p:txBody>
          <a:bodyPr wrap="square" anchor="t">
            <a:spAutoFit/>
          </a:bodyPr>
          <a:lstStyle/>
          <a:p>
            <a:pPr algn="l">
              <a:spcAft>
                <a:spcPts val="300"/>
              </a:spcAft>
            </a:pPr>
            <a:r>
              <a:rPr sz="1000" b="0">
                <a:solidFill>
                  <a:srgbClr val="5B6372"/>
                </a:solidFill>
                <a:latin typeface="Arial"/>
              </a:rPr>
              <a:t>Focus on Value · Start Where You Are · Progress Iteratively · Collaborate · Think Holistically · Keep It Simple · Optimize and Automate</a:t>
            </a:r>
          </a:p>
        </p:txBody>
      </p:sp>
      <p:sp>
        <p:nvSpPr>
          <p:cNvPr id="8" name="TextBox 7"/>
          <p:cNvSpPr txBox="1"/>
          <p:nvPr/>
        </p:nvSpPr>
        <p:spPr>
          <a:xfrm>
            <a:off x="6949440" y="640080"/>
            <a:ext cx="1737360" cy="1188720"/>
          </a:xfrm>
          <a:prstGeom prst="rect">
            <a:avLst/>
          </a:prstGeom>
          <a:noFill/>
        </p:spPr>
        <p:txBody>
          <a:bodyPr wrap="square" anchor="t">
            <a:spAutoFit/>
          </a:bodyPr>
          <a:lstStyle/>
          <a:p>
            <a:pPr algn="r">
              <a:spcAft>
                <a:spcPts val="300"/>
              </a:spcAft>
            </a:pPr>
            <a:r>
              <a:rPr sz="6000" b="1">
                <a:solidFill>
                  <a:srgbClr val="E8EEF7"/>
                </a:solidFill>
                <a:latin typeface="Arial"/>
              </a:rPr>
              <a:t>02</a:t>
            </a:r>
          </a:p>
        </p:txBody>
      </p:sp>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Topics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353312"/>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1</a:t>
            </a:r>
          </a:p>
        </p:txBody>
      </p:sp>
      <p:sp>
        <p:nvSpPr>
          <p:cNvPr id="11" name="TextBox 10"/>
          <p:cNvSpPr txBox="1"/>
          <p:nvPr/>
        </p:nvSpPr>
        <p:spPr>
          <a:xfrm>
            <a:off x="10058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Focus on Value</a:t>
            </a:r>
          </a:p>
        </p:txBody>
      </p:sp>
      <p:sp>
        <p:nvSpPr>
          <p:cNvPr id="12" name="Rectangle 11"/>
          <p:cNvSpPr/>
          <p:nvPr/>
        </p:nvSpPr>
        <p:spPr>
          <a:xfrm>
            <a:off x="46451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45152" y="1207008"/>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91456" y="1353312"/>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4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2</a:t>
            </a:r>
          </a:p>
        </p:txBody>
      </p:sp>
      <p:sp>
        <p:nvSpPr>
          <p:cNvPr id="16" name="TextBox 15"/>
          <p:cNvSpPr txBox="1"/>
          <p:nvPr/>
        </p:nvSpPr>
        <p:spPr>
          <a:xfrm>
            <a:off x="51206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Start Where You Are</a:t>
            </a:r>
          </a:p>
        </p:txBody>
      </p:sp>
      <p:sp>
        <p:nvSpPr>
          <p:cNvPr id="17" name="Rectangle 16"/>
          <p:cNvSpPr/>
          <p:nvPr/>
        </p:nvSpPr>
        <p:spPr>
          <a:xfrm>
            <a:off x="5303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105406"/>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251710"/>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3</a:t>
            </a:r>
          </a:p>
        </p:txBody>
      </p:sp>
      <p:sp>
        <p:nvSpPr>
          <p:cNvPr id="21" name="TextBox 20"/>
          <p:cNvSpPr txBox="1"/>
          <p:nvPr/>
        </p:nvSpPr>
        <p:spPr>
          <a:xfrm>
            <a:off x="10058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Progress Iteratively with Feedback</a:t>
            </a:r>
          </a:p>
        </p:txBody>
      </p:sp>
      <p:sp>
        <p:nvSpPr>
          <p:cNvPr id="22" name="Rectangle 21"/>
          <p:cNvSpPr/>
          <p:nvPr/>
        </p:nvSpPr>
        <p:spPr>
          <a:xfrm>
            <a:off x="46451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45152" y="2105406"/>
            <a:ext cx="41148" cy="7795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91456" y="2251710"/>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914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4</a:t>
            </a:r>
          </a:p>
        </p:txBody>
      </p:sp>
      <p:sp>
        <p:nvSpPr>
          <p:cNvPr id="26" name="TextBox 25"/>
          <p:cNvSpPr txBox="1"/>
          <p:nvPr/>
        </p:nvSpPr>
        <p:spPr>
          <a:xfrm>
            <a:off x="51206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Collaborate and Promote Visibility</a:t>
            </a:r>
          </a:p>
        </p:txBody>
      </p:sp>
      <p:sp>
        <p:nvSpPr>
          <p:cNvPr id="27" name="Rectangle 26"/>
          <p:cNvSpPr/>
          <p:nvPr/>
        </p:nvSpPr>
        <p:spPr>
          <a:xfrm>
            <a:off x="5303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3003804"/>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15010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5</a:t>
            </a:r>
          </a:p>
        </p:txBody>
      </p:sp>
      <p:sp>
        <p:nvSpPr>
          <p:cNvPr id="31" name="TextBox 30"/>
          <p:cNvSpPr txBox="1"/>
          <p:nvPr/>
        </p:nvSpPr>
        <p:spPr>
          <a:xfrm>
            <a:off x="10058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Think and Work Holistically</a:t>
            </a:r>
          </a:p>
        </p:txBody>
      </p:sp>
      <p:sp>
        <p:nvSpPr>
          <p:cNvPr id="32" name="Rectangle 31"/>
          <p:cNvSpPr/>
          <p:nvPr/>
        </p:nvSpPr>
        <p:spPr>
          <a:xfrm>
            <a:off x="46451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645152" y="3003804"/>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91456" y="315010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14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6</a:t>
            </a:r>
          </a:p>
        </p:txBody>
      </p:sp>
      <p:sp>
        <p:nvSpPr>
          <p:cNvPr id="36" name="TextBox 35"/>
          <p:cNvSpPr txBox="1"/>
          <p:nvPr/>
        </p:nvSpPr>
        <p:spPr>
          <a:xfrm>
            <a:off x="51206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Keep It Simple and Practical</a:t>
            </a:r>
          </a:p>
        </p:txBody>
      </p:sp>
      <p:sp>
        <p:nvSpPr>
          <p:cNvPr id="37" name="Rectangle 36"/>
          <p:cNvSpPr/>
          <p:nvPr/>
        </p:nvSpPr>
        <p:spPr>
          <a:xfrm>
            <a:off x="530352" y="3902202"/>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0352" y="3902202"/>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76656" y="4048506"/>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6656" y="407136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7</a:t>
            </a:r>
          </a:p>
        </p:txBody>
      </p:sp>
      <p:sp>
        <p:nvSpPr>
          <p:cNvPr id="41" name="TextBox 40"/>
          <p:cNvSpPr txBox="1"/>
          <p:nvPr/>
        </p:nvSpPr>
        <p:spPr>
          <a:xfrm>
            <a:off x="1005840" y="4011930"/>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Optimize and Automate</a:t>
            </a:r>
          </a:p>
        </p:txBody>
      </p:sp>
      <p:sp>
        <p:nvSpPr>
          <p:cNvPr id="42" name="TextBox 4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3" name="TextBox 4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4" name="TextBox 4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What Is a Guiding Principle?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 guiding principle is a recommendation that guides an organisation in ALL circumstances, regardless of changes in its goals, strategies, type of work or management structure.</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 principles are universal and enduring — they do not change when the organisation's situation changes.</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They embody the core messages of ITIL and of service management generally.</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They support successful action and good decisions at every level, from strategy to a single ticket.</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There are SEVEN principles, and an organisation need not adopt them one at a time — they reinforce each other.</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HOW THEY ARE USED</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Faced with any decision, ask which principles apply and what each would have you do — and stop doing.</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Universality is the defining trait: 'in all circumstances, regardless of changes'.</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7 ITIL Guiding Principles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994019" y="1329538"/>
            <a:ext cx="3155961"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7 ITIL Guiding Principles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353312"/>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1</a:t>
            </a:r>
          </a:p>
        </p:txBody>
      </p:sp>
      <p:sp>
        <p:nvSpPr>
          <p:cNvPr id="11" name="TextBox 10"/>
          <p:cNvSpPr txBox="1"/>
          <p:nvPr/>
        </p:nvSpPr>
        <p:spPr>
          <a:xfrm>
            <a:off x="10058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Focus on value</a:t>
            </a:r>
          </a:p>
        </p:txBody>
      </p:sp>
      <p:sp>
        <p:nvSpPr>
          <p:cNvPr id="12" name="Rectangle 11"/>
          <p:cNvSpPr/>
          <p:nvPr/>
        </p:nvSpPr>
        <p:spPr>
          <a:xfrm>
            <a:off x="46451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45152" y="1207008"/>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91456" y="1353312"/>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4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2</a:t>
            </a:r>
          </a:p>
        </p:txBody>
      </p:sp>
      <p:sp>
        <p:nvSpPr>
          <p:cNvPr id="16" name="TextBox 15"/>
          <p:cNvSpPr txBox="1"/>
          <p:nvPr/>
        </p:nvSpPr>
        <p:spPr>
          <a:xfrm>
            <a:off x="51206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Start where you are</a:t>
            </a:r>
          </a:p>
        </p:txBody>
      </p:sp>
      <p:sp>
        <p:nvSpPr>
          <p:cNvPr id="17" name="Rectangle 16"/>
          <p:cNvSpPr/>
          <p:nvPr/>
        </p:nvSpPr>
        <p:spPr>
          <a:xfrm>
            <a:off x="5303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105406"/>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251710"/>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3</a:t>
            </a:r>
          </a:p>
        </p:txBody>
      </p:sp>
      <p:sp>
        <p:nvSpPr>
          <p:cNvPr id="21" name="TextBox 20"/>
          <p:cNvSpPr txBox="1"/>
          <p:nvPr/>
        </p:nvSpPr>
        <p:spPr>
          <a:xfrm>
            <a:off x="10058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Progress iteratively with feedback</a:t>
            </a:r>
          </a:p>
        </p:txBody>
      </p:sp>
      <p:sp>
        <p:nvSpPr>
          <p:cNvPr id="22" name="Rectangle 21"/>
          <p:cNvSpPr/>
          <p:nvPr/>
        </p:nvSpPr>
        <p:spPr>
          <a:xfrm>
            <a:off x="46451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45152" y="2105406"/>
            <a:ext cx="41148" cy="7795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91456" y="2251710"/>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914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4</a:t>
            </a:r>
          </a:p>
        </p:txBody>
      </p:sp>
      <p:sp>
        <p:nvSpPr>
          <p:cNvPr id="26" name="TextBox 25"/>
          <p:cNvSpPr txBox="1"/>
          <p:nvPr/>
        </p:nvSpPr>
        <p:spPr>
          <a:xfrm>
            <a:off x="51206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Collaborate and promote visibility</a:t>
            </a:r>
          </a:p>
        </p:txBody>
      </p:sp>
      <p:sp>
        <p:nvSpPr>
          <p:cNvPr id="27" name="Rectangle 26"/>
          <p:cNvSpPr/>
          <p:nvPr/>
        </p:nvSpPr>
        <p:spPr>
          <a:xfrm>
            <a:off x="5303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3003804"/>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15010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5</a:t>
            </a:r>
          </a:p>
        </p:txBody>
      </p:sp>
      <p:sp>
        <p:nvSpPr>
          <p:cNvPr id="31" name="TextBox 30"/>
          <p:cNvSpPr txBox="1"/>
          <p:nvPr/>
        </p:nvSpPr>
        <p:spPr>
          <a:xfrm>
            <a:off x="10058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Think and work holistically</a:t>
            </a:r>
          </a:p>
        </p:txBody>
      </p:sp>
      <p:sp>
        <p:nvSpPr>
          <p:cNvPr id="32" name="Rectangle 31"/>
          <p:cNvSpPr/>
          <p:nvPr/>
        </p:nvSpPr>
        <p:spPr>
          <a:xfrm>
            <a:off x="46451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645152" y="3003804"/>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91456" y="315010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14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6</a:t>
            </a:r>
          </a:p>
        </p:txBody>
      </p:sp>
      <p:sp>
        <p:nvSpPr>
          <p:cNvPr id="36" name="TextBox 35"/>
          <p:cNvSpPr txBox="1"/>
          <p:nvPr/>
        </p:nvSpPr>
        <p:spPr>
          <a:xfrm>
            <a:off x="51206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Keep it simple and practical</a:t>
            </a:r>
          </a:p>
        </p:txBody>
      </p:sp>
      <p:sp>
        <p:nvSpPr>
          <p:cNvPr id="37" name="Rectangle 36"/>
          <p:cNvSpPr/>
          <p:nvPr/>
        </p:nvSpPr>
        <p:spPr>
          <a:xfrm>
            <a:off x="530352" y="3902202"/>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0352" y="3902202"/>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76656" y="4048506"/>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6656" y="407136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7</a:t>
            </a:r>
          </a:p>
        </p:txBody>
      </p:sp>
      <p:sp>
        <p:nvSpPr>
          <p:cNvPr id="41" name="TextBox 40"/>
          <p:cNvSpPr txBox="1"/>
          <p:nvPr/>
        </p:nvSpPr>
        <p:spPr>
          <a:xfrm>
            <a:off x="1005840" y="4011930"/>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Optimize and automate.</a:t>
            </a:r>
          </a:p>
        </p:txBody>
      </p:sp>
      <p:sp>
        <p:nvSpPr>
          <p:cNvPr id="42" name="TextBox 4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3" name="TextBox 4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4" name="TextBox 4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Focus on Value Principle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694955"/>
            <a:ext cx="7436632" cy="2187929"/>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Everything the organization does should link back, directly or indirectly, to value for itself, its customers, and other stakeholders.</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Focus on Value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Everything the organisation does should link back, directly or indirectly, to value for itself, its customers and its other stakeholders.</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Start by knowing WHO is being served — the consumer, and any other stakeholder affected.</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Then establish WHAT is being delivered or improved for them, and what they actually consider valuable.</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Value is defined by the CONSUMER, not by the provider's opinion of its own service.</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Value takes many forms: revenue, customer loyalty, reduced cost, reduced risk, better experience.</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APPLYING IT</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Before adding a feature, ask which consumer outcome it improves. If nobody can answer, it is not value.</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'Know who is being served' and 'understand what the consumer values' are the signature phrases.</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Focus on Value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353312"/>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1</a:t>
            </a:r>
          </a:p>
        </p:txBody>
      </p:sp>
      <p:sp>
        <p:nvSpPr>
          <p:cNvPr id="11" name="TextBox 10"/>
          <p:cNvSpPr txBox="1"/>
          <p:nvPr/>
        </p:nvSpPr>
        <p:spPr>
          <a:xfrm>
            <a:off x="10058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Know who is being served</a:t>
            </a:r>
          </a:p>
        </p:txBody>
      </p:sp>
      <p:sp>
        <p:nvSpPr>
          <p:cNvPr id="12" name="Rectangle 11"/>
          <p:cNvSpPr/>
          <p:nvPr/>
        </p:nvSpPr>
        <p:spPr>
          <a:xfrm>
            <a:off x="46451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45152" y="1207008"/>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91456" y="1353312"/>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4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2</a:t>
            </a:r>
          </a:p>
        </p:txBody>
      </p:sp>
      <p:sp>
        <p:nvSpPr>
          <p:cNvPr id="16" name="TextBox 15"/>
          <p:cNvSpPr txBox="1"/>
          <p:nvPr/>
        </p:nvSpPr>
        <p:spPr>
          <a:xfrm>
            <a:off x="51206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What is being delivered or improved for the service consumer and/or stakeholders</a:t>
            </a:r>
          </a:p>
        </p:txBody>
      </p:sp>
      <p:sp>
        <p:nvSpPr>
          <p:cNvPr id="17" name="Rectangle 16"/>
          <p:cNvSpPr/>
          <p:nvPr/>
        </p:nvSpPr>
        <p:spPr>
          <a:xfrm>
            <a:off x="5303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105406"/>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251710"/>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3</a:t>
            </a:r>
          </a:p>
        </p:txBody>
      </p:sp>
      <p:sp>
        <p:nvSpPr>
          <p:cNvPr id="21" name="TextBox 20"/>
          <p:cNvSpPr txBox="1"/>
          <p:nvPr/>
        </p:nvSpPr>
        <p:spPr>
          <a:xfrm>
            <a:off x="10058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What is truly of value to the service consumer</a:t>
            </a:r>
          </a:p>
        </p:txBody>
      </p:sp>
      <p:sp>
        <p:nvSpPr>
          <p:cNvPr id="22" name="Rectangle 21"/>
          <p:cNvSpPr/>
          <p:nvPr/>
        </p:nvSpPr>
        <p:spPr>
          <a:xfrm>
            <a:off x="46451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45152" y="2105406"/>
            <a:ext cx="41148" cy="7795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91456" y="2251710"/>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914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4</a:t>
            </a:r>
          </a:p>
        </p:txBody>
      </p:sp>
      <p:sp>
        <p:nvSpPr>
          <p:cNvPr id="26" name="TextBox 25"/>
          <p:cNvSpPr txBox="1"/>
          <p:nvPr/>
        </p:nvSpPr>
        <p:spPr>
          <a:xfrm>
            <a:off x="51206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Why the consumer use the service</a:t>
            </a:r>
          </a:p>
        </p:txBody>
      </p:sp>
      <p:sp>
        <p:nvSpPr>
          <p:cNvPr id="27" name="Rectangle 26"/>
          <p:cNvSpPr/>
          <p:nvPr/>
        </p:nvSpPr>
        <p:spPr>
          <a:xfrm>
            <a:off x="5303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3003804"/>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15010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5</a:t>
            </a:r>
          </a:p>
        </p:txBody>
      </p:sp>
      <p:sp>
        <p:nvSpPr>
          <p:cNvPr id="31" name="TextBox 30"/>
          <p:cNvSpPr txBox="1"/>
          <p:nvPr/>
        </p:nvSpPr>
        <p:spPr>
          <a:xfrm>
            <a:off x="10058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What services help them</a:t>
            </a:r>
          </a:p>
        </p:txBody>
      </p:sp>
      <p:sp>
        <p:nvSpPr>
          <p:cNvPr id="32" name="Rectangle 31"/>
          <p:cNvSpPr/>
          <p:nvPr/>
        </p:nvSpPr>
        <p:spPr>
          <a:xfrm>
            <a:off x="46451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645152" y="3003804"/>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91456" y="315010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14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6</a:t>
            </a:r>
          </a:p>
        </p:txBody>
      </p:sp>
      <p:sp>
        <p:nvSpPr>
          <p:cNvPr id="36" name="TextBox 35"/>
          <p:cNvSpPr txBox="1"/>
          <p:nvPr/>
        </p:nvSpPr>
        <p:spPr>
          <a:xfrm>
            <a:off x="51206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How the services help them achieve goals</a:t>
            </a:r>
          </a:p>
        </p:txBody>
      </p:sp>
      <p:sp>
        <p:nvSpPr>
          <p:cNvPr id="37" name="Rectangle 36"/>
          <p:cNvSpPr/>
          <p:nvPr/>
        </p:nvSpPr>
        <p:spPr>
          <a:xfrm>
            <a:off x="530352" y="3902202"/>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0352" y="3902202"/>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76656" y="4048506"/>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6656" y="407136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7</a:t>
            </a:r>
          </a:p>
        </p:txBody>
      </p:sp>
      <p:sp>
        <p:nvSpPr>
          <p:cNvPr id="41" name="TextBox 40"/>
          <p:cNvSpPr txBox="1"/>
          <p:nvPr/>
        </p:nvSpPr>
        <p:spPr>
          <a:xfrm>
            <a:off x="1005840" y="4011930"/>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Role of cost/financial consequences for service consumer</a:t>
            </a:r>
          </a:p>
        </p:txBody>
      </p:sp>
      <p:sp>
        <p:nvSpPr>
          <p:cNvPr id="42" name="Rectangle 41"/>
          <p:cNvSpPr/>
          <p:nvPr/>
        </p:nvSpPr>
        <p:spPr>
          <a:xfrm>
            <a:off x="4645152" y="3902202"/>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645152" y="3902202"/>
            <a:ext cx="41148" cy="7795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791456" y="4048506"/>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91456" y="407136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8</a:t>
            </a:r>
          </a:p>
        </p:txBody>
      </p:sp>
      <p:sp>
        <p:nvSpPr>
          <p:cNvPr id="46" name="TextBox 45"/>
          <p:cNvSpPr txBox="1"/>
          <p:nvPr/>
        </p:nvSpPr>
        <p:spPr>
          <a:xfrm>
            <a:off x="5120640" y="4011930"/>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Risks involved for the service</a:t>
            </a:r>
          </a:p>
        </p:txBody>
      </p:sp>
      <p:sp>
        <p:nvSpPr>
          <p:cNvPr id="47" name="TextBox 46"/>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8" name="TextBox 47"/>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9" name="TextBox 48"/>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Focus on Value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905922" y="1329538"/>
            <a:ext cx="3332155"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Example: IT Service Desk Implementation</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411480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981018" y="1329538"/>
            <a:ext cx="3213468" cy="3238804"/>
          </a:xfrm>
          <a:prstGeom prst="rect">
            <a:avLst/>
          </a:prstGeom>
        </p:spPr>
      </p:pic>
      <p:sp>
        <p:nvSpPr>
          <p:cNvPr id="9" name="Rectangle 8"/>
          <p:cNvSpPr/>
          <p:nvPr/>
        </p:nvSpPr>
        <p:spPr>
          <a:xfrm>
            <a:off x="4828032" y="1188720"/>
            <a:ext cx="3785615"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28032" y="1188720"/>
            <a:ext cx="41148"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10912" y="1353312"/>
            <a:ext cx="3474720" cy="3246120"/>
          </a:xfrm>
          <a:prstGeom prst="rect">
            <a:avLst/>
          </a:prstGeom>
          <a:noFill/>
        </p:spPr>
        <p:txBody>
          <a:bodyPr wrap="square" anchor="t">
            <a:spAutoFit/>
          </a:bodyPr>
          <a:lstStyle/>
          <a:p>
            <a:pPr algn="l">
              <a:spcAft>
                <a:spcPts val="600"/>
              </a:spcAft>
            </a:pPr>
            <a:r>
              <a:rPr sz="950" b="0">
                <a:solidFill>
                  <a:srgbClr val="161B26"/>
                </a:solidFill>
                <a:latin typeface="Arial"/>
              </a:rPr>
              <a:t>•  A company is planning to implement a new IT service desk to support its employees and ensure smooth IT operations.</a:t>
            </a:r>
          </a:p>
          <a:p>
            <a:pPr algn="l">
              <a:spcAft>
                <a:spcPts val="600"/>
              </a:spcAft>
            </a:pPr>
            <a:r>
              <a:rPr sz="950" b="0">
                <a:solidFill>
                  <a:srgbClr val="161B26"/>
                </a:solidFill>
                <a:latin typeface="Arial"/>
              </a:rPr>
              <a:t>•  Application of the Focus on Value Principle:</a:t>
            </a:r>
          </a:p>
          <a:p>
            <a:pPr algn="l">
              <a:spcAft>
                <a:spcPts val="600"/>
              </a:spcAft>
            </a:pPr>
            <a:r>
              <a:rPr sz="950" b="0">
                <a:solidFill>
                  <a:srgbClr val="161B26"/>
                </a:solidFill>
                <a:latin typeface="Arial"/>
              </a:rPr>
              <a:t>•  Identify Stakeholders and Their Needs:</a:t>
            </a:r>
          </a:p>
          <a:p>
            <a:pPr algn="l">
              <a:spcAft>
                <a:spcPts val="600"/>
              </a:spcAft>
            </a:pPr>
            <a:r>
              <a:rPr sz="950" b="0">
                <a:solidFill>
                  <a:srgbClr val="161B26"/>
                </a:solidFill>
                <a:latin typeface="Arial"/>
              </a:rPr>
              <a:t>•  Define Value from the Stakeholders' Perspective:</a:t>
            </a:r>
          </a:p>
          <a:p>
            <a:pPr algn="l">
              <a:spcAft>
                <a:spcPts val="600"/>
              </a:spcAft>
            </a:pPr>
            <a:r>
              <a:rPr sz="950" b="0">
                <a:solidFill>
                  <a:srgbClr val="161B26"/>
                </a:solidFill>
                <a:latin typeface="Arial"/>
              </a:rPr>
              <a:t>•  Design Services to Deliver Value:</a:t>
            </a:r>
          </a:p>
          <a:p>
            <a:pPr algn="l">
              <a:spcAft>
                <a:spcPts val="600"/>
              </a:spcAft>
            </a:pPr>
            <a:r>
              <a:rPr sz="950" b="0">
                <a:solidFill>
                  <a:srgbClr val="161B26"/>
                </a:solidFill>
                <a:latin typeface="Arial"/>
              </a:rPr>
              <a:t>•  Measure and Communicate Value:</a:t>
            </a:r>
          </a:p>
          <a:p>
            <a:pPr algn="l">
              <a:spcAft>
                <a:spcPts val="600"/>
              </a:spcAft>
            </a:pPr>
            <a:r>
              <a:rPr sz="950" b="0">
                <a:solidFill>
                  <a:srgbClr val="161B26"/>
                </a:solidFill>
                <a:latin typeface="Arial"/>
              </a:rPr>
              <a:t>•  Continuous Improvement:</a:t>
            </a:r>
          </a:p>
        </p:txBody>
      </p:sp>
      <p:sp>
        <p:nvSpPr>
          <p:cNvPr id="12" name="TextBox 1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3" name="TextBox 1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4" name="TextBox 1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Start Where You Are’ Principle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716661"/>
            <a:ext cx="7436632" cy="2144517"/>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Do not start over without first considering what is already available to be leveraged."</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Start Where You Are Principle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353312"/>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1</a:t>
            </a:r>
          </a:p>
        </p:txBody>
      </p:sp>
      <p:sp>
        <p:nvSpPr>
          <p:cNvPr id="11" name="TextBox 10"/>
          <p:cNvSpPr txBox="1"/>
          <p:nvPr/>
        </p:nvSpPr>
        <p:spPr>
          <a:xfrm>
            <a:off x="10058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Avoid discarding old methods/services entirely</a:t>
            </a:r>
          </a:p>
        </p:txBody>
      </p:sp>
      <p:sp>
        <p:nvSpPr>
          <p:cNvPr id="12" name="Rectangle 11"/>
          <p:cNvSpPr/>
          <p:nvPr/>
        </p:nvSpPr>
        <p:spPr>
          <a:xfrm>
            <a:off x="46451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45152" y="1207008"/>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91456" y="1353312"/>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4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2</a:t>
            </a:r>
          </a:p>
        </p:txBody>
      </p:sp>
      <p:sp>
        <p:nvSpPr>
          <p:cNvPr id="16" name="TextBox 15"/>
          <p:cNvSpPr txBox="1"/>
          <p:nvPr/>
        </p:nvSpPr>
        <p:spPr>
          <a:xfrm>
            <a:off x="51206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Building new from scratch often wasteful</a:t>
            </a:r>
          </a:p>
        </p:txBody>
      </p:sp>
      <p:sp>
        <p:nvSpPr>
          <p:cNvPr id="17" name="Rectangle 16"/>
          <p:cNvSpPr/>
          <p:nvPr/>
        </p:nvSpPr>
        <p:spPr>
          <a:xfrm>
            <a:off x="5303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105406"/>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251710"/>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3</a:t>
            </a:r>
          </a:p>
        </p:txBody>
      </p:sp>
      <p:sp>
        <p:nvSpPr>
          <p:cNvPr id="21" name="TextBox 20"/>
          <p:cNvSpPr txBox="1"/>
          <p:nvPr/>
        </p:nvSpPr>
        <p:spPr>
          <a:xfrm>
            <a:off x="10058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Evaluate and leverage existing resources</a:t>
            </a:r>
          </a:p>
        </p:txBody>
      </p:sp>
      <p:sp>
        <p:nvSpPr>
          <p:cNvPr id="22" name="Rectangle 21"/>
          <p:cNvSpPr/>
          <p:nvPr/>
        </p:nvSpPr>
        <p:spPr>
          <a:xfrm>
            <a:off x="46451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45152" y="2105406"/>
            <a:ext cx="41148" cy="7795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91456" y="2251710"/>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914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4</a:t>
            </a:r>
          </a:p>
        </p:txBody>
      </p:sp>
      <p:sp>
        <p:nvSpPr>
          <p:cNvPr id="26" name="TextBox 25"/>
          <p:cNvSpPr txBox="1"/>
          <p:nvPr/>
        </p:nvSpPr>
        <p:spPr>
          <a:xfrm>
            <a:off x="51206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Preserve valuable services, processes, people, and tools</a:t>
            </a:r>
          </a:p>
        </p:txBody>
      </p:sp>
      <p:sp>
        <p:nvSpPr>
          <p:cNvPr id="27" name="Rectangle 26"/>
          <p:cNvSpPr/>
          <p:nvPr/>
        </p:nvSpPr>
        <p:spPr>
          <a:xfrm>
            <a:off x="5303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3003804"/>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15010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5</a:t>
            </a:r>
          </a:p>
        </p:txBody>
      </p:sp>
      <p:sp>
        <p:nvSpPr>
          <p:cNvPr id="31" name="TextBox 30"/>
          <p:cNvSpPr txBox="1"/>
          <p:nvPr/>
        </p:nvSpPr>
        <p:spPr>
          <a:xfrm>
            <a:off x="10058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Services and methods already in place should be measured and/or observed directly to properly understand their current state and what can be reused from them.</a:t>
            </a:r>
          </a:p>
        </p:txBody>
      </p:sp>
      <p:sp>
        <p:nvSpPr>
          <p:cNvPr id="32" name="Rectangle 31"/>
          <p:cNvSpPr/>
          <p:nvPr/>
        </p:nvSpPr>
        <p:spPr>
          <a:xfrm>
            <a:off x="46451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645152" y="3003804"/>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91456" y="315010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14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6</a:t>
            </a:r>
          </a:p>
        </p:txBody>
      </p:sp>
      <p:sp>
        <p:nvSpPr>
          <p:cNvPr id="36" name="TextBox 35"/>
          <p:cNvSpPr txBox="1"/>
          <p:nvPr/>
        </p:nvSpPr>
        <p:spPr>
          <a:xfrm>
            <a:off x="51206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Those observing an activity should not be afraid to ask what may seem to be stupid questions.</a:t>
            </a:r>
          </a:p>
        </p:txBody>
      </p:sp>
      <p:sp>
        <p:nvSpPr>
          <p:cNvPr id="37" name="Rectangle 36"/>
          <p:cNvSpPr/>
          <p:nvPr/>
        </p:nvSpPr>
        <p:spPr>
          <a:xfrm>
            <a:off x="530352" y="3902202"/>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0352" y="3902202"/>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76656" y="4048506"/>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6656" y="407136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7</a:t>
            </a:r>
          </a:p>
        </p:txBody>
      </p:sp>
      <p:sp>
        <p:nvSpPr>
          <p:cNvPr id="41" name="TextBox 40"/>
          <p:cNvSpPr txBox="1"/>
          <p:nvPr/>
        </p:nvSpPr>
        <p:spPr>
          <a:xfrm>
            <a:off x="1005840" y="4011930"/>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The use of measurement is important to this principle.</a:t>
            </a:r>
          </a:p>
        </p:txBody>
      </p:sp>
      <p:sp>
        <p:nvSpPr>
          <p:cNvPr id="42" name="Rectangle 41"/>
          <p:cNvSpPr/>
          <p:nvPr/>
        </p:nvSpPr>
        <p:spPr>
          <a:xfrm>
            <a:off x="4645152" y="3902202"/>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645152" y="3902202"/>
            <a:ext cx="41148" cy="7795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791456" y="4048506"/>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91456" y="407136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8</a:t>
            </a:r>
          </a:p>
        </p:txBody>
      </p:sp>
      <p:sp>
        <p:nvSpPr>
          <p:cNvPr id="46" name="TextBox 45"/>
          <p:cNvSpPr txBox="1"/>
          <p:nvPr/>
        </p:nvSpPr>
        <p:spPr>
          <a:xfrm>
            <a:off x="5120640" y="4011930"/>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Organizations should consider a variety of techniques to develop knowledge of the environments in which they work</a:t>
            </a:r>
          </a:p>
        </p:txBody>
      </p:sp>
      <p:sp>
        <p:nvSpPr>
          <p:cNvPr id="47" name="TextBox 46"/>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8" name="TextBox 47"/>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9" name="TextBox 48"/>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Start Where You Are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769336"/>
            <a:ext cx="7436632" cy="2359207"/>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Start Where You Are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415267" y="1329538"/>
            <a:ext cx="4313466"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1700" b="1">
                <a:solidFill>
                  <a:srgbClr val="161B26"/>
                </a:solidFill>
                <a:latin typeface="Arial"/>
              </a:rPr>
              <a:t>Example: Improving Incident Management in an IT Department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411480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991454" y="1329538"/>
            <a:ext cx="3192596" cy="3238804"/>
          </a:xfrm>
          <a:prstGeom prst="rect">
            <a:avLst/>
          </a:prstGeom>
        </p:spPr>
      </p:pic>
      <p:sp>
        <p:nvSpPr>
          <p:cNvPr id="9" name="Rectangle 8"/>
          <p:cNvSpPr/>
          <p:nvPr/>
        </p:nvSpPr>
        <p:spPr>
          <a:xfrm>
            <a:off x="4828032" y="1188720"/>
            <a:ext cx="3785615"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28032" y="1188720"/>
            <a:ext cx="41148"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10912" y="1353312"/>
            <a:ext cx="3474720" cy="3246120"/>
          </a:xfrm>
          <a:prstGeom prst="rect">
            <a:avLst/>
          </a:prstGeom>
          <a:noFill/>
        </p:spPr>
        <p:txBody>
          <a:bodyPr wrap="square" anchor="t">
            <a:spAutoFit/>
          </a:bodyPr>
          <a:lstStyle/>
          <a:p>
            <a:pPr algn="l">
              <a:spcAft>
                <a:spcPts val="600"/>
              </a:spcAft>
            </a:pPr>
            <a:r>
              <a:rPr sz="950" b="0">
                <a:solidFill>
                  <a:srgbClr val="161B26"/>
                </a:solidFill>
                <a:latin typeface="Arial"/>
              </a:rPr>
              <a:t>•  An IT department in a medium-sized company is experiencing frequent downtime and delays in resolving incidents. The new IT manager wants to improve the incident management process but recognizes that completely overhauling the system might be disruptive.</a:t>
            </a:r>
          </a:p>
          <a:p>
            <a:pPr algn="l">
              <a:spcAft>
                <a:spcPts val="600"/>
              </a:spcAft>
            </a:pPr>
            <a:r>
              <a:rPr sz="950" b="0">
                <a:solidFill>
                  <a:srgbClr val="161B26"/>
                </a:solidFill>
                <a:latin typeface="Arial"/>
              </a:rPr>
              <a:t>•  Application of the Start Where You Are’ Principle:</a:t>
            </a:r>
          </a:p>
          <a:p>
            <a:pPr algn="l">
              <a:spcAft>
                <a:spcPts val="600"/>
              </a:spcAft>
            </a:pPr>
            <a:r>
              <a:rPr sz="950" b="0">
                <a:solidFill>
                  <a:srgbClr val="161B26"/>
                </a:solidFill>
                <a:latin typeface="Arial"/>
              </a:rPr>
              <a:t>•  Assess Current State</a:t>
            </a:r>
          </a:p>
          <a:p>
            <a:pPr algn="l">
              <a:spcAft>
                <a:spcPts val="600"/>
              </a:spcAft>
            </a:pPr>
            <a:r>
              <a:rPr sz="950" b="0">
                <a:solidFill>
                  <a:srgbClr val="161B26"/>
                </a:solidFill>
                <a:latin typeface="Arial"/>
              </a:rPr>
              <a:t>•  Identify Existing Strengths</a:t>
            </a:r>
          </a:p>
          <a:p>
            <a:pPr algn="l">
              <a:spcAft>
                <a:spcPts val="600"/>
              </a:spcAft>
            </a:pPr>
            <a:r>
              <a:rPr sz="950" b="0">
                <a:solidFill>
                  <a:srgbClr val="161B26"/>
                </a:solidFill>
                <a:latin typeface="Arial"/>
              </a:rPr>
              <a:t>•  Leverage What Works</a:t>
            </a:r>
          </a:p>
          <a:p>
            <a:pPr algn="l">
              <a:spcAft>
                <a:spcPts val="600"/>
              </a:spcAft>
            </a:pPr>
            <a:r>
              <a:rPr sz="950" b="0">
                <a:solidFill>
                  <a:srgbClr val="161B26"/>
                </a:solidFill>
                <a:latin typeface="Arial"/>
              </a:rPr>
              <a:t>•  Implement Incremental Improvements</a:t>
            </a:r>
          </a:p>
          <a:p>
            <a:pPr algn="l">
              <a:spcAft>
                <a:spcPts val="600"/>
              </a:spcAft>
            </a:pPr>
            <a:r>
              <a:rPr sz="950" b="0">
                <a:solidFill>
                  <a:srgbClr val="161B26"/>
                </a:solidFill>
                <a:latin typeface="Arial"/>
              </a:rPr>
              <a:t>•  Monitor and Adjust</a:t>
            </a:r>
          </a:p>
          <a:p>
            <a:pPr algn="l">
              <a:spcAft>
                <a:spcPts val="600"/>
              </a:spcAft>
            </a:pPr>
            <a:r>
              <a:rPr sz="950" b="0">
                <a:solidFill>
                  <a:srgbClr val="161B26"/>
                </a:solidFill>
                <a:latin typeface="Arial"/>
              </a:rPr>
              <a:t>•  Continuous Improvement</a:t>
            </a:r>
          </a:p>
        </p:txBody>
      </p:sp>
      <p:sp>
        <p:nvSpPr>
          <p:cNvPr id="12" name="TextBox 1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3" name="TextBox 1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4" name="TextBox 1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Progress Iteratively with Feedback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691909"/>
            <a:ext cx="7436632" cy="2194022"/>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Resist the temptation to do everything at once. Even huge initiatives must be accomplished iteratively. By organizing work into smaller, manageable sections that can be executed and completed in a timely manner, the focus on each effort will be sharper and easier to maintain.</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Progress Iteratively with Feedback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Resist the temptation to do everything at once — even huge initiatives must be accomplished iteratively.</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Organise work into smaller, manageable sections that can be executed and completed in a timely manner.</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Each iteration should deliver something of value, not merely progress towards a distant end state.</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Seek and use FEEDBACK before, throughout and after each iteration — feedback is what makes iteration work.</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Iteration reduces risk: problems surface early, while they are still cheap to correct.</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APPLYING IT</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Pilot a new service desk tool with one team for two weeks, act on what they report, then extend it.</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Iteration WITHOUT feedback is just phasing. The feedback loop is the point of the principle.</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Progress Iteratively with Feedback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89787" y="1329538"/>
            <a:ext cx="7364425"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Example: Agile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411480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939336" y="1329538"/>
            <a:ext cx="3296831" cy="3238804"/>
          </a:xfrm>
          <a:prstGeom prst="rect">
            <a:avLst/>
          </a:prstGeom>
        </p:spPr>
      </p:pic>
      <p:sp>
        <p:nvSpPr>
          <p:cNvPr id="9" name="Rectangle 8"/>
          <p:cNvSpPr/>
          <p:nvPr/>
        </p:nvSpPr>
        <p:spPr>
          <a:xfrm>
            <a:off x="4828032" y="1188720"/>
            <a:ext cx="3785615"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28032" y="1188720"/>
            <a:ext cx="41148"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10912" y="1353312"/>
            <a:ext cx="3474720" cy="3246120"/>
          </a:xfrm>
          <a:prstGeom prst="rect">
            <a:avLst/>
          </a:prstGeom>
          <a:noFill/>
        </p:spPr>
        <p:txBody>
          <a:bodyPr wrap="square" anchor="t">
            <a:spAutoFit/>
          </a:bodyPr>
          <a:lstStyle/>
          <a:p>
            <a:pPr algn="l">
              <a:spcAft>
                <a:spcPts val="600"/>
              </a:spcAft>
            </a:pPr>
            <a:r>
              <a:rPr sz="950" b="0">
                <a:solidFill>
                  <a:srgbClr val="161B26"/>
                </a:solidFill>
                <a:latin typeface="Arial"/>
              </a:rPr>
              <a:t>•  Agile methodology is fundamentally aligned with the "Progress Iteratively with Feedback" principle, as both emphasize incremental development, continuous improvement, and responsiveness to change. Here’s how Agile aligns with this principle:</a:t>
            </a:r>
          </a:p>
          <a:p>
            <a:pPr algn="l">
              <a:spcAft>
                <a:spcPts val="600"/>
              </a:spcAft>
            </a:pPr>
            <a:r>
              <a:rPr sz="950" b="0">
                <a:solidFill>
                  <a:srgbClr val="161B26"/>
                </a:solidFill>
                <a:latin typeface="Arial"/>
              </a:rPr>
              <a:t>•  Incremental Development</a:t>
            </a:r>
          </a:p>
          <a:p>
            <a:pPr algn="l">
              <a:spcAft>
                <a:spcPts val="600"/>
              </a:spcAft>
            </a:pPr>
            <a:r>
              <a:rPr sz="950" b="0">
                <a:solidFill>
                  <a:srgbClr val="161B26"/>
                </a:solidFill>
                <a:latin typeface="Arial"/>
              </a:rPr>
              <a:t>•  Frequent Feedback Loops</a:t>
            </a:r>
          </a:p>
          <a:p>
            <a:pPr algn="l">
              <a:spcAft>
                <a:spcPts val="600"/>
              </a:spcAft>
            </a:pPr>
            <a:r>
              <a:rPr sz="950" b="0">
                <a:solidFill>
                  <a:srgbClr val="161B26"/>
                </a:solidFill>
                <a:latin typeface="Arial"/>
              </a:rPr>
              <a:t>•  Continuous Integration and Testing</a:t>
            </a:r>
          </a:p>
          <a:p>
            <a:pPr algn="l">
              <a:spcAft>
                <a:spcPts val="600"/>
              </a:spcAft>
            </a:pPr>
            <a:r>
              <a:rPr sz="950" b="0">
                <a:solidFill>
                  <a:srgbClr val="161B26"/>
                </a:solidFill>
                <a:latin typeface="Arial"/>
              </a:rPr>
              <a:t>•  Customer Involvement</a:t>
            </a:r>
          </a:p>
          <a:p>
            <a:pPr algn="l">
              <a:spcAft>
                <a:spcPts val="600"/>
              </a:spcAft>
            </a:pPr>
            <a:r>
              <a:rPr sz="950" b="0">
                <a:solidFill>
                  <a:srgbClr val="161B26"/>
                </a:solidFill>
                <a:latin typeface="Arial"/>
              </a:rPr>
              <a:t>•  Adaptive Planning</a:t>
            </a:r>
          </a:p>
          <a:p>
            <a:pPr algn="l">
              <a:spcAft>
                <a:spcPts val="600"/>
              </a:spcAft>
            </a:pPr>
            <a:r>
              <a:rPr sz="950" b="0">
                <a:solidFill>
                  <a:srgbClr val="161B26"/>
                </a:solidFill>
                <a:latin typeface="Arial"/>
              </a:rPr>
              <a:t>•  Empowered Teams</a:t>
            </a:r>
          </a:p>
          <a:p>
            <a:pPr algn="l">
              <a:spcAft>
                <a:spcPts val="600"/>
              </a:spcAft>
            </a:pPr>
            <a:r>
              <a:rPr sz="950" b="0">
                <a:solidFill>
                  <a:srgbClr val="161B26"/>
                </a:solidFill>
                <a:latin typeface="Arial"/>
              </a:rPr>
              <a:t>•  Small, Usable Deliverables</a:t>
            </a:r>
          </a:p>
        </p:txBody>
      </p:sp>
      <p:sp>
        <p:nvSpPr>
          <p:cNvPr id="12" name="TextBox 1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3" name="TextBox 1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4" name="TextBox 1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Example: Implementing a New CRM System</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411480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976740" y="1329538"/>
            <a:ext cx="3222024" cy="3238804"/>
          </a:xfrm>
          <a:prstGeom prst="rect">
            <a:avLst/>
          </a:prstGeom>
        </p:spPr>
      </p:pic>
      <p:sp>
        <p:nvSpPr>
          <p:cNvPr id="9" name="Rectangle 8"/>
          <p:cNvSpPr/>
          <p:nvPr/>
        </p:nvSpPr>
        <p:spPr>
          <a:xfrm>
            <a:off x="4828032" y="1188720"/>
            <a:ext cx="3785615"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28032" y="1188720"/>
            <a:ext cx="41148"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10912" y="1353312"/>
            <a:ext cx="3474720" cy="3246120"/>
          </a:xfrm>
          <a:prstGeom prst="rect">
            <a:avLst/>
          </a:prstGeom>
          <a:noFill/>
        </p:spPr>
        <p:txBody>
          <a:bodyPr wrap="square" anchor="t">
            <a:spAutoFit/>
          </a:bodyPr>
          <a:lstStyle/>
          <a:p>
            <a:pPr algn="l">
              <a:spcAft>
                <a:spcPts val="600"/>
              </a:spcAft>
            </a:pPr>
            <a:r>
              <a:rPr sz="950" b="0">
                <a:solidFill>
                  <a:srgbClr val="161B26"/>
                </a:solidFill>
                <a:latin typeface="Arial"/>
              </a:rPr>
              <a:t>•  A sales department in a growing company decides to implement a new CRM system to better manage customer interactions, track sales activities, and improve overall efficiency.</a:t>
            </a:r>
          </a:p>
          <a:p>
            <a:pPr algn="l">
              <a:spcAft>
                <a:spcPts val="600"/>
              </a:spcAft>
            </a:pPr>
            <a:r>
              <a:rPr sz="950" b="0">
                <a:solidFill>
                  <a:srgbClr val="161B26"/>
                </a:solidFill>
                <a:latin typeface="Arial"/>
              </a:rPr>
              <a:t>•  Application of the Progress Iteratively with Feedback Principle:</a:t>
            </a:r>
          </a:p>
          <a:p>
            <a:pPr algn="l">
              <a:spcAft>
                <a:spcPts val="600"/>
              </a:spcAft>
            </a:pPr>
            <a:r>
              <a:rPr sz="950" b="0">
                <a:solidFill>
                  <a:srgbClr val="161B26"/>
                </a:solidFill>
                <a:latin typeface="Arial"/>
              </a:rPr>
              <a:t>•  Initial Assessment and Planning</a:t>
            </a:r>
          </a:p>
          <a:p>
            <a:pPr algn="l">
              <a:spcAft>
                <a:spcPts val="600"/>
              </a:spcAft>
            </a:pPr>
            <a:r>
              <a:rPr sz="950" b="0">
                <a:solidFill>
                  <a:srgbClr val="161B26"/>
                </a:solidFill>
                <a:latin typeface="Arial"/>
              </a:rPr>
              <a:t>•  Phase 1: Basic CRM Implementation:</a:t>
            </a:r>
          </a:p>
          <a:p>
            <a:pPr algn="l">
              <a:spcAft>
                <a:spcPts val="600"/>
              </a:spcAft>
            </a:pPr>
            <a:r>
              <a:rPr sz="950" b="0">
                <a:solidFill>
                  <a:srgbClr val="161B26"/>
                </a:solidFill>
                <a:latin typeface="Arial"/>
              </a:rPr>
              <a:t>•  Gather Feedback</a:t>
            </a:r>
          </a:p>
          <a:p>
            <a:pPr algn="l">
              <a:spcAft>
                <a:spcPts val="600"/>
              </a:spcAft>
            </a:pPr>
            <a:r>
              <a:rPr sz="950" b="0">
                <a:solidFill>
                  <a:srgbClr val="161B26"/>
                </a:solidFill>
                <a:latin typeface="Arial"/>
              </a:rPr>
              <a:t>•  Phase 2: Customization and Enhancement</a:t>
            </a:r>
          </a:p>
          <a:p>
            <a:pPr algn="l">
              <a:spcAft>
                <a:spcPts val="600"/>
              </a:spcAft>
            </a:pPr>
            <a:r>
              <a:rPr sz="950" b="0">
                <a:solidFill>
                  <a:srgbClr val="161B26"/>
                </a:solidFill>
                <a:latin typeface="Arial"/>
              </a:rPr>
              <a:t>•  Continuous Feedback and Iteration</a:t>
            </a:r>
          </a:p>
          <a:p>
            <a:pPr algn="l">
              <a:spcAft>
                <a:spcPts val="600"/>
              </a:spcAft>
            </a:pPr>
            <a:r>
              <a:rPr sz="950" b="0">
                <a:solidFill>
                  <a:srgbClr val="161B26"/>
                </a:solidFill>
                <a:latin typeface="Arial"/>
              </a:rPr>
              <a:t>•  Phase 3: Full Deployment and Ongoing Improvement</a:t>
            </a:r>
          </a:p>
        </p:txBody>
      </p:sp>
      <p:sp>
        <p:nvSpPr>
          <p:cNvPr id="12" name="TextBox 1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3" name="TextBox 1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4" name="TextBox 1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Collaborate and Promote Visibility</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When initiatives involve the right people in the correct roles, efforts benefit from better buy-in and more relevance.</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Collaboration across boundaries produces a greater likelihood of long-term success than isolated silo activity.</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Identify and involve ALL relevant stakeholders, not only the obvious or the convenient ones.</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Promote visibility: work that is hidden cannot be prioritised, supported or improved.</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Poor visibility leads to poor decisions — people assume rather than know what is happening.</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APPLYING IT</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A visible Kanban board of live work stops leaders from adding urgent requests onto an already-saturated team.</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Two halves: involve the RIGHT PEOPLE, and make the work VISIBLE. Expect both in the answer.</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Collaborate and Promote Visibility</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682074"/>
            <a:ext cx="7436632" cy="2213691"/>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Cooperation and collaboration over isolated 'silo activity. Think and work holistically to break down work silos. Effective collaboration is essential for Agile, Lean, ITSM frameworks. Real accomplishment needs information, understanding, and trust</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Collaborate and Promote Visibility’</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2005011"/>
            <a:ext cx="7436632" cy="1887858"/>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Example: DevOps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411480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694944" y="2070361"/>
            <a:ext cx="3785616" cy="1757158"/>
          </a:xfrm>
          <a:prstGeom prst="rect">
            <a:avLst/>
          </a:prstGeom>
        </p:spPr>
      </p:pic>
      <p:sp>
        <p:nvSpPr>
          <p:cNvPr id="9" name="Rectangle 8"/>
          <p:cNvSpPr/>
          <p:nvPr/>
        </p:nvSpPr>
        <p:spPr>
          <a:xfrm>
            <a:off x="4828032" y="1188720"/>
            <a:ext cx="3785615"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28032" y="1188720"/>
            <a:ext cx="41148"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10912" y="1353312"/>
            <a:ext cx="3474720" cy="3246120"/>
          </a:xfrm>
          <a:prstGeom prst="rect">
            <a:avLst/>
          </a:prstGeom>
          <a:noFill/>
        </p:spPr>
        <p:txBody>
          <a:bodyPr wrap="square" anchor="t">
            <a:spAutoFit/>
          </a:bodyPr>
          <a:lstStyle/>
          <a:p>
            <a:pPr algn="l">
              <a:spcAft>
                <a:spcPts val="600"/>
              </a:spcAft>
            </a:pPr>
            <a:r>
              <a:rPr sz="950" b="0">
                <a:solidFill>
                  <a:srgbClr val="161B26"/>
                </a:solidFill>
                <a:latin typeface="Arial"/>
              </a:rPr>
              <a:t>•  DevOps aligns closely with the "Collaborate and Promote Visibility" principle by fostering an environment where development and operations teams work together seamlessly and transparently. Here’s how:</a:t>
            </a:r>
          </a:p>
          <a:p>
            <a:pPr algn="l">
              <a:spcAft>
                <a:spcPts val="600"/>
              </a:spcAft>
            </a:pPr>
            <a:r>
              <a:rPr sz="950" b="0">
                <a:solidFill>
                  <a:srgbClr val="161B26"/>
                </a:solidFill>
                <a:latin typeface="Arial"/>
              </a:rPr>
              <a:t>•  Cross-Functional Teams</a:t>
            </a:r>
          </a:p>
          <a:p>
            <a:pPr algn="l">
              <a:spcAft>
                <a:spcPts val="600"/>
              </a:spcAft>
            </a:pPr>
            <a:r>
              <a:rPr sz="950" b="0">
                <a:solidFill>
                  <a:srgbClr val="161B26"/>
                </a:solidFill>
                <a:latin typeface="Arial"/>
              </a:rPr>
              <a:t>•  Shared Responsibility</a:t>
            </a:r>
          </a:p>
          <a:p>
            <a:pPr algn="l">
              <a:spcAft>
                <a:spcPts val="600"/>
              </a:spcAft>
            </a:pPr>
            <a:r>
              <a:rPr sz="950" b="0">
                <a:solidFill>
                  <a:srgbClr val="161B26"/>
                </a:solidFill>
                <a:latin typeface="Arial"/>
              </a:rPr>
              <a:t>•  Continuous Communication</a:t>
            </a:r>
          </a:p>
          <a:p>
            <a:pPr algn="l">
              <a:spcAft>
                <a:spcPts val="600"/>
              </a:spcAft>
            </a:pPr>
            <a:r>
              <a:rPr sz="950" b="0">
                <a:solidFill>
                  <a:srgbClr val="161B26"/>
                </a:solidFill>
                <a:latin typeface="Arial"/>
              </a:rPr>
              <a:t>•  Transparent Processes</a:t>
            </a:r>
          </a:p>
          <a:p>
            <a:pPr algn="l">
              <a:spcAft>
                <a:spcPts val="600"/>
              </a:spcAft>
            </a:pPr>
            <a:r>
              <a:rPr sz="950" b="0">
                <a:solidFill>
                  <a:srgbClr val="161B26"/>
                </a:solidFill>
                <a:latin typeface="Arial"/>
              </a:rPr>
              <a:t>•  Feedback Loops</a:t>
            </a:r>
          </a:p>
          <a:p>
            <a:pPr algn="l">
              <a:spcAft>
                <a:spcPts val="600"/>
              </a:spcAft>
            </a:pPr>
            <a:r>
              <a:rPr sz="950" b="0">
                <a:solidFill>
                  <a:srgbClr val="161B26"/>
                </a:solidFill>
                <a:latin typeface="Arial"/>
              </a:rPr>
              <a:t>•  Collaborative Problem-Solving</a:t>
            </a:r>
          </a:p>
        </p:txBody>
      </p:sp>
      <p:sp>
        <p:nvSpPr>
          <p:cNvPr id="12" name="TextBox 1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3" name="TextBox 1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4" name="TextBox 1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Example: Developing a New Product Feature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411480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940866" y="1329538"/>
            <a:ext cx="3293771" cy="3238804"/>
          </a:xfrm>
          <a:prstGeom prst="rect">
            <a:avLst/>
          </a:prstGeom>
        </p:spPr>
      </p:pic>
      <p:sp>
        <p:nvSpPr>
          <p:cNvPr id="9" name="Rectangle 8"/>
          <p:cNvSpPr/>
          <p:nvPr/>
        </p:nvSpPr>
        <p:spPr>
          <a:xfrm>
            <a:off x="4828032" y="1188720"/>
            <a:ext cx="3785615"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28032" y="1188720"/>
            <a:ext cx="41148"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10912" y="1353312"/>
            <a:ext cx="3474720" cy="3246120"/>
          </a:xfrm>
          <a:prstGeom prst="rect">
            <a:avLst/>
          </a:prstGeom>
          <a:noFill/>
        </p:spPr>
        <p:txBody>
          <a:bodyPr wrap="square" anchor="t">
            <a:spAutoFit/>
          </a:bodyPr>
          <a:lstStyle/>
          <a:p>
            <a:pPr algn="l">
              <a:spcAft>
                <a:spcPts val="600"/>
              </a:spcAft>
            </a:pPr>
            <a:r>
              <a:rPr sz="950" b="0">
                <a:solidFill>
                  <a:srgbClr val="161B26"/>
                </a:solidFill>
                <a:latin typeface="Arial"/>
              </a:rPr>
              <a:t>•  A software company decides to develop a new feature for its flagship product. This project requires collaboration across multiple departments, including product management, development, quality assurance (QA), marketing, and customer support.</a:t>
            </a:r>
          </a:p>
          <a:p>
            <a:pPr algn="l">
              <a:spcAft>
                <a:spcPts val="600"/>
              </a:spcAft>
            </a:pPr>
            <a:r>
              <a:rPr sz="950" b="0">
                <a:solidFill>
                  <a:srgbClr val="161B26"/>
                </a:solidFill>
                <a:latin typeface="Arial"/>
              </a:rPr>
              <a:t>•  Application of the Collaborate and Promote Visibility Principle:</a:t>
            </a:r>
          </a:p>
          <a:p>
            <a:pPr algn="l">
              <a:spcAft>
                <a:spcPts val="600"/>
              </a:spcAft>
            </a:pPr>
            <a:r>
              <a:rPr sz="950" b="0">
                <a:solidFill>
                  <a:srgbClr val="161B26"/>
                </a:solidFill>
                <a:latin typeface="Arial"/>
              </a:rPr>
              <a:t>•  Initial Planning and Collaboration</a:t>
            </a:r>
          </a:p>
          <a:p>
            <a:pPr algn="l">
              <a:spcAft>
                <a:spcPts val="600"/>
              </a:spcAft>
            </a:pPr>
            <a:r>
              <a:rPr sz="950" b="0">
                <a:solidFill>
                  <a:srgbClr val="161B26"/>
                </a:solidFill>
                <a:latin typeface="Arial"/>
              </a:rPr>
              <a:t>•  Regular Communication and Updates</a:t>
            </a:r>
          </a:p>
          <a:p>
            <a:pPr algn="l">
              <a:spcAft>
                <a:spcPts val="600"/>
              </a:spcAft>
            </a:pPr>
            <a:r>
              <a:rPr sz="950" b="0">
                <a:solidFill>
                  <a:srgbClr val="161B26"/>
                </a:solidFill>
                <a:latin typeface="Arial"/>
              </a:rPr>
              <a:t>•  Promote Visibility of Work</a:t>
            </a:r>
          </a:p>
          <a:p>
            <a:pPr algn="l">
              <a:spcAft>
                <a:spcPts val="600"/>
              </a:spcAft>
            </a:pPr>
            <a:r>
              <a:rPr sz="950" b="0">
                <a:solidFill>
                  <a:srgbClr val="161B26"/>
                </a:solidFill>
                <a:latin typeface="Arial"/>
              </a:rPr>
              <a:t>•  Gathering Feedback and Making Adjustment</a:t>
            </a:r>
          </a:p>
          <a:p>
            <a:pPr algn="l">
              <a:spcAft>
                <a:spcPts val="600"/>
              </a:spcAft>
            </a:pPr>
            <a:r>
              <a:rPr sz="950" b="0">
                <a:solidFill>
                  <a:srgbClr val="161B26"/>
                </a:solidFill>
                <a:latin typeface="Arial"/>
              </a:rPr>
              <a:t>•  Final Preparations and Launch</a:t>
            </a:r>
          </a:p>
        </p:txBody>
      </p:sp>
      <p:sp>
        <p:nvSpPr>
          <p:cNvPr id="12" name="TextBox 1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3" name="TextBox 1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4" name="TextBox 1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Think and Work Holistically</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No service, practice, process, department or supplier stands alone.</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 outputs an organisation delivers to itself, its customers and other stakeholders will suffer unless it works on the whole, not just on the parts.</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Establish an understanding of how all parts of the organisation work together in an integrated way.</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Work towards END-TO-END delivery: optimising one step at the expense of the whole makes the service worse.</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Apply all FOUR DIMENSIONS when planning any change — people, information and technology, partners, and value streams.</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APPLYING IT</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A faster deployment pipeline is no gain if the service desk is not trained to support what it now ships weekly.</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Signature phrase: 'approach activities as related to the whole rather than as separate parts'.</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‘Think and Work Holistically’ Principle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672848"/>
            <a:ext cx="7436632" cy="2232144"/>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Establish an understanding of how all parts of an organization work together in an integrated way</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Think and Work Holistically</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726836"/>
            <a:ext cx="7436632" cy="2444207"/>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Example: Implementing a New ERP System</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411480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968350" y="1329538"/>
            <a:ext cx="3238804" cy="3238804"/>
          </a:xfrm>
          <a:prstGeom prst="rect">
            <a:avLst/>
          </a:prstGeom>
        </p:spPr>
      </p:pic>
      <p:sp>
        <p:nvSpPr>
          <p:cNvPr id="9" name="Rectangle 8"/>
          <p:cNvSpPr/>
          <p:nvPr/>
        </p:nvSpPr>
        <p:spPr>
          <a:xfrm>
            <a:off x="4828032" y="1188720"/>
            <a:ext cx="3785615"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28032" y="1188720"/>
            <a:ext cx="41148"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10912" y="1353312"/>
            <a:ext cx="3474720" cy="3246120"/>
          </a:xfrm>
          <a:prstGeom prst="rect">
            <a:avLst/>
          </a:prstGeom>
          <a:noFill/>
        </p:spPr>
        <p:txBody>
          <a:bodyPr wrap="square" anchor="t">
            <a:spAutoFit/>
          </a:bodyPr>
          <a:lstStyle/>
          <a:p>
            <a:pPr algn="l">
              <a:spcAft>
                <a:spcPts val="600"/>
              </a:spcAft>
            </a:pPr>
            <a:r>
              <a:rPr sz="950" b="0">
                <a:solidFill>
                  <a:srgbClr val="161B26"/>
                </a:solidFill>
                <a:latin typeface="Arial"/>
              </a:rPr>
              <a:t>•  A IT company decides to implement a new ERP system to integrate and streamline its operations, which include procurement, production, sales, inventory management, and finance.</a:t>
            </a:r>
          </a:p>
          <a:p>
            <a:pPr algn="l">
              <a:spcAft>
                <a:spcPts val="600"/>
              </a:spcAft>
            </a:pPr>
            <a:r>
              <a:rPr sz="950" b="0">
                <a:solidFill>
                  <a:srgbClr val="161B26"/>
                </a:solidFill>
                <a:latin typeface="Arial"/>
              </a:rPr>
              <a:t>•  Application of the Think and Work Holistically Principle:</a:t>
            </a:r>
          </a:p>
          <a:p>
            <a:pPr algn="l">
              <a:spcAft>
                <a:spcPts val="600"/>
              </a:spcAft>
            </a:pPr>
            <a:r>
              <a:rPr sz="950" b="0">
                <a:solidFill>
                  <a:srgbClr val="161B26"/>
                </a:solidFill>
                <a:latin typeface="Arial"/>
              </a:rPr>
              <a:t>•  Comprehensive Needs Assessment</a:t>
            </a:r>
          </a:p>
          <a:p>
            <a:pPr algn="l">
              <a:spcAft>
                <a:spcPts val="600"/>
              </a:spcAft>
            </a:pPr>
            <a:r>
              <a:rPr sz="950" b="0">
                <a:solidFill>
                  <a:srgbClr val="161B26"/>
                </a:solidFill>
                <a:latin typeface="Arial"/>
              </a:rPr>
              <a:t>•  Integrated Planning</a:t>
            </a:r>
          </a:p>
          <a:p>
            <a:pPr algn="l">
              <a:spcAft>
                <a:spcPts val="600"/>
              </a:spcAft>
            </a:pPr>
            <a:r>
              <a:rPr sz="950" b="0">
                <a:solidFill>
                  <a:srgbClr val="161B26"/>
                </a:solidFill>
                <a:latin typeface="Arial"/>
              </a:rPr>
              <a:t>•  Cross-Functional Team Collaboration</a:t>
            </a:r>
          </a:p>
          <a:p>
            <a:pPr algn="l">
              <a:spcAft>
                <a:spcPts val="600"/>
              </a:spcAft>
            </a:pPr>
            <a:r>
              <a:rPr sz="950" b="0">
                <a:solidFill>
                  <a:srgbClr val="161B26"/>
                </a:solidFill>
                <a:latin typeface="Arial"/>
              </a:rPr>
              <a:t>•  Holistic System Design</a:t>
            </a:r>
          </a:p>
          <a:p>
            <a:pPr algn="l">
              <a:spcAft>
                <a:spcPts val="600"/>
              </a:spcAft>
            </a:pPr>
            <a:r>
              <a:rPr sz="950" b="0">
                <a:solidFill>
                  <a:srgbClr val="161B26"/>
                </a:solidFill>
                <a:latin typeface="Arial"/>
              </a:rPr>
              <a:t>•  Comprehensive Training and Change Management</a:t>
            </a:r>
          </a:p>
          <a:p>
            <a:pPr algn="l">
              <a:spcAft>
                <a:spcPts val="600"/>
              </a:spcAft>
            </a:pPr>
            <a:r>
              <a:rPr sz="950" b="0">
                <a:solidFill>
                  <a:srgbClr val="161B26"/>
                </a:solidFill>
                <a:latin typeface="Arial"/>
              </a:rPr>
              <a:t>•  Ongoing Monitoring and Improvement</a:t>
            </a:r>
          </a:p>
        </p:txBody>
      </p:sp>
      <p:sp>
        <p:nvSpPr>
          <p:cNvPr id="12" name="TextBox 1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3" name="TextBox 1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4" name="TextBox 1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Keep It Simple and Practical</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665311"/>
            <a:ext cx="7436632" cy="2247217"/>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Always use the minimum number of steps to accomplish an objective. Outcome-based thinking should be used to produce practical solutions that deliver valuable outcomes. If a process, service, action, or metric fails to provide value or produce a useful outcome, then eliminate it.</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Keep It Simple and Practical</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333127"/>
            <a:ext cx="7436632" cy="3231625"/>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1700" b="1">
                <a:solidFill>
                  <a:srgbClr val="161B26"/>
                </a:solidFill>
                <a:latin typeface="Arial"/>
              </a:rPr>
              <a:t>Example: Streamlining the Onboarding Process for New Employees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411480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949470" y="1329538"/>
            <a:ext cx="3276563" cy="3238804"/>
          </a:xfrm>
          <a:prstGeom prst="rect">
            <a:avLst/>
          </a:prstGeom>
        </p:spPr>
      </p:pic>
      <p:sp>
        <p:nvSpPr>
          <p:cNvPr id="9" name="Rectangle 8"/>
          <p:cNvSpPr/>
          <p:nvPr/>
        </p:nvSpPr>
        <p:spPr>
          <a:xfrm>
            <a:off x="4828032" y="1188720"/>
            <a:ext cx="3785615"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28032" y="1188720"/>
            <a:ext cx="41148"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10912" y="1353312"/>
            <a:ext cx="3474720" cy="3246120"/>
          </a:xfrm>
          <a:prstGeom prst="rect">
            <a:avLst/>
          </a:prstGeom>
          <a:noFill/>
        </p:spPr>
        <p:txBody>
          <a:bodyPr wrap="square" anchor="t">
            <a:spAutoFit/>
          </a:bodyPr>
          <a:lstStyle/>
          <a:p>
            <a:pPr algn="l">
              <a:spcAft>
                <a:spcPts val="600"/>
              </a:spcAft>
            </a:pPr>
            <a:r>
              <a:rPr sz="950" b="0">
                <a:solidFill>
                  <a:srgbClr val="161B26"/>
                </a:solidFill>
                <a:latin typeface="Arial"/>
              </a:rPr>
              <a:t>•  A medium-sized IT company wants to improve its onboarding process for new employees to make it more efficient and user-friendly.</a:t>
            </a:r>
          </a:p>
          <a:p>
            <a:pPr algn="l">
              <a:spcAft>
                <a:spcPts val="600"/>
              </a:spcAft>
            </a:pPr>
            <a:r>
              <a:rPr sz="950" b="0">
                <a:solidFill>
                  <a:srgbClr val="161B26"/>
                </a:solidFill>
                <a:latin typeface="Arial"/>
              </a:rPr>
              <a:t>•  Application of the Keep It Simple and Practical Principle:</a:t>
            </a:r>
          </a:p>
          <a:p>
            <a:pPr algn="l">
              <a:spcAft>
                <a:spcPts val="600"/>
              </a:spcAft>
            </a:pPr>
            <a:r>
              <a:rPr sz="950" b="0">
                <a:solidFill>
                  <a:srgbClr val="161B26"/>
                </a:solidFill>
                <a:latin typeface="Arial"/>
              </a:rPr>
              <a:t>•  Current Process Assessment</a:t>
            </a:r>
          </a:p>
          <a:p>
            <a:pPr algn="l">
              <a:spcAft>
                <a:spcPts val="600"/>
              </a:spcAft>
            </a:pPr>
            <a:r>
              <a:rPr sz="950" b="0">
                <a:solidFill>
                  <a:srgbClr val="161B26"/>
                </a:solidFill>
                <a:latin typeface="Arial"/>
              </a:rPr>
              <a:t>•  Identify Key Requirements</a:t>
            </a:r>
          </a:p>
          <a:p>
            <a:pPr algn="l">
              <a:spcAft>
                <a:spcPts val="600"/>
              </a:spcAft>
            </a:pPr>
            <a:r>
              <a:rPr sz="950" b="0">
                <a:solidFill>
                  <a:srgbClr val="161B26"/>
                </a:solidFill>
                <a:latin typeface="Arial"/>
              </a:rPr>
              <a:t>•  Simplify Documentation</a:t>
            </a:r>
          </a:p>
          <a:p>
            <a:pPr algn="l">
              <a:spcAft>
                <a:spcPts val="600"/>
              </a:spcAft>
            </a:pPr>
            <a:r>
              <a:rPr sz="950" b="0">
                <a:solidFill>
                  <a:srgbClr val="161B26"/>
                </a:solidFill>
                <a:latin typeface="Arial"/>
              </a:rPr>
              <a:t>•  Automate Where Possible</a:t>
            </a:r>
          </a:p>
          <a:p>
            <a:pPr algn="l">
              <a:spcAft>
                <a:spcPts val="600"/>
              </a:spcAft>
            </a:pPr>
            <a:r>
              <a:rPr sz="950" b="0">
                <a:solidFill>
                  <a:srgbClr val="161B26"/>
                </a:solidFill>
                <a:latin typeface="Arial"/>
              </a:rPr>
              <a:t>•  Practical Training Sessions</a:t>
            </a:r>
          </a:p>
          <a:p>
            <a:pPr algn="l">
              <a:spcAft>
                <a:spcPts val="600"/>
              </a:spcAft>
            </a:pPr>
            <a:r>
              <a:rPr sz="950" b="0">
                <a:solidFill>
                  <a:srgbClr val="161B26"/>
                </a:solidFill>
                <a:latin typeface="Arial"/>
              </a:rPr>
              <a:t>•  Feedback and Continuous Improvement</a:t>
            </a:r>
          </a:p>
        </p:txBody>
      </p:sp>
      <p:sp>
        <p:nvSpPr>
          <p:cNvPr id="12" name="TextBox 1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3" name="TextBox 1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4" name="TextBox 1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Optimize and Automate Principle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716663"/>
            <a:ext cx="7436632" cy="2144514"/>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Organizations must maximize the value of the work carried out by their human and technical resources.  Technology can help organizations to scale up and take on frequent and repetitive tasks, allowing human resources to be used for more complex decision-making.</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Optimize and Automate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281511" y="1329538"/>
            <a:ext cx="6580977"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1700" b="1">
                <a:solidFill>
                  <a:srgbClr val="161B26"/>
                </a:solidFill>
                <a:latin typeface="Arial"/>
              </a:rPr>
              <a:t>Example: Optimizing and Automating IT Incident Management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411480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953647" y="1329538"/>
            <a:ext cx="3268210" cy="3238804"/>
          </a:xfrm>
          <a:prstGeom prst="rect">
            <a:avLst/>
          </a:prstGeom>
        </p:spPr>
      </p:pic>
      <p:sp>
        <p:nvSpPr>
          <p:cNvPr id="9" name="Rectangle 8"/>
          <p:cNvSpPr/>
          <p:nvPr/>
        </p:nvSpPr>
        <p:spPr>
          <a:xfrm>
            <a:off x="4828032" y="1188720"/>
            <a:ext cx="3785615"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28032" y="1188720"/>
            <a:ext cx="41148"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10912" y="1353312"/>
            <a:ext cx="3474720" cy="3246120"/>
          </a:xfrm>
          <a:prstGeom prst="rect">
            <a:avLst/>
          </a:prstGeom>
          <a:noFill/>
        </p:spPr>
        <p:txBody>
          <a:bodyPr wrap="square" anchor="t">
            <a:spAutoFit/>
          </a:bodyPr>
          <a:lstStyle/>
          <a:p>
            <a:pPr algn="l">
              <a:spcAft>
                <a:spcPts val="600"/>
              </a:spcAft>
            </a:pPr>
            <a:r>
              <a:rPr sz="950" b="0">
                <a:solidFill>
                  <a:srgbClr val="161B26"/>
                </a:solidFill>
                <a:latin typeface="Arial"/>
              </a:rPr>
              <a:t>•  A large IT department in a financial services company is struggling with managing IT incidents due to a high volume of manual tasks, leading to slow resolution times and frequent errors.</a:t>
            </a:r>
          </a:p>
          <a:p>
            <a:pPr algn="l">
              <a:spcAft>
                <a:spcPts val="600"/>
              </a:spcAft>
            </a:pPr>
            <a:r>
              <a:rPr sz="950" b="0">
                <a:solidFill>
                  <a:srgbClr val="161B26"/>
                </a:solidFill>
                <a:latin typeface="Arial"/>
              </a:rPr>
              <a:t>•  Application of the Optimize and Automate Principle:</a:t>
            </a:r>
          </a:p>
          <a:p>
            <a:pPr algn="l">
              <a:spcAft>
                <a:spcPts val="600"/>
              </a:spcAft>
            </a:pPr>
            <a:r>
              <a:rPr sz="950" b="0">
                <a:solidFill>
                  <a:srgbClr val="161B26"/>
                </a:solidFill>
                <a:latin typeface="Arial"/>
              </a:rPr>
              <a:t>•  Initial Assessment and Optimization</a:t>
            </a:r>
          </a:p>
          <a:p>
            <a:pPr algn="l">
              <a:spcAft>
                <a:spcPts val="600"/>
              </a:spcAft>
            </a:pPr>
            <a:r>
              <a:rPr sz="950" b="0">
                <a:solidFill>
                  <a:srgbClr val="161B26"/>
                </a:solidFill>
                <a:latin typeface="Arial"/>
              </a:rPr>
              <a:t>•  Implement Standard Operating Procedures (SOPs)</a:t>
            </a:r>
          </a:p>
          <a:p>
            <a:pPr algn="l">
              <a:spcAft>
                <a:spcPts val="600"/>
              </a:spcAft>
            </a:pPr>
            <a:r>
              <a:rPr sz="950" b="0">
                <a:solidFill>
                  <a:srgbClr val="161B26"/>
                </a:solidFill>
                <a:latin typeface="Arial"/>
              </a:rPr>
              <a:t>•  Select Appropriate Automation Tools</a:t>
            </a:r>
          </a:p>
          <a:p>
            <a:pPr algn="l">
              <a:spcAft>
                <a:spcPts val="600"/>
              </a:spcAft>
            </a:pPr>
            <a:r>
              <a:rPr sz="950" b="0">
                <a:solidFill>
                  <a:srgbClr val="161B26"/>
                </a:solidFill>
                <a:latin typeface="Arial"/>
              </a:rPr>
              <a:t>•  Automation Implementation</a:t>
            </a:r>
          </a:p>
          <a:p>
            <a:pPr algn="l">
              <a:spcAft>
                <a:spcPts val="600"/>
              </a:spcAft>
            </a:pPr>
            <a:r>
              <a:rPr sz="950" b="0">
                <a:solidFill>
                  <a:srgbClr val="161B26"/>
                </a:solidFill>
                <a:latin typeface="Arial"/>
              </a:rPr>
              <a:t>•  Monitoring and Continuous Improvement</a:t>
            </a:r>
          </a:p>
          <a:p>
            <a:pPr algn="l">
              <a:spcAft>
                <a:spcPts val="600"/>
              </a:spcAft>
            </a:pPr>
            <a:r>
              <a:rPr sz="950" b="0">
                <a:solidFill>
                  <a:srgbClr val="161B26"/>
                </a:solidFill>
                <a:latin typeface="Arial"/>
              </a:rPr>
              <a:t>•  Scaling Automation:</a:t>
            </a:r>
          </a:p>
        </p:txBody>
      </p:sp>
      <p:sp>
        <p:nvSpPr>
          <p:cNvPr id="12" name="TextBox 1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3" name="TextBox 1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4" name="TextBox 1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Example: RPA</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353312"/>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1</a:t>
            </a:r>
          </a:p>
        </p:txBody>
      </p:sp>
      <p:sp>
        <p:nvSpPr>
          <p:cNvPr id="11" name="TextBox 10"/>
          <p:cNvSpPr txBox="1"/>
          <p:nvPr/>
        </p:nvSpPr>
        <p:spPr>
          <a:xfrm>
            <a:off x="10058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Robotic Process Automation (RPA) aligns perfectly with the "Optimize and Automate" principle by focusing on improving efficiency through process optimization and automation of repetitive tasks.</a:t>
            </a:r>
          </a:p>
        </p:txBody>
      </p:sp>
      <p:sp>
        <p:nvSpPr>
          <p:cNvPr id="12" name="Rectangle 11"/>
          <p:cNvSpPr/>
          <p:nvPr/>
        </p:nvSpPr>
        <p:spPr>
          <a:xfrm>
            <a:off x="46451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45152" y="1207008"/>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91456" y="1353312"/>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4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2</a:t>
            </a:r>
          </a:p>
        </p:txBody>
      </p:sp>
      <p:sp>
        <p:nvSpPr>
          <p:cNvPr id="16" name="TextBox 15"/>
          <p:cNvSpPr txBox="1"/>
          <p:nvPr/>
        </p:nvSpPr>
        <p:spPr>
          <a:xfrm>
            <a:off x="51206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Identifying and Optimizing Processes</a:t>
            </a:r>
          </a:p>
        </p:txBody>
      </p:sp>
      <p:sp>
        <p:nvSpPr>
          <p:cNvPr id="17" name="Rectangle 16"/>
          <p:cNvSpPr/>
          <p:nvPr/>
        </p:nvSpPr>
        <p:spPr>
          <a:xfrm>
            <a:off x="5303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105406"/>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251710"/>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3</a:t>
            </a:r>
          </a:p>
        </p:txBody>
      </p:sp>
      <p:sp>
        <p:nvSpPr>
          <p:cNvPr id="21" name="TextBox 20"/>
          <p:cNvSpPr txBox="1"/>
          <p:nvPr/>
        </p:nvSpPr>
        <p:spPr>
          <a:xfrm>
            <a:off x="10058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Automation of Repetitive Tasks</a:t>
            </a:r>
          </a:p>
        </p:txBody>
      </p:sp>
      <p:sp>
        <p:nvSpPr>
          <p:cNvPr id="22" name="Rectangle 21"/>
          <p:cNvSpPr/>
          <p:nvPr/>
        </p:nvSpPr>
        <p:spPr>
          <a:xfrm>
            <a:off x="46451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45152" y="2105406"/>
            <a:ext cx="41148" cy="7795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91456" y="2251710"/>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914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4</a:t>
            </a:r>
          </a:p>
        </p:txBody>
      </p:sp>
      <p:sp>
        <p:nvSpPr>
          <p:cNvPr id="26" name="TextBox 25"/>
          <p:cNvSpPr txBox="1"/>
          <p:nvPr/>
        </p:nvSpPr>
        <p:spPr>
          <a:xfrm>
            <a:off x="51206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Integration with Existing Systems</a:t>
            </a:r>
          </a:p>
        </p:txBody>
      </p:sp>
      <p:sp>
        <p:nvSpPr>
          <p:cNvPr id="27" name="Rectangle 26"/>
          <p:cNvSpPr/>
          <p:nvPr/>
        </p:nvSpPr>
        <p:spPr>
          <a:xfrm>
            <a:off x="5303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3003804"/>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15010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5</a:t>
            </a:r>
          </a:p>
        </p:txBody>
      </p:sp>
      <p:sp>
        <p:nvSpPr>
          <p:cNvPr id="31" name="TextBox 30"/>
          <p:cNvSpPr txBox="1"/>
          <p:nvPr/>
        </p:nvSpPr>
        <p:spPr>
          <a:xfrm>
            <a:off x="10058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Scalability</a:t>
            </a:r>
          </a:p>
        </p:txBody>
      </p:sp>
      <p:sp>
        <p:nvSpPr>
          <p:cNvPr id="32" name="Rectangle 31"/>
          <p:cNvSpPr/>
          <p:nvPr/>
        </p:nvSpPr>
        <p:spPr>
          <a:xfrm>
            <a:off x="46451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645152" y="3003804"/>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91456" y="315010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14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6</a:t>
            </a:r>
          </a:p>
        </p:txBody>
      </p:sp>
      <p:sp>
        <p:nvSpPr>
          <p:cNvPr id="36" name="TextBox 35"/>
          <p:cNvSpPr txBox="1"/>
          <p:nvPr/>
        </p:nvSpPr>
        <p:spPr>
          <a:xfrm>
            <a:off x="51206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Continuous Monitoring and Improvement</a:t>
            </a:r>
          </a:p>
        </p:txBody>
      </p:sp>
      <p:sp>
        <p:nvSpPr>
          <p:cNvPr id="37" name="Rectangle 36"/>
          <p:cNvSpPr/>
          <p:nvPr/>
        </p:nvSpPr>
        <p:spPr>
          <a:xfrm>
            <a:off x="530352" y="3902202"/>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0352" y="3902202"/>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76656" y="4048506"/>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6656" y="407136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7</a:t>
            </a:r>
          </a:p>
        </p:txBody>
      </p:sp>
      <p:sp>
        <p:nvSpPr>
          <p:cNvPr id="41" name="TextBox 40"/>
          <p:cNvSpPr txBox="1"/>
          <p:nvPr/>
        </p:nvSpPr>
        <p:spPr>
          <a:xfrm>
            <a:off x="1005840" y="4011930"/>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Reduced Costs and Increased Efficiency</a:t>
            </a:r>
          </a:p>
        </p:txBody>
      </p:sp>
      <p:sp>
        <p:nvSpPr>
          <p:cNvPr id="42" name="TextBox 4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3" name="TextBox 4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4" name="TextBox 4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Example: RPA in Invoice Processing</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3099816" y="1316736"/>
            <a:ext cx="2944368"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A finance department in a large organization struggles with the manual processing of hundreds of invoices daily, leading to delays and errors.</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12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Which principle focusing on work in an integrated way to approach activities as related to the whole, rather than as separate parts?</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Focus on Value</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Keep it simple and practical</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Optimize and automate</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Think and work holistically</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13</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Which principle put the right people in the correct roles to ensure that initiatives have an increased likelihood of long-term success?</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Focus on Value</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Progress iteratively with feedback</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Collaborate and promote visibility</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Keep it simple and practical</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14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Which is a recommended principle when applying ‘Focus on Value’ and “Progress iteratively with feedback’ principles?</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Optimize and automate</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Think and work holistically</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Collaborate and promote visibility</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Start where you are</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15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Which principle understands the flow of work in progress, identify bottlenecks and excess capacity and uncover waste?</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Keep it simple and practical</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Optimize and automate</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Progress iteratively with feedback</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Collaborate and promote visibility</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16</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What describe the ‘Focus on Value’ principle? services</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Involve the right people in the right roles</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Establish an understanding of what is truly value to the service consumer</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Identify what existing resources can be utilized to deliver the services</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Establish how all the parts of the organization will work together to deliver the</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2024" cy="51435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691640"/>
            <a:ext cx="91440"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737360"/>
            <a:ext cx="6583680" cy="310896"/>
          </a:xfrm>
          <a:prstGeom prst="rect">
            <a:avLst/>
          </a:prstGeom>
          <a:noFill/>
        </p:spPr>
        <p:txBody>
          <a:bodyPr wrap="square" anchor="t">
            <a:spAutoFit/>
          </a:bodyPr>
          <a:lstStyle/>
          <a:p>
            <a:pPr algn="l">
              <a:spcAft>
                <a:spcPts val="300"/>
              </a:spcAft>
            </a:pPr>
            <a:r>
              <a:rPr sz="1200" b="1">
                <a:solidFill>
                  <a:srgbClr val="1F6FEB"/>
                </a:solidFill>
                <a:latin typeface="Arial"/>
              </a:rPr>
              <a:t>TOPIC 03</a:t>
            </a:r>
          </a:p>
        </p:txBody>
      </p:sp>
      <p:sp>
        <p:nvSpPr>
          <p:cNvPr id="6" name="TextBox 5"/>
          <p:cNvSpPr txBox="1"/>
          <p:nvPr/>
        </p:nvSpPr>
        <p:spPr>
          <a:xfrm>
            <a:off x="841248" y="2066543"/>
            <a:ext cx="6949440" cy="1097280"/>
          </a:xfrm>
          <a:prstGeom prst="rect">
            <a:avLst/>
          </a:prstGeom>
          <a:noFill/>
        </p:spPr>
        <p:txBody>
          <a:bodyPr wrap="square" anchor="t">
            <a:spAutoFit/>
          </a:bodyPr>
          <a:lstStyle/>
          <a:p>
            <a:pPr algn="l">
              <a:spcAft>
                <a:spcPts val="300"/>
              </a:spcAft>
            </a:pPr>
            <a:r>
              <a:rPr sz="2700" b="1">
                <a:solidFill>
                  <a:srgbClr val="161B26"/>
                </a:solidFill>
                <a:latin typeface="Arial"/>
              </a:rPr>
              <a:t>The Four Dimensions of Service Management</a:t>
            </a:r>
          </a:p>
        </p:txBody>
      </p:sp>
      <p:sp>
        <p:nvSpPr>
          <p:cNvPr id="7" name="TextBox 6"/>
          <p:cNvSpPr txBox="1"/>
          <p:nvPr/>
        </p:nvSpPr>
        <p:spPr>
          <a:xfrm>
            <a:off x="859536" y="3127248"/>
            <a:ext cx="6949440" cy="640080"/>
          </a:xfrm>
          <a:prstGeom prst="rect">
            <a:avLst/>
          </a:prstGeom>
          <a:noFill/>
        </p:spPr>
        <p:txBody>
          <a:bodyPr wrap="square" anchor="t">
            <a:spAutoFit/>
          </a:bodyPr>
          <a:lstStyle/>
          <a:p>
            <a:pPr algn="l">
              <a:spcAft>
                <a:spcPts val="300"/>
              </a:spcAft>
            </a:pPr>
            <a:r>
              <a:rPr sz="1000" b="0">
                <a:solidFill>
                  <a:srgbClr val="5B6372"/>
                </a:solidFill>
                <a:latin typeface="Arial"/>
              </a:rPr>
              <a:t>Organizations and People · Information and Technology · Partners and Suppliers · Value Streams and Processes</a:t>
            </a:r>
          </a:p>
        </p:txBody>
      </p:sp>
      <p:sp>
        <p:nvSpPr>
          <p:cNvPr id="8" name="TextBox 7"/>
          <p:cNvSpPr txBox="1"/>
          <p:nvPr/>
        </p:nvSpPr>
        <p:spPr>
          <a:xfrm>
            <a:off x="6949440" y="640080"/>
            <a:ext cx="1737360" cy="1188720"/>
          </a:xfrm>
          <a:prstGeom prst="rect">
            <a:avLst/>
          </a:prstGeom>
          <a:noFill/>
        </p:spPr>
        <p:txBody>
          <a:bodyPr wrap="square" anchor="t">
            <a:spAutoFit/>
          </a:bodyPr>
          <a:lstStyle/>
          <a:p>
            <a:pPr algn="r">
              <a:spcAft>
                <a:spcPts val="300"/>
              </a:spcAft>
            </a:pPr>
            <a:r>
              <a:rPr sz="6000" b="1">
                <a:solidFill>
                  <a:srgbClr val="E8EEF7"/>
                </a:solidFill>
                <a:latin typeface="Arial"/>
              </a:rPr>
              <a:t>03</a:t>
            </a:r>
          </a:p>
        </p:txBody>
      </p:sp>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03</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Topics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8083296" cy="3474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5720" cy="3474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426464"/>
            <a:ext cx="7406640" cy="3108960"/>
          </a:xfrm>
          <a:prstGeom prst="rect">
            <a:avLst/>
          </a:prstGeom>
          <a:noFill/>
        </p:spPr>
        <p:txBody>
          <a:bodyPr wrap="square" anchor="t">
            <a:spAutoFit/>
          </a:bodyPr>
          <a:lstStyle/>
          <a:p>
            <a:pPr algn="l">
              <a:spcAft>
                <a:spcPts val="800"/>
              </a:spcAft>
            </a:pPr>
            <a:r>
              <a:rPr sz="1050" b="0">
                <a:solidFill>
                  <a:srgbClr val="161B26"/>
                </a:solidFill>
                <a:latin typeface="Arial"/>
              </a:rPr>
              <a:t>•  Organizations and People</a:t>
            </a:r>
          </a:p>
          <a:p>
            <a:pPr algn="l">
              <a:spcAft>
                <a:spcPts val="800"/>
              </a:spcAft>
            </a:pPr>
            <a:r>
              <a:rPr sz="1050" b="0">
                <a:solidFill>
                  <a:srgbClr val="161B26"/>
                </a:solidFill>
                <a:latin typeface="Arial"/>
              </a:rPr>
              <a:t>•  Information and Technology</a:t>
            </a:r>
          </a:p>
          <a:p>
            <a:pPr algn="l">
              <a:spcAft>
                <a:spcPts val="800"/>
              </a:spcAft>
            </a:pPr>
            <a:r>
              <a:rPr sz="1050" b="0">
                <a:solidFill>
                  <a:srgbClr val="161B26"/>
                </a:solidFill>
                <a:latin typeface="Arial"/>
              </a:rPr>
              <a:t>•  Partners and Suppliers</a:t>
            </a:r>
          </a:p>
          <a:p>
            <a:pPr algn="l">
              <a:spcAft>
                <a:spcPts val="800"/>
              </a:spcAft>
            </a:pPr>
            <a:r>
              <a:rPr sz="1050" b="0">
                <a:solidFill>
                  <a:srgbClr val="161B26"/>
                </a:solidFill>
                <a:latin typeface="Arial"/>
              </a:rPr>
              <a:t>•  Value Streams and Processes</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03</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Four Dimension</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270485" y="1329538"/>
            <a:ext cx="4603030"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03</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Organization and People Dimension</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3045794" y="1316736"/>
            <a:ext cx="3052412"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The organization and people dimension of a service covers roles and responsibilities, leaders championing and advocating the values, communication and collaboration, shared values and attitudes, trust and transparency, and the right level of capacity and competency in the workforce, all of which are related to the creation, delivery, and improvement of a service.</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03</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Organization and People Dimension</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2166346"/>
            <a:ext cx="7436632" cy="1565188"/>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03</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Information and Technology Dimension</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3038866" y="1316736"/>
            <a:ext cx="3066268"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When applied to the SVS, the information and technology dimension includes the information and knowledge necessary for the management of services, as well as the technologies required.</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03</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Supporting and enabling Technologies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960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353312"/>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1</a:t>
            </a:r>
          </a:p>
        </p:txBody>
      </p:sp>
      <p:sp>
        <p:nvSpPr>
          <p:cNvPr id="11" name="TextBox 10"/>
          <p:cNvSpPr txBox="1"/>
          <p:nvPr/>
        </p:nvSpPr>
        <p:spPr>
          <a:xfrm>
            <a:off x="1005840" y="1316736"/>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Workflow management systems</a:t>
            </a:r>
          </a:p>
        </p:txBody>
      </p:sp>
      <p:sp>
        <p:nvSpPr>
          <p:cNvPr id="12" name="Rectangle 11"/>
          <p:cNvSpPr/>
          <p:nvPr/>
        </p:nvSpPr>
        <p:spPr>
          <a:xfrm>
            <a:off x="4645152" y="1207008"/>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45152" y="1207008"/>
            <a:ext cx="41148"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91456" y="1353312"/>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4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2</a:t>
            </a:r>
          </a:p>
        </p:txBody>
      </p:sp>
      <p:sp>
        <p:nvSpPr>
          <p:cNvPr id="16" name="TextBox 15"/>
          <p:cNvSpPr txBox="1"/>
          <p:nvPr/>
        </p:nvSpPr>
        <p:spPr>
          <a:xfrm>
            <a:off x="5120640" y="1316736"/>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Knowledge bases</a:t>
            </a:r>
          </a:p>
        </p:txBody>
      </p:sp>
      <p:sp>
        <p:nvSpPr>
          <p:cNvPr id="17" name="Rectangle 16"/>
          <p:cNvSpPr/>
          <p:nvPr/>
        </p:nvSpPr>
        <p:spPr>
          <a:xfrm>
            <a:off x="530352" y="2286000"/>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286000"/>
            <a:ext cx="41148" cy="960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432304"/>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455164"/>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3</a:t>
            </a:r>
          </a:p>
        </p:txBody>
      </p:sp>
      <p:sp>
        <p:nvSpPr>
          <p:cNvPr id="21" name="TextBox 20"/>
          <p:cNvSpPr txBox="1"/>
          <p:nvPr/>
        </p:nvSpPr>
        <p:spPr>
          <a:xfrm>
            <a:off x="1005840" y="2395728"/>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Inventory systems</a:t>
            </a:r>
          </a:p>
        </p:txBody>
      </p:sp>
      <p:sp>
        <p:nvSpPr>
          <p:cNvPr id="22" name="Rectangle 21"/>
          <p:cNvSpPr/>
          <p:nvPr/>
        </p:nvSpPr>
        <p:spPr>
          <a:xfrm>
            <a:off x="4645152" y="2286000"/>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45152" y="2286000"/>
            <a:ext cx="41148"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91456" y="2432304"/>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91456" y="2455164"/>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4</a:t>
            </a:r>
          </a:p>
        </p:txBody>
      </p:sp>
      <p:sp>
        <p:nvSpPr>
          <p:cNvPr id="26" name="TextBox 25"/>
          <p:cNvSpPr txBox="1"/>
          <p:nvPr/>
        </p:nvSpPr>
        <p:spPr>
          <a:xfrm>
            <a:off x="5120640" y="2395728"/>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Communication systems</a:t>
            </a:r>
          </a:p>
        </p:txBody>
      </p:sp>
      <p:sp>
        <p:nvSpPr>
          <p:cNvPr id="27" name="Rectangle 26"/>
          <p:cNvSpPr/>
          <p:nvPr/>
        </p:nvSpPr>
        <p:spPr>
          <a:xfrm>
            <a:off x="530352" y="3364992"/>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3364992"/>
            <a:ext cx="41148" cy="960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511296"/>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53415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5</a:t>
            </a:r>
          </a:p>
        </p:txBody>
      </p:sp>
      <p:sp>
        <p:nvSpPr>
          <p:cNvPr id="31" name="TextBox 30"/>
          <p:cNvSpPr txBox="1"/>
          <p:nvPr/>
        </p:nvSpPr>
        <p:spPr>
          <a:xfrm>
            <a:off x="1005840" y="3474720"/>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Analytical tools</a:t>
            </a:r>
          </a:p>
        </p:txBody>
      </p:sp>
      <p:sp>
        <p:nvSpPr>
          <p:cNvPr id="32" name="TextBox 3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33" name="TextBox 3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34" name="TextBox 3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03</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Information Technology Considerations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353312"/>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1</a:t>
            </a:r>
          </a:p>
        </p:txBody>
      </p:sp>
      <p:sp>
        <p:nvSpPr>
          <p:cNvPr id="11" name="TextBox 10"/>
          <p:cNvSpPr txBox="1"/>
          <p:nvPr/>
        </p:nvSpPr>
        <p:spPr>
          <a:xfrm>
            <a:off x="10058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Is it compatible with current architecture and customers?</a:t>
            </a:r>
          </a:p>
        </p:txBody>
      </p:sp>
      <p:sp>
        <p:nvSpPr>
          <p:cNvPr id="12" name="Rectangle 11"/>
          <p:cNvSpPr/>
          <p:nvPr/>
        </p:nvSpPr>
        <p:spPr>
          <a:xfrm>
            <a:off x="46451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45152" y="1207008"/>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91456" y="1353312"/>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4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2</a:t>
            </a:r>
          </a:p>
        </p:txBody>
      </p:sp>
      <p:sp>
        <p:nvSpPr>
          <p:cNvPr id="16" name="TextBox 15"/>
          <p:cNvSpPr txBox="1"/>
          <p:nvPr/>
        </p:nvSpPr>
        <p:spPr>
          <a:xfrm>
            <a:off x="51206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Does it raise compliance issues with policies and information security</a:t>
            </a:r>
          </a:p>
        </p:txBody>
      </p:sp>
      <p:sp>
        <p:nvSpPr>
          <p:cNvPr id="17" name="Rectangle 16"/>
          <p:cNvSpPr/>
          <p:nvPr/>
        </p:nvSpPr>
        <p:spPr>
          <a:xfrm>
            <a:off x="5303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105406"/>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251710"/>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3</a:t>
            </a:r>
          </a:p>
        </p:txBody>
      </p:sp>
      <p:sp>
        <p:nvSpPr>
          <p:cNvPr id="21" name="TextBox 20"/>
          <p:cNvSpPr txBox="1"/>
          <p:nvPr/>
        </p:nvSpPr>
        <p:spPr>
          <a:xfrm>
            <a:off x="10058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controls?</a:t>
            </a:r>
          </a:p>
        </p:txBody>
      </p:sp>
      <p:sp>
        <p:nvSpPr>
          <p:cNvPr id="22" name="Rectangle 21"/>
          <p:cNvSpPr/>
          <p:nvPr/>
        </p:nvSpPr>
        <p:spPr>
          <a:xfrm>
            <a:off x="46451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45152" y="2105406"/>
            <a:ext cx="41148" cy="7795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91456" y="2251710"/>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914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4</a:t>
            </a:r>
          </a:p>
        </p:txBody>
      </p:sp>
      <p:sp>
        <p:nvSpPr>
          <p:cNvPr id="26" name="TextBox 25"/>
          <p:cNvSpPr txBox="1"/>
          <p:nvPr/>
        </p:nvSpPr>
        <p:spPr>
          <a:xfrm>
            <a:off x="51206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Will it continue to be viable in the future</a:t>
            </a:r>
          </a:p>
        </p:txBody>
      </p:sp>
      <p:sp>
        <p:nvSpPr>
          <p:cNvPr id="27" name="Rectangle 26"/>
          <p:cNvSpPr/>
          <p:nvPr/>
        </p:nvSpPr>
        <p:spPr>
          <a:xfrm>
            <a:off x="5303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3003804"/>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15010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5</a:t>
            </a:r>
          </a:p>
        </p:txBody>
      </p:sp>
      <p:sp>
        <p:nvSpPr>
          <p:cNvPr id="31" name="TextBox 30"/>
          <p:cNvSpPr txBox="1"/>
          <p:nvPr/>
        </p:nvSpPr>
        <p:spPr>
          <a:xfrm>
            <a:off x="10058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Does it align with service provider or consumer strategies?</a:t>
            </a:r>
          </a:p>
        </p:txBody>
      </p:sp>
      <p:sp>
        <p:nvSpPr>
          <p:cNvPr id="32" name="Rectangle 31"/>
          <p:cNvSpPr/>
          <p:nvPr/>
        </p:nvSpPr>
        <p:spPr>
          <a:xfrm>
            <a:off x="46451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645152" y="3003804"/>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91456" y="315010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14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6</a:t>
            </a:r>
          </a:p>
        </p:txBody>
      </p:sp>
      <p:sp>
        <p:nvSpPr>
          <p:cNvPr id="36" name="TextBox 35"/>
          <p:cNvSpPr txBox="1"/>
          <p:nvPr/>
        </p:nvSpPr>
        <p:spPr>
          <a:xfrm>
            <a:off x="51206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Does the organization have the right skills to support and maintain it?</a:t>
            </a:r>
          </a:p>
        </p:txBody>
      </p:sp>
      <p:sp>
        <p:nvSpPr>
          <p:cNvPr id="37" name="Rectangle 36"/>
          <p:cNvSpPr/>
          <p:nvPr/>
        </p:nvSpPr>
        <p:spPr>
          <a:xfrm>
            <a:off x="530352" y="3902202"/>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0352" y="3902202"/>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76656" y="4048506"/>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6656" y="407136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7</a:t>
            </a:r>
          </a:p>
        </p:txBody>
      </p:sp>
      <p:sp>
        <p:nvSpPr>
          <p:cNvPr id="41" name="TextBox 40"/>
          <p:cNvSpPr txBox="1"/>
          <p:nvPr/>
        </p:nvSpPr>
        <p:spPr>
          <a:xfrm>
            <a:off x="1005840" y="4011930"/>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Does it have sufficient automation capabilities?</a:t>
            </a:r>
          </a:p>
        </p:txBody>
      </p:sp>
      <p:sp>
        <p:nvSpPr>
          <p:cNvPr id="42" name="Rectangle 41"/>
          <p:cNvSpPr/>
          <p:nvPr/>
        </p:nvSpPr>
        <p:spPr>
          <a:xfrm>
            <a:off x="4645152" y="3902202"/>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645152" y="3902202"/>
            <a:ext cx="41148" cy="7795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791456" y="4048506"/>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91456" y="407136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8</a:t>
            </a:r>
          </a:p>
        </p:txBody>
      </p:sp>
      <p:sp>
        <p:nvSpPr>
          <p:cNvPr id="46" name="TextBox 45"/>
          <p:cNvSpPr txBox="1"/>
          <p:nvPr/>
        </p:nvSpPr>
        <p:spPr>
          <a:xfrm>
            <a:off x="5120640" y="4011930"/>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Does it have additional capabilities that can be leveraged?</a:t>
            </a:r>
          </a:p>
        </p:txBody>
      </p:sp>
      <p:sp>
        <p:nvSpPr>
          <p:cNvPr id="47" name="TextBox 46"/>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8" name="TextBox 47"/>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9" name="TextBox 48"/>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03</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Information and Technology Dimension</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2000267"/>
            <a:ext cx="7436632" cy="1897346"/>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03</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Partners and Suppliers Dimension</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3033098" y="1316736"/>
            <a:ext cx="3077803"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The partners and suppliers dimension encompasses an organization’s relations with other organizations that are involved in the design, development, deployment, delivery, support, and/or continual improvement of services.</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03</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Supplier Strategy Considerations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353312"/>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1</a:t>
            </a:r>
          </a:p>
        </p:txBody>
      </p:sp>
      <p:sp>
        <p:nvSpPr>
          <p:cNvPr id="11" name="TextBox 10"/>
          <p:cNvSpPr txBox="1"/>
          <p:nvPr/>
        </p:nvSpPr>
        <p:spPr>
          <a:xfrm>
            <a:off x="10058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Strategic focus</a:t>
            </a:r>
          </a:p>
        </p:txBody>
      </p:sp>
      <p:sp>
        <p:nvSpPr>
          <p:cNvPr id="12" name="Rectangle 11"/>
          <p:cNvSpPr/>
          <p:nvPr/>
        </p:nvSpPr>
        <p:spPr>
          <a:xfrm>
            <a:off x="46451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45152" y="1207008"/>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91456" y="1353312"/>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4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2</a:t>
            </a:r>
          </a:p>
        </p:txBody>
      </p:sp>
      <p:sp>
        <p:nvSpPr>
          <p:cNvPr id="16" name="TextBox 15"/>
          <p:cNvSpPr txBox="1"/>
          <p:nvPr/>
        </p:nvSpPr>
        <p:spPr>
          <a:xfrm>
            <a:off x="51206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Resource scarcity</a:t>
            </a:r>
          </a:p>
        </p:txBody>
      </p:sp>
      <p:sp>
        <p:nvSpPr>
          <p:cNvPr id="17" name="Rectangle 16"/>
          <p:cNvSpPr/>
          <p:nvPr/>
        </p:nvSpPr>
        <p:spPr>
          <a:xfrm>
            <a:off x="5303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105406"/>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251710"/>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3</a:t>
            </a:r>
          </a:p>
        </p:txBody>
      </p:sp>
      <p:sp>
        <p:nvSpPr>
          <p:cNvPr id="21" name="TextBox 20"/>
          <p:cNvSpPr txBox="1"/>
          <p:nvPr/>
        </p:nvSpPr>
        <p:spPr>
          <a:xfrm>
            <a:off x="10058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Corporate culture</a:t>
            </a:r>
          </a:p>
        </p:txBody>
      </p:sp>
      <p:sp>
        <p:nvSpPr>
          <p:cNvPr id="22" name="Rectangle 21"/>
          <p:cNvSpPr/>
          <p:nvPr/>
        </p:nvSpPr>
        <p:spPr>
          <a:xfrm>
            <a:off x="46451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45152" y="2105406"/>
            <a:ext cx="41148" cy="7795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91456" y="2251710"/>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914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4</a:t>
            </a:r>
          </a:p>
        </p:txBody>
      </p:sp>
      <p:sp>
        <p:nvSpPr>
          <p:cNvPr id="26" name="TextBox 25"/>
          <p:cNvSpPr txBox="1"/>
          <p:nvPr/>
        </p:nvSpPr>
        <p:spPr>
          <a:xfrm>
            <a:off x="51206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Demand patterns</a:t>
            </a:r>
          </a:p>
        </p:txBody>
      </p:sp>
      <p:sp>
        <p:nvSpPr>
          <p:cNvPr id="27" name="Rectangle 26"/>
          <p:cNvSpPr/>
          <p:nvPr/>
        </p:nvSpPr>
        <p:spPr>
          <a:xfrm>
            <a:off x="5303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3003804"/>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15010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5</a:t>
            </a:r>
          </a:p>
        </p:txBody>
      </p:sp>
      <p:sp>
        <p:nvSpPr>
          <p:cNvPr id="31" name="TextBox 30"/>
          <p:cNvSpPr txBox="1"/>
          <p:nvPr/>
        </p:nvSpPr>
        <p:spPr>
          <a:xfrm>
            <a:off x="10058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Cost concerns</a:t>
            </a:r>
          </a:p>
        </p:txBody>
      </p:sp>
      <p:sp>
        <p:nvSpPr>
          <p:cNvPr id="32" name="Rectangle 31"/>
          <p:cNvSpPr/>
          <p:nvPr/>
        </p:nvSpPr>
        <p:spPr>
          <a:xfrm>
            <a:off x="46451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645152" y="3003804"/>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91456" y="315010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14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6</a:t>
            </a:r>
          </a:p>
        </p:txBody>
      </p:sp>
      <p:sp>
        <p:nvSpPr>
          <p:cNvPr id="36" name="TextBox 35"/>
          <p:cNvSpPr txBox="1"/>
          <p:nvPr/>
        </p:nvSpPr>
        <p:spPr>
          <a:xfrm>
            <a:off x="51206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Subject matter expertise</a:t>
            </a:r>
          </a:p>
        </p:txBody>
      </p:sp>
      <p:sp>
        <p:nvSpPr>
          <p:cNvPr id="37" name="Rectangle 36"/>
          <p:cNvSpPr/>
          <p:nvPr/>
        </p:nvSpPr>
        <p:spPr>
          <a:xfrm>
            <a:off x="530352" y="3902202"/>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0352" y="3902202"/>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76656" y="4048506"/>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6656" y="407136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7</a:t>
            </a:r>
          </a:p>
        </p:txBody>
      </p:sp>
      <p:sp>
        <p:nvSpPr>
          <p:cNvPr id="41" name="TextBox 40"/>
          <p:cNvSpPr txBox="1"/>
          <p:nvPr/>
        </p:nvSpPr>
        <p:spPr>
          <a:xfrm>
            <a:off x="1005840" y="4011930"/>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External constraints</a:t>
            </a:r>
          </a:p>
        </p:txBody>
      </p:sp>
      <p:sp>
        <p:nvSpPr>
          <p:cNvPr id="42" name="TextBox 4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3" name="TextBox 4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4" name="TextBox 4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03</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Partners and Suppliers Dimension</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523718"/>
            <a:ext cx="7436632" cy="2850443"/>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03</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Partners and Suppliers Dimension</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2246137"/>
            <a:ext cx="7436632" cy="1405605"/>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03</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Value Stream and Processes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3014890" y="1316736"/>
            <a:ext cx="3114219"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Applied to the organization and its SVS, the value streams and processes dimension is concerned with how the various parts of the organization work in an integrated and coordinated way to enable value creation through products and services.</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03</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Value Streams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 VALUE STREAM is a series of steps an organisation undertakes to create and deliver products and services to consumers.</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It is a specific combination of service value chain activities, arranged for a particular scenario.</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Value streams are designed around the consumer's journey, not around the organisation's departments.</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Mapping a value stream exposes bottlenecks, waste, rework and hand-off delays that no single team can see.</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Improving the value stream is how an organisation improves the end-to-end experience rather than a local step.</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A NEW-STARTER VALUE STREAM</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Request → approve → provision accounts → issue laptop → grant access → confirm ready — crossing HR, IT and facilities.</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Value STREAM = the end-to-end path for one scenario. Value CHAIN = the six generic activities it draws on.</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03</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Value Streams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506440"/>
            <a:ext cx="7436632" cy="2884999"/>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03</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Processes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 PROCESS is a set of interrelated or interacting activities that transforms inputs into outputs.</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 process defines the sequence of actions and their dependencies — what is done, in what order, to achieve an objective.</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Processes describe WHAT is done; procedures describe HOW; work instructions describe the detailed steps for a specific role.</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Well-defined processes improve productivity within and across organisations, and make outcomes repeatable.</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Processes should be designed to produce a specific outcome for a specific stakeholder — never for their own sake.</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HIERARCHY IN PRACTICE</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Process: handle an incident. Procedure: how the service desk triages it. Work instruction: the exact steps to reset an AD password.</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Work instruction = HOW something is carried out, in detail, for one role. This exact distinction is examined.</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03</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Process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684791"/>
            <a:ext cx="7436632" cy="2208257"/>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Process is a set of interrelated or interacting activities that transforms inputs to outputs. Processes define the sequence of of activities and their dependencies</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03</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Processes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949503" y="1329538"/>
            <a:ext cx="5244994"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03</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Value Streams and Processes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2116005"/>
            <a:ext cx="7436632" cy="1665869"/>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03</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Value Streams and Processes — Considerations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 same structure applies at every level: VALUE STREAMS, then PROCESSES, then PROCEDURES, then WORK INSTRUCTIONS.</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Ask what the value streams are for each service, and how they are currently performing.</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Ask which activities are performed, in what order, and who is accountable for each.</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Identify bottlenecks, unnecessary hand-offs, rework and waste — they hide in the gaps between teams.</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Optimise the flow of work end-to-end, not the efficiency of any single step in isolation.</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WHERE WASTE HIDES</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A request approved in 5 minutes but waiting 3 days between two teams: the delay is entirely in the hand-off.</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Structure order: value stream → process → procedure → work instruction. Learn it in that direction.</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17</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Which dimension addresses the activities organization undertake, and how they are organized to efficiently and effectively enable value co-creation for stakeholders?</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Organization and people</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Information and technology</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Suppliers and partners</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Value Stream and processes</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18</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Which dimension will be more concern in relation to nature of the business of the company?</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Organization and people</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Information and technology</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Suppliers and partner</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Value Stream and processes</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19</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If a company have a comprehensive plan to manage its existing organization complexity structure for growth, which dimension is this belong to?</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Organization and people</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Information and technology</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Suppliers and partner</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Value stream and processes</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20</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Value stream is defined as: services</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A series of procedures that organization uses to create and deliver products and</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A series of activities flow that show organization contribute to growth</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A series of step that organization uses to create and deliver products and services</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Service offering from the resources through product creation</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21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What is work instruction?</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What is carried out</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When is carried out</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Who is carried out</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How is carried out</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2024" cy="51435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691640"/>
            <a:ext cx="91440"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737360"/>
            <a:ext cx="6583680" cy="310896"/>
          </a:xfrm>
          <a:prstGeom prst="rect">
            <a:avLst/>
          </a:prstGeom>
          <a:noFill/>
        </p:spPr>
        <p:txBody>
          <a:bodyPr wrap="square" anchor="t">
            <a:spAutoFit/>
          </a:bodyPr>
          <a:lstStyle/>
          <a:p>
            <a:pPr algn="l">
              <a:spcAft>
                <a:spcPts val="300"/>
              </a:spcAft>
            </a:pPr>
            <a:r>
              <a:rPr sz="1200" b="1">
                <a:solidFill>
                  <a:srgbClr val="1F6FEB"/>
                </a:solidFill>
                <a:latin typeface="Arial"/>
              </a:rPr>
              <a:t>TOPIC 04</a:t>
            </a:r>
          </a:p>
        </p:txBody>
      </p:sp>
      <p:sp>
        <p:nvSpPr>
          <p:cNvPr id="6" name="TextBox 5"/>
          <p:cNvSpPr txBox="1"/>
          <p:nvPr/>
        </p:nvSpPr>
        <p:spPr>
          <a:xfrm>
            <a:off x="841248" y="2066543"/>
            <a:ext cx="6949440" cy="1097280"/>
          </a:xfrm>
          <a:prstGeom prst="rect">
            <a:avLst/>
          </a:prstGeom>
          <a:noFill/>
        </p:spPr>
        <p:txBody>
          <a:bodyPr wrap="square" anchor="t">
            <a:spAutoFit/>
          </a:bodyPr>
          <a:lstStyle/>
          <a:p>
            <a:pPr algn="l">
              <a:spcAft>
                <a:spcPts val="300"/>
              </a:spcAft>
            </a:pPr>
            <a:r>
              <a:rPr sz="2700" b="1">
                <a:solidFill>
                  <a:srgbClr val="161B26"/>
                </a:solidFill>
                <a:latin typeface="Arial"/>
              </a:rPr>
              <a:t>The Service Value System</a:t>
            </a:r>
          </a:p>
        </p:txBody>
      </p:sp>
      <p:sp>
        <p:nvSpPr>
          <p:cNvPr id="7" name="TextBox 6"/>
          <p:cNvSpPr txBox="1"/>
          <p:nvPr/>
        </p:nvSpPr>
        <p:spPr>
          <a:xfrm>
            <a:off x="859536" y="3127248"/>
            <a:ext cx="6949440" cy="640080"/>
          </a:xfrm>
          <a:prstGeom prst="rect">
            <a:avLst/>
          </a:prstGeom>
          <a:noFill/>
        </p:spPr>
        <p:txBody>
          <a:bodyPr wrap="square" anchor="t">
            <a:spAutoFit/>
          </a:bodyPr>
          <a:lstStyle/>
          <a:p>
            <a:pPr algn="l">
              <a:spcAft>
                <a:spcPts val="300"/>
              </a:spcAft>
            </a:pPr>
            <a:r>
              <a:rPr sz="1000" b="0">
                <a:solidFill>
                  <a:srgbClr val="5B6372"/>
                </a:solidFill>
                <a:latin typeface="Arial"/>
              </a:rPr>
              <a:t>ITIL SVS · Plan · Improve · Engage · Design and Transition · Obtain/Build · Deliver and Support</a:t>
            </a:r>
          </a:p>
        </p:txBody>
      </p:sp>
      <p:sp>
        <p:nvSpPr>
          <p:cNvPr id="8" name="TextBox 7"/>
          <p:cNvSpPr txBox="1"/>
          <p:nvPr/>
        </p:nvSpPr>
        <p:spPr>
          <a:xfrm>
            <a:off x="6949440" y="640080"/>
            <a:ext cx="1737360" cy="1188720"/>
          </a:xfrm>
          <a:prstGeom prst="rect">
            <a:avLst/>
          </a:prstGeom>
          <a:noFill/>
        </p:spPr>
        <p:txBody>
          <a:bodyPr wrap="square" anchor="t">
            <a:spAutoFit/>
          </a:bodyPr>
          <a:lstStyle/>
          <a:p>
            <a:pPr algn="r">
              <a:spcAft>
                <a:spcPts val="300"/>
              </a:spcAft>
            </a:pPr>
            <a:r>
              <a:rPr sz="6000" b="1">
                <a:solidFill>
                  <a:srgbClr val="E8EEF7"/>
                </a:solidFill>
                <a:latin typeface="Arial"/>
              </a:rPr>
              <a:t>04</a:t>
            </a:r>
          </a:p>
        </p:txBody>
      </p:sp>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Topics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353312"/>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1</a:t>
            </a:r>
          </a:p>
        </p:txBody>
      </p:sp>
      <p:sp>
        <p:nvSpPr>
          <p:cNvPr id="11" name="TextBox 10"/>
          <p:cNvSpPr txBox="1"/>
          <p:nvPr/>
        </p:nvSpPr>
        <p:spPr>
          <a:xfrm>
            <a:off x="10058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ITIL service value system</a:t>
            </a:r>
          </a:p>
        </p:txBody>
      </p:sp>
      <p:sp>
        <p:nvSpPr>
          <p:cNvPr id="12" name="Rectangle 11"/>
          <p:cNvSpPr/>
          <p:nvPr/>
        </p:nvSpPr>
        <p:spPr>
          <a:xfrm>
            <a:off x="46451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45152" y="1207008"/>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91456" y="1353312"/>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4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2</a:t>
            </a:r>
          </a:p>
        </p:txBody>
      </p:sp>
      <p:sp>
        <p:nvSpPr>
          <p:cNvPr id="16" name="TextBox 15"/>
          <p:cNvSpPr txBox="1"/>
          <p:nvPr/>
        </p:nvSpPr>
        <p:spPr>
          <a:xfrm>
            <a:off x="51206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Plan</a:t>
            </a:r>
          </a:p>
        </p:txBody>
      </p:sp>
      <p:sp>
        <p:nvSpPr>
          <p:cNvPr id="17" name="Rectangle 16"/>
          <p:cNvSpPr/>
          <p:nvPr/>
        </p:nvSpPr>
        <p:spPr>
          <a:xfrm>
            <a:off x="5303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105406"/>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251710"/>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3</a:t>
            </a:r>
          </a:p>
        </p:txBody>
      </p:sp>
      <p:sp>
        <p:nvSpPr>
          <p:cNvPr id="21" name="TextBox 20"/>
          <p:cNvSpPr txBox="1"/>
          <p:nvPr/>
        </p:nvSpPr>
        <p:spPr>
          <a:xfrm>
            <a:off x="10058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Improve</a:t>
            </a:r>
          </a:p>
        </p:txBody>
      </p:sp>
      <p:sp>
        <p:nvSpPr>
          <p:cNvPr id="22" name="Rectangle 21"/>
          <p:cNvSpPr/>
          <p:nvPr/>
        </p:nvSpPr>
        <p:spPr>
          <a:xfrm>
            <a:off x="46451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45152" y="2105406"/>
            <a:ext cx="41148" cy="7795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91456" y="2251710"/>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914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4</a:t>
            </a:r>
          </a:p>
        </p:txBody>
      </p:sp>
      <p:sp>
        <p:nvSpPr>
          <p:cNvPr id="26" name="TextBox 25"/>
          <p:cNvSpPr txBox="1"/>
          <p:nvPr/>
        </p:nvSpPr>
        <p:spPr>
          <a:xfrm>
            <a:off x="51206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Engage</a:t>
            </a:r>
          </a:p>
        </p:txBody>
      </p:sp>
      <p:sp>
        <p:nvSpPr>
          <p:cNvPr id="27" name="Rectangle 26"/>
          <p:cNvSpPr/>
          <p:nvPr/>
        </p:nvSpPr>
        <p:spPr>
          <a:xfrm>
            <a:off x="5303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3003804"/>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15010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5</a:t>
            </a:r>
          </a:p>
        </p:txBody>
      </p:sp>
      <p:sp>
        <p:nvSpPr>
          <p:cNvPr id="31" name="TextBox 30"/>
          <p:cNvSpPr txBox="1"/>
          <p:nvPr/>
        </p:nvSpPr>
        <p:spPr>
          <a:xfrm>
            <a:off x="10058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Design &amp; transition</a:t>
            </a:r>
          </a:p>
        </p:txBody>
      </p:sp>
      <p:sp>
        <p:nvSpPr>
          <p:cNvPr id="32" name="Rectangle 31"/>
          <p:cNvSpPr/>
          <p:nvPr/>
        </p:nvSpPr>
        <p:spPr>
          <a:xfrm>
            <a:off x="46451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645152" y="3003804"/>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91456" y="315010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14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6</a:t>
            </a:r>
          </a:p>
        </p:txBody>
      </p:sp>
      <p:sp>
        <p:nvSpPr>
          <p:cNvPr id="36" name="TextBox 35"/>
          <p:cNvSpPr txBox="1"/>
          <p:nvPr/>
        </p:nvSpPr>
        <p:spPr>
          <a:xfrm>
            <a:off x="51206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Obtain/build</a:t>
            </a:r>
          </a:p>
        </p:txBody>
      </p:sp>
      <p:sp>
        <p:nvSpPr>
          <p:cNvPr id="37" name="Rectangle 36"/>
          <p:cNvSpPr/>
          <p:nvPr/>
        </p:nvSpPr>
        <p:spPr>
          <a:xfrm>
            <a:off x="530352" y="3902202"/>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0352" y="3902202"/>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76656" y="4048506"/>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6656" y="407136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7</a:t>
            </a:r>
          </a:p>
        </p:txBody>
      </p:sp>
      <p:sp>
        <p:nvSpPr>
          <p:cNvPr id="41" name="TextBox 40"/>
          <p:cNvSpPr txBox="1"/>
          <p:nvPr/>
        </p:nvSpPr>
        <p:spPr>
          <a:xfrm>
            <a:off x="1005840" y="4011930"/>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Deliver &amp; support</a:t>
            </a:r>
          </a:p>
        </p:txBody>
      </p:sp>
      <p:sp>
        <p:nvSpPr>
          <p:cNvPr id="42" name="TextBox 4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3" name="TextBox 4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4" name="TextBox 4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The ITIL Service Value System at a Glance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2"/>
          <a:stretch>
            <a:fillRect/>
          </a:stretch>
        </p:blipFill>
        <p:spPr>
          <a:xfrm>
            <a:off x="1693062" y="1329538"/>
            <a:ext cx="5757875"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ITIL Service Value Chain</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034021" y="1329538"/>
            <a:ext cx="5075957"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Value Chain Activities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883189" y="1329538"/>
            <a:ext cx="5377621"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Value Stream of Activities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136904" y="1316736"/>
            <a:ext cx="6870191"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Service value chain activities represent the steps an organization takes in the creation of value. Each activity contributes to the value chain by transforming specific inputs into outputs. To convert inputs into outputs, the value chain activities use different combinations of ITIL practices. Each activity may draw upon internal or third-party resources, processes, skills, and competencies from one or more practices.</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The Six Service Value Chain Activities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338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338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20724"/>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34440"/>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338328"/>
          </a:xfrm>
          <a:prstGeom prst="rect">
            <a:avLst/>
          </a:prstGeom>
          <a:noFill/>
        </p:spPr>
        <p:txBody>
          <a:bodyPr wrap="square" anchor="ctr">
            <a:spAutoFit/>
          </a:bodyPr>
          <a:lstStyle/>
          <a:p>
            <a:pPr algn="l">
              <a:spcAft>
                <a:spcPts val="300"/>
              </a:spcAft>
            </a:pPr>
            <a:r>
              <a:rPr sz="900" b="0">
                <a:solidFill>
                  <a:srgbClr val="161B26"/>
                </a:solidFill>
                <a:latin typeface="Arial"/>
              </a:rPr>
              <a:t>PLAN — ensures a shared understanding of the vision, current status and improvement direction for all four dimensions.</a:t>
            </a:r>
          </a:p>
        </p:txBody>
      </p:sp>
      <p:sp>
        <p:nvSpPr>
          <p:cNvPr id="12" name="Rectangle 11"/>
          <p:cNvSpPr/>
          <p:nvPr/>
        </p:nvSpPr>
        <p:spPr>
          <a:xfrm>
            <a:off x="530352" y="1554480"/>
            <a:ext cx="8083296" cy="338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554480"/>
            <a:ext cx="36576" cy="338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604772"/>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618488"/>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554480"/>
            <a:ext cx="7498079" cy="338328"/>
          </a:xfrm>
          <a:prstGeom prst="rect">
            <a:avLst/>
          </a:prstGeom>
          <a:noFill/>
        </p:spPr>
        <p:txBody>
          <a:bodyPr wrap="square" anchor="ctr">
            <a:spAutoFit/>
          </a:bodyPr>
          <a:lstStyle/>
          <a:p>
            <a:pPr algn="l">
              <a:spcAft>
                <a:spcPts val="300"/>
              </a:spcAft>
            </a:pPr>
            <a:r>
              <a:rPr sz="900" b="0">
                <a:solidFill>
                  <a:srgbClr val="161B26"/>
                </a:solidFill>
                <a:latin typeface="Arial"/>
              </a:rPr>
              <a:t>IMPROVE — ensures continual improvement of products, services and practices across all value chain activities.</a:t>
            </a:r>
          </a:p>
        </p:txBody>
      </p:sp>
      <p:sp>
        <p:nvSpPr>
          <p:cNvPr id="17" name="Rectangle 16"/>
          <p:cNvSpPr/>
          <p:nvPr/>
        </p:nvSpPr>
        <p:spPr>
          <a:xfrm>
            <a:off x="530352" y="1938528"/>
            <a:ext cx="8083296" cy="338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1938528"/>
            <a:ext cx="36576" cy="338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198882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00253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1938528"/>
            <a:ext cx="7498079" cy="338328"/>
          </a:xfrm>
          <a:prstGeom prst="rect">
            <a:avLst/>
          </a:prstGeom>
          <a:noFill/>
        </p:spPr>
        <p:txBody>
          <a:bodyPr wrap="square" anchor="ctr">
            <a:spAutoFit/>
          </a:bodyPr>
          <a:lstStyle/>
          <a:p>
            <a:pPr algn="l">
              <a:spcAft>
                <a:spcPts val="300"/>
              </a:spcAft>
            </a:pPr>
            <a:r>
              <a:rPr sz="900" b="0">
                <a:solidFill>
                  <a:srgbClr val="161B26"/>
                </a:solidFill>
                <a:latin typeface="Arial"/>
              </a:rPr>
              <a:t>ENGAGE — provides a good understanding of stakeholder needs, transparency, and continual engagement and good relationships.</a:t>
            </a:r>
          </a:p>
        </p:txBody>
      </p:sp>
      <p:sp>
        <p:nvSpPr>
          <p:cNvPr id="22" name="Rectangle 21"/>
          <p:cNvSpPr/>
          <p:nvPr/>
        </p:nvSpPr>
        <p:spPr>
          <a:xfrm>
            <a:off x="530352" y="2322576"/>
            <a:ext cx="8083296" cy="338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322576"/>
            <a:ext cx="36576" cy="338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372868"/>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386584"/>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322576"/>
            <a:ext cx="7498079" cy="338328"/>
          </a:xfrm>
          <a:prstGeom prst="rect">
            <a:avLst/>
          </a:prstGeom>
          <a:noFill/>
        </p:spPr>
        <p:txBody>
          <a:bodyPr wrap="square" anchor="ctr">
            <a:spAutoFit/>
          </a:bodyPr>
          <a:lstStyle/>
          <a:p>
            <a:pPr algn="l">
              <a:spcAft>
                <a:spcPts val="300"/>
              </a:spcAft>
            </a:pPr>
            <a:r>
              <a:rPr sz="900" b="0">
                <a:solidFill>
                  <a:srgbClr val="161B26"/>
                </a:solidFill>
                <a:latin typeface="Arial"/>
              </a:rPr>
              <a:t>DESIGN AND TRANSITION — ensures products and services continually meet stakeholder expectations for quality, cost and time to market.</a:t>
            </a:r>
          </a:p>
        </p:txBody>
      </p:sp>
      <p:sp>
        <p:nvSpPr>
          <p:cNvPr id="27" name="Rectangle 26"/>
          <p:cNvSpPr/>
          <p:nvPr/>
        </p:nvSpPr>
        <p:spPr>
          <a:xfrm>
            <a:off x="530352" y="2706624"/>
            <a:ext cx="8083296" cy="338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706624"/>
            <a:ext cx="36576" cy="338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2756916"/>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2770632"/>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706624"/>
            <a:ext cx="7498079" cy="338328"/>
          </a:xfrm>
          <a:prstGeom prst="rect">
            <a:avLst/>
          </a:prstGeom>
          <a:noFill/>
        </p:spPr>
        <p:txBody>
          <a:bodyPr wrap="square" anchor="ctr">
            <a:spAutoFit/>
          </a:bodyPr>
          <a:lstStyle/>
          <a:p>
            <a:pPr algn="l">
              <a:spcAft>
                <a:spcPts val="300"/>
              </a:spcAft>
            </a:pPr>
            <a:r>
              <a:rPr sz="900" b="0">
                <a:solidFill>
                  <a:srgbClr val="161B26"/>
                </a:solidFill>
                <a:latin typeface="Arial"/>
              </a:rPr>
              <a:t>OBTAIN/BUILD — ensures service components are available when and where needed, and that they meet agreed specifications.</a:t>
            </a:r>
          </a:p>
        </p:txBody>
      </p:sp>
      <p:sp>
        <p:nvSpPr>
          <p:cNvPr id="32" name="Rectangle 31"/>
          <p:cNvSpPr/>
          <p:nvPr/>
        </p:nvSpPr>
        <p:spPr>
          <a:xfrm>
            <a:off x="530352" y="3090672"/>
            <a:ext cx="8083296" cy="338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090672"/>
            <a:ext cx="36576" cy="338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6656" y="3140964"/>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 y="3154680"/>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6</a:t>
            </a:r>
          </a:p>
        </p:txBody>
      </p:sp>
      <p:sp>
        <p:nvSpPr>
          <p:cNvPr id="36" name="TextBox 35"/>
          <p:cNvSpPr txBox="1"/>
          <p:nvPr/>
        </p:nvSpPr>
        <p:spPr>
          <a:xfrm>
            <a:off x="987552" y="3090672"/>
            <a:ext cx="7498079" cy="338328"/>
          </a:xfrm>
          <a:prstGeom prst="rect">
            <a:avLst/>
          </a:prstGeom>
          <a:noFill/>
        </p:spPr>
        <p:txBody>
          <a:bodyPr wrap="square" anchor="ctr">
            <a:spAutoFit/>
          </a:bodyPr>
          <a:lstStyle/>
          <a:p>
            <a:pPr algn="l">
              <a:spcAft>
                <a:spcPts val="300"/>
              </a:spcAft>
            </a:pPr>
            <a:r>
              <a:rPr sz="900" b="0">
                <a:solidFill>
                  <a:srgbClr val="161B26"/>
                </a:solidFill>
                <a:latin typeface="Arial"/>
              </a:rPr>
              <a:t>DELIVER AND SUPPORT — ensures services are delivered and supported according to agreed specifications and expectations.</a:t>
            </a:r>
          </a:p>
        </p:txBody>
      </p:sp>
      <p:sp>
        <p:nvSpPr>
          <p:cNvPr id="37" name="Rectangle 36"/>
          <p:cNvSpPr/>
          <p:nvPr/>
        </p:nvSpPr>
        <p:spPr>
          <a:xfrm>
            <a:off x="530352" y="3529584"/>
            <a:ext cx="3968496" cy="111556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0352" y="3529584"/>
            <a:ext cx="36576" cy="11155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6656" y="3575304"/>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THEY INTERCONNECT</a:t>
            </a:r>
          </a:p>
        </p:txBody>
      </p:sp>
      <p:sp>
        <p:nvSpPr>
          <p:cNvPr id="40" name="TextBox 39"/>
          <p:cNvSpPr txBox="1"/>
          <p:nvPr/>
        </p:nvSpPr>
        <p:spPr>
          <a:xfrm>
            <a:off x="676656" y="3730752"/>
            <a:ext cx="3712464" cy="859536"/>
          </a:xfrm>
          <a:prstGeom prst="rect">
            <a:avLst/>
          </a:prstGeom>
          <a:noFill/>
        </p:spPr>
        <p:txBody>
          <a:bodyPr wrap="square" anchor="t">
            <a:spAutoFit/>
          </a:bodyPr>
          <a:lstStyle/>
          <a:p>
            <a:pPr algn="l">
              <a:spcAft>
                <a:spcPts val="300"/>
              </a:spcAft>
            </a:pPr>
            <a:r>
              <a:rPr sz="850" b="0">
                <a:solidFill>
                  <a:srgbClr val="161B26"/>
                </a:solidFill>
                <a:latin typeface="Arial"/>
              </a:rPr>
              <a:t>'Engage' captures a requirement, 'design and transition' shapes it, 'obtain/build' assembles it, 'deliver and support' runs it.</a:t>
            </a:r>
          </a:p>
        </p:txBody>
      </p:sp>
      <p:sp>
        <p:nvSpPr>
          <p:cNvPr id="41" name="Rectangle 40"/>
          <p:cNvSpPr/>
          <p:nvPr/>
        </p:nvSpPr>
        <p:spPr>
          <a:xfrm>
            <a:off x="4645152" y="3529584"/>
            <a:ext cx="3968496" cy="111556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645152" y="3529584"/>
            <a:ext cx="36576" cy="11155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91456" y="3575304"/>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44" name="TextBox 43"/>
          <p:cNvSpPr txBox="1"/>
          <p:nvPr/>
        </p:nvSpPr>
        <p:spPr>
          <a:xfrm>
            <a:off x="4791456" y="3730752"/>
            <a:ext cx="3712464" cy="859536"/>
          </a:xfrm>
          <a:prstGeom prst="rect">
            <a:avLst/>
          </a:prstGeom>
          <a:noFill/>
        </p:spPr>
        <p:txBody>
          <a:bodyPr wrap="square" anchor="t">
            <a:spAutoFit/>
          </a:bodyPr>
          <a:lstStyle/>
          <a:p>
            <a:pPr algn="l">
              <a:spcAft>
                <a:spcPts val="300"/>
              </a:spcAft>
            </a:pPr>
            <a:r>
              <a:rPr sz="850" b="0">
                <a:solidFill>
                  <a:srgbClr val="161B26"/>
                </a:solidFill>
                <a:latin typeface="Arial"/>
              </a:rPr>
              <a:t>Learn the one-sentence PURPOSE of each activity — they are examined by their opening phrase.</a:t>
            </a:r>
          </a:p>
        </p:txBody>
      </p:sp>
      <p:sp>
        <p:nvSpPr>
          <p:cNvPr id="45" name="TextBox 44"/>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6" name="TextBox 45"/>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7" name="TextBox 46"/>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Plan — Value Chain Activity</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PURPOSE: to ensure a shared understanding of the vision, current status and improvement direction for all four dimensions and all products and services across the organisation.</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Plan sets direction; it does not do the work — it makes sure everyone is heading the same way.</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Key inputs: policies, requirements and constraints from governance; consolidated demand and opportunity; improvement initiatives.</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Key outputs: strategic, tactical and operational plans; portfolio decisions; architectures and policies.</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Applies at every level — enterprise strategy down to the plan for a single service.</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TYPICAL TRIGGER</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Annual service portfolio review deciding which services to invest in, sustain or retire.</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If a question mentions 'vision, current status and improvement direction', the answer is PLAN.</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Improve — Value Chain Activity</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PURPOSE: to ensure continual improvement of products, services and practices across all value chain activities and all four dimensions.</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Improve is a value chain ACTIVITY; continual improvement is also an SVS component and a PRACTICE — the same idea at three levels.</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Improvement work is driven by measurement: you cannot improve what you do not measure.</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Key inputs: performance information, stakeholder feedback, improvement opportunities from every other activity.</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Key outputs: improvement initiatives and plans, updated performance information, value chain performance reports.</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TYPICAL TRIGGER</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Repeat incidents on one service prompt a problem review and a permanent fix rather than another restart.</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Improve appears in the value chain AND as a practice AND as an SVS component — all three are examinable.</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PDCA Cycle (Deming Cycle)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960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353312"/>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1</a:t>
            </a:r>
          </a:p>
        </p:txBody>
      </p:sp>
      <p:sp>
        <p:nvSpPr>
          <p:cNvPr id="11" name="TextBox 10"/>
          <p:cNvSpPr txBox="1"/>
          <p:nvPr/>
        </p:nvSpPr>
        <p:spPr>
          <a:xfrm>
            <a:off x="1005840" y="1316736"/>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PDCA (Plan-Do-Check-Act) is a cyclic process used for continuous improvement of processes and products. It is also known as the Deming Cycle or Shewhart Cycle. The cycle consists of four steps:</a:t>
            </a:r>
          </a:p>
        </p:txBody>
      </p:sp>
      <p:sp>
        <p:nvSpPr>
          <p:cNvPr id="12" name="Rectangle 11"/>
          <p:cNvSpPr/>
          <p:nvPr/>
        </p:nvSpPr>
        <p:spPr>
          <a:xfrm>
            <a:off x="4645152" y="1207008"/>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45152" y="1207008"/>
            <a:ext cx="41148"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91456" y="1353312"/>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4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2</a:t>
            </a:r>
          </a:p>
        </p:txBody>
      </p:sp>
      <p:sp>
        <p:nvSpPr>
          <p:cNvPr id="16" name="TextBox 15"/>
          <p:cNvSpPr txBox="1"/>
          <p:nvPr/>
        </p:nvSpPr>
        <p:spPr>
          <a:xfrm>
            <a:off x="5120640" y="1316736"/>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Plan: Identify an opportunity for improvement and plan for change. This involves setting objectives and processes necessary to deliver results in accordance with the expected output.</a:t>
            </a:r>
          </a:p>
        </p:txBody>
      </p:sp>
      <p:sp>
        <p:nvSpPr>
          <p:cNvPr id="17" name="Rectangle 16"/>
          <p:cNvSpPr/>
          <p:nvPr/>
        </p:nvSpPr>
        <p:spPr>
          <a:xfrm>
            <a:off x="530352" y="2286000"/>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286000"/>
            <a:ext cx="41148" cy="960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432304"/>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455164"/>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3</a:t>
            </a:r>
          </a:p>
        </p:txBody>
      </p:sp>
      <p:sp>
        <p:nvSpPr>
          <p:cNvPr id="21" name="TextBox 20"/>
          <p:cNvSpPr txBox="1"/>
          <p:nvPr/>
        </p:nvSpPr>
        <p:spPr>
          <a:xfrm>
            <a:off x="1005840" y="2395728"/>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Do: Implement the plan on a small scale first to test its effectiveness. This is the phase where the plan is put into action, and data is collected for analysis.</a:t>
            </a:r>
          </a:p>
        </p:txBody>
      </p:sp>
      <p:sp>
        <p:nvSpPr>
          <p:cNvPr id="22" name="Rectangle 21"/>
          <p:cNvSpPr/>
          <p:nvPr/>
        </p:nvSpPr>
        <p:spPr>
          <a:xfrm>
            <a:off x="4645152" y="2286000"/>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45152" y="2286000"/>
            <a:ext cx="41148"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91456" y="2432304"/>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91456" y="2455164"/>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4</a:t>
            </a:r>
          </a:p>
        </p:txBody>
      </p:sp>
      <p:sp>
        <p:nvSpPr>
          <p:cNvPr id="26" name="TextBox 25"/>
          <p:cNvSpPr txBox="1"/>
          <p:nvPr/>
        </p:nvSpPr>
        <p:spPr>
          <a:xfrm>
            <a:off x="5120640" y="2395728"/>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Check: Study the results of the implementation and compare them against the expected outcomes. This step involves analyzing the data and identifying any differences between the actual and planned outcomes.</a:t>
            </a:r>
          </a:p>
        </p:txBody>
      </p:sp>
      <p:sp>
        <p:nvSpPr>
          <p:cNvPr id="27" name="Rectangle 26"/>
          <p:cNvSpPr/>
          <p:nvPr/>
        </p:nvSpPr>
        <p:spPr>
          <a:xfrm>
            <a:off x="530352" y="3364992"/>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3364992"/>
            <a:ext cx="41148" cy="960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511296"/>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53415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5</a:t>
            </a:r>
          </a:p>
        </p:txBody>
      </p:sp>
      <p:sp>
        <p:nvSpPr>
          <p:cNvPr id="31" name="TextBox 30"/>
          <p:cNvSpPr txBox="1"/>
          <p:nvPr/>
        </p:nvSpPr>
        <p:spPr>
          <a:xfrm>
            <a:off x="1005840" y="3474720"/>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Act: Based on the results of the Check step, take action to standardize the successful improvements or make necessary adjustments if the results were not as expected. This may involve refining the plan and repeating the cycle.</a:t>
            </a:r>
          </a:p>
        </p:txBody>
      </p:sp>
      <p:sp>
        <p:nvSpPr>
          <p:cNvPr id="32" name="TextBox 3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33" name="TextBox 3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34" name="TextBox 3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The PDCA / Deming Cycle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338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338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20724"/>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34440"/>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338328"/>
          </a:xfrm>
          <a:prstGeom prst="rect">
            <a:avLst/>
          </a:prstGeom>
          <a:noFill/>
        </p:spPr>
        <p:txBody>
          <a:bodyPr wrap="square" anchor="ctr">
            <a:spAutoFit/>
          </a:bodyPr>
          <a:lstStyle/>
          <a:p>
            <a:pPr algn="l">
              <a:spcAft>
                <a:spcPts val="300"/>
              </a:spcAft>
            </a:pPr>
            <a:r>
              <a:rPr sz="900" b="0">
                <a:solidFill>
                  <a:srgbClr val="161B26"/>
                </a:solidFill>
                <a:latin typeface="Arial"/>
              </a:rPr>
              <a:t>PDCA — Plan, Do, Check, Act — is a cyclic method for the continual improvement of processes and products.</a:t>
            </a:r>
          </a:p>
        </p:txBody>
      </p:sp>
      <p:sp>
        <p:nvSpPr>
          <p:cNvPr id="12" name="Rectangle 11"/>
          <p:cNvSpPr/>
          <p:nvPr/>
        </p:nvSpPr>
        <p:spPr>
          <a:xfrm>
            <a:off x="530352" y="1554480"/>
            <a:ext cx="8083296" cy="338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554480"/>
            <a:ext cx="36576" cy="338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604772"/>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618488"/>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554480"/>
            <a:ext cx="7498079" cy="338328"/>
          </a:xfrm>
          <a:prstGeom prst="rect">
            <a:avLst/>
          </a:prstGeom>
          <a:noFill/>
        </p:spPr>
        <p:txBody>
          <a:bodyPr wrap="square" anchor="ctr">
            <a:spAutoFit/>
          </a:bodyPr>
          <a:lstStyle/>
          <a:p>
            <a:pPr algn="l">
              <a:spcAft>
                <a:spcPts val="300"/>
              </a:spcAft>
            </a:pPr>
            <a:r>
              <a:rPr sz="900" b="0">
                <a:solidFill>
                  <a:srgbClr val="161B26"/>
                </a:solidFill>
                <a:latin typeface="Arial"/>
              </a:rPr>
              <a:t>PLAN: identify the problem and objective, and design the change to be tested.</a:t>
            </a:r>
          </a:p>
        </p:txBody>
      </p:sp>
      <p:sp>
        <p:nvSpPr>
          <p:cNvPr id="17" name="Rectangle 16"/>
          <p:cNvSpPr/>
          <p:nvPr/>
        </p:nvSpPr>
        <p:spPr>
          <a:xfrm>
            <a:off x="530352" y="1938528"/>
            <a:ext cx="8083296" cy="338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1938528"/>
            <a:ext cx="36576" cy="338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198882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00253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1938528"/>
            <a:ext cx="7498079" cy="338328"/>
          </a:xfrm>
          <a:prstGeom prst="rect">
            <a:avLst/>
          </a:prstGeom>
          <a:noFill/>
        </p:spPr>
        <p:txBody>
          <a:bodyPr wrap="square" anchor="ctr">
            <a:spAutoFit/>
          </a:bodyPr>
          <a:lstStyle/>
          <a:p>
            <a:pPr algn="l">
              <a:spcAft>
                <a:spcPts val="300"/>
              </a:spcAft>
            </a:pPr>
            <a:r>
              <a:rPr sz="900" b="0">
                <a:solidFill>
                  <a:srgbClr val="161B26"/>
                </a:solidFill>
                <a:latin typeface="Arial"/>
              </a:rPr>
              <a:t>DO: implement the change, ideally on a small scale first.</a:t>
            </a:r>
          </a:p>
        </p:txBody>
      </p:sp>
      <p:sp>
        <p:nvSpPr>
          <p:cNvPr id="22" name="Rectangle 21"/>
          <p:cNvSpPr/>
          <p:nvPr/>
        </p:nvSpPr>
        <p:spPr>
          <a:xfrm>
            <a:off x="530352" y="2322576"/>
            <a:ext cx="8083296" cy="338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322576"/>
            <a:ext cx="36576" cy="338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372868"/>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386584"/>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322576"/>
            <a:ext cx="7498079" cy="338328"/>
          </a:xfrm>
          <a:prstGeom prst="rect">
            <a:avLst/>
          </a:prstGeom>
          <a:noFill/>
        </p:spPr>
        <p:txBody>
          <a:bodyPr wrap="square" anchor="ctr">
            <a:spAutoFit/>
          </a:bodyPr>
          <a:lstStyle/>
          <a:p>
            <a:pPr algn="l">
              <a:spcAft>
                <a:spcPts val="300"/>
              </a:spcAft>
            </a:pPr>
            <a:r>
              <a:rPr sz="900" b="0">
                <a:solidFill>
                  <a:srgbClr val="161B26"/>
                </a:solidFill>
                <a:latin typeface="Arial"/>
              </a:rPr>
              <a:t>CHECK: measure the result against the objective set in the Plan step, using evidence.</a:t>
            </a:r>
          </a:p>
        </p:txBody>
      </p:sp>
      <p:sp>
        <p:nvSpPr>
          <p:cNvPr id="27" name="Rectangle 26"/>
          <p:cNvSpPr/>
          <p:nvPr/>
        </p:nvSpPr>
        <p:spPr>
          <a:xfrm>
            <a:off x="530352" y="2706624"/>
            <a:ext cx="8083296" cy="338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706624"/>
            <a:ext cx="36576" cy="338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2756916"/>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2770632"/>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706624"/>
            <a:ext cx="7498079" cy="338328"/>
          </a:xfrm>
          <a:prstGeom prst="rect">
            <a:avLst/>
          </a:prstGeom>
          <a:noFill/>
        </p:spPr>
        <p:txBody>
          <a:bodyPr wrap="square" anchor="ctr">
            <a:spAutoFit/>
          </a:bodyPr>
          <a:lstStyle/>
          <a:p>
            <a:pPr algn="l">
              <a:spcAft>
                <a:spcPts val="300"/>
              </a:spcAft>
            </a:pPr>
            <a:r>
              <a:rPr sz="900" b="0">
                <a:solidFill>
                  <a:srgbClr val="161B26"/>
                </a:solidFill>
                <a:latin typeface="Arial"/>
              </a:rPr>
              <a:t>ACT: if it worked, standardise and roll it out; if not, adjust and run the cycle again.</a:t>
            </a:r>
          </a:p>
        </p:txBody>
      </p:sp>
      <p:sp>
        <p:nvSpPr>
          <p:cNvPr id="32" name="Rectangle 31"/>
          <p:cNvSpPr/>
          <p:nvPr/>
        </p:nvSpPr>
        <p:spPr>
          <a:xfrm>
            <a:off x="530352" y="3090672"/>
            <a:ext cx="8083296" cy="338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090672"/>
            <a:ext cx="36576" cy="338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6656" y="3140964"/>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 y="3154680"/>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6</a:t>
            </a:r>
          </a:p>
        </p:txBody>
      </p:sp>
      <p:sp>
        <p:nvSpPr>
          <p:cNvPr id="36" name="TextBox 35"/>
          <p:cNvSpPr txBox="1"/>
          <p:nvPr/>
        </p:nvSpPr>
        <p:spPr>
          <a:xfrm>
            <a:off x="987552" y="3090672"/>
            <a:ext cx="7498079" cy="338328"/>
          </a:xfrm>
          <a:prstGeom prst="rect">
            <a:avLst/>
          </a:prstGeom>
          <a:noFill/>
        </p:spPr>
        <p:txBody>
          <a:bodyPr wrap="square" anchor="ctr">
            <a:spAutoFit/>
          </a:bodyPr>
          <a:lstStyle/>
          <a:p>
            <a:pPr algn="l">
              <a:spcAft>
                <a:spcPts val="300"/>
              </a:spcAft>
            </a:pPr>
            <a:r>
              <a:rPr sz="900" b="0">
                <a:solidFill>
                  <a:srgbClr val="161B26"/>
                </a:solidFill>
                <a:latin typeface="Arial"/>
              </a:rPr>
              <a:t>It is a CYCLE, not a project — it repeats, which is exactly what makes improvement continual.</a:t>
            </a:r>
          </a:p>
        </p:txBody>
      </p:sp>
      <p:sp>
        <p:nvSpPr>
          <p:cNvPr id="37" name="Rectangle 36"/>
          <p:cNvSpPr/>
          <p:nvPr/>
        </p:nvSpPr>
        <p:spPr>
          <a:xfrm>
            <a:off x="530352" y="3529584"/>
            <a:ext cx="3968496" cy="111556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0352" y="3529584"/>
            <a:ext cx="36576" cy="11155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6656" y="3575304"/>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A FULL TURN</a:t>
            </a:r>
          </a:p>
        </p:txBody>
      </p:sp>
      <p:sp>
        <p:nvSpPr>
          <p:cNvPr id="40" name="TextBox 39"/>
          <p:cNvSpPr txBox="1"/>
          <p:nvPr/>
        </p:nvSpPr>
        <p:spPr>
          <a:xfrm>
            <a:off x="676656" y="3730752"/>
            <a:ext cx="3712464" cy="859536"/>
          </a:xfrm>
          <a:prstGeom prst="rect">
            <a:avLst/>
          </a:prstGeom>
          <a:noFill/>
        </p:spPr>
        <p:txBody>
          <a:bodyPr wrap="square" anchor="t">
            <a:spAutoFit/>
          </a:bodyPr>
          <a:lstStyle/>
          <a:p>
            <a:pPr algn="l">
              <a:spcAft>
                <a:spcPts val="300"/>
              </a:spcAft>
            </a:pPr>
            <a:r>
              <a:rPr sz="850" b="0">
                <a:solidFill>
                  <a:srgbClr val="161B26"/>
                </a:solidFill>
                <a:latin typeface="Arial"/>
              </a:rPr>
              <a:t>Plan: inconsistent machine settings cause defects. Do: standardise on one line. Check: defects fall 40%. Act: roll out to all lines.</a:t>
            </a:r>
          </a:p>
        </p:txBody>
      </p:sp>
      <p:sp>
        <p:nvSpPr>
          <p:cNvPr id="41" name="Rectangle 40"/>
          <p:cNvSpPr/>
          <p:nvPr/>
        </p:nvSpPr>
        <p:spPr>
          <a:xfrm>
            <a:off x="4645152" y="3529584"/>
            <a:ext cx="3968496" cy="111556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645152" y="3529584"/>
            <a:ext cx="36576" cy="11155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91456" y="3575304"/>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44" name="TextBox 43"/>
          <p:cNvSpPr txBox="1"/>
          <p:nvPr/>
        </p:nvSpPr>
        <p:spPr>
          <a:xfrm>
            <a:off x="4791456" y="3730752"/>
            <a:ext cx="3712464" cy="859536"/>
          </a:xfrm>
          <a:prstGeom prst="rect">
            <a:avLst/>
          </a:prstGeom>
          <a:noFill/>
        </p:spPr>
        <p:txBody>
          <a:bodyPr wrap="square" anchor="t">
            <a:spAutoFit/>
          </a:bodyPr>
          <a:lstStyle/>
          <a:p>
            <a:pPr algn="l">
              <a:spcAft>
                <a:spcPts val="300"/>
              </a:spcAft>
            </a:pPr>
            <a:r>
              <a:rPr sz="850" b="0">
                <a:solidFill>
                  <a:srgbClr val="161B26"/>
                </a:solidFill>
                <a:latin typeface="Arial"/>
              </a:rPr>
              <a:t>PDCA maps onto the continual improvement model — both check the result against a baseline before standardising.</a:t>
            </a:r>
          </a:p>
        </p:txBody>
      </p:sp>
      <p:sp>
        <p:nvSpPr>
          <p:cNvPr id="45" name="TextBox 44"/>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6" name="TextBox 45"/>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7" name="TextBox 46"/>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Engage — Value Chain Activity</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PURPOSE: to provide a good understanding of stakeholder needs, transparency, and continual engagement and good relationships with all stakeholders.</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Stakeholders include customers, users, sponsors, suppliers, partners, regulators and internal teams.</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Engage is the primary point of contact with the outside world — it is where demand and feedback enter the SVS.</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Key inputs: consumer demand, user requests and incidents, supplier information, market opportunity.</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Key outputs: consolidated demand and opportunity, service performance reports, contract and agreement requirements.</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TYPICAL TRIGGER</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A quarterly service review with the customer that reshapes the improvement backlog.</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'Transparency and good relationships with ALL stakeholders' is the signature phrase for ENGAGE.</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172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Design and Transition — Value Chain Activity</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PURPOSE: to ensure products and services continually meet stakeholder expectations for QUALITY, COST and TIME TO MARKET.</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Covers design of the service and its transition into live operation — including testing, validation and release readiness.</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Considers all four dimensions, not only the technology.</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Key inputs: portfolio decisions, requirements from engage, improvement initiatives, service components from obtain/build.</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Key outputs: requirements and specifications for obtain/build, new and changed services, contract requirements.</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TYPICAL TRIGGER</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A new customer portal moving from design sign-off through UAT to a controlled go-live.</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Three words identify this activity: quality, cost, time to market.</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Obtain / Build — Value Chain Activity</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PURPOSE: to ensure service components are available when and where they are needed, and that they meet agreed specifications.</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Components may be built in-house or obtained from a supplier — the make-or-buy decision sits here.</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Make: builds internal expertise and control, but costs time and capacity.</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Buy: uses supplier expertise and speed, but creates dependency and less control.</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Key outputs: service components, change requests, knowledge and information about components.</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MAKE OR BUY</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Building a bespoke CRM gives exact fit; licensing one gives faster delivery and a supported upgrade path.</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'Available when and where needed, meeting specifications' points to OBTAIN/BUILD.</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Make or Buy Decision</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353312"/>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1</a:t>
            </a:r>
          </a:p>
        </p:txBody>
      </p:sp>
      <p:sp>
        <p:nvSpPr>
          <p:cNvPr id="11" name="TextBox 10"/>
          <p:cNvSpPr txBox="1"/>
          <p:nvPr/>
        </p:nvSpPr>
        <p:spPr>
          <a:xfrm>
            <a:off x="10058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ABC Manufacturing needs to decide whether to produce Widget X in-house or continue buying it from a supplier.</a:t>
            </a:r>
          </a:p>
        </p:txBody>
      </p:sp>
      <p:sp>
        <p:nvSpPr>
          <p:cNvPr id="12" name="Rectangle 11"/>
          <p:cNvSpPr/>
          <p:nvPr/>
        </p:nvSpPr>
        <p:spPr>
          <a:xfrm>
            <a:off x="46451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45152" y="1207008"/>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91456" y="1353312"/>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4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2</a:t>
            </a:r>
          </a:p>
        </p:txBody>
      </p:sp>
      <p:sp>
        <p:nvSpPr>
          <p:cNvPr id="16" name="TextBox 15"/>
          <p:cNvSpPr txBox="1"/>
          <p:nvPr/>
        </p:nvSpPr>
        <p:spPr>
          <a:xfrm>
            <a:off x="51206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Factors:</a:t>
            </a:r>
          </a:p>
        </p:txBody>
      </p:sp>
      <p:sp>
        <p:nvSpPr>
          <p:cNvPr id="17" name="Rectangle 16"/>
          <p:cNvSpPr/>
          <p:nvPr/>
        </p:nvSpPr>
        <p:spPr>
          <a:xfrm>
            <a:off x="5303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105406"/>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251710"/>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3</a:t>
            </a:r>
          </a:p>
        </p:txBody>
      </p:sp>
      <p:sp>
        <p:nvSpPr>
          <p:cNvPr id="21" name="TextBox 20"/>
          <p:cNvSpPr txBox="1"/>
          <p:nvPr/>
        </p:nvSpPr>
        <p:spPr>
          <a:xfrm>
            <a:off x="10058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Cost Analysis:</a:t>
            </a:r>
          </a:p>
        </p:txBody>
      </p:sp>
      <p:sp>
        <p:nvSpPr>
          <p:cNvPr id="22" name="Rectangle 21"/>
          <p:cNvSpPr/>
          <p:nvPr/>
        </p:nvSpPr>
        <p:spPr>
          <a:xfrm>
            <a:off x="46451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45152" y="2105406"/>
            <a:ext cx="41148" cy="7795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91456" y="2251710"/>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914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4</a:t>
            </a:r>
          </a:p>
        </p:txBody>
      </p:sp>
      <p:sp>
        <p:nvSpPr>
          <p:cNvPr id="26" name="TextBox 25"/>
          <p:cNvSpPr txBox="1"/>
          <p:nvPr/>
        </p:nvSpPr>
        <p:spPr>
          <a:xfrm>
            <a:off x="51206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Make: $500,000 initial investment (amortized over 5 years: $100,000/year) + $400,000 annual costs = $500,000/year.</a:t>
            </a:r>
          </a:p>
        </p:txBody>
      </p:sp>
      <p:sp>
        <p:nvSpPr>
          <p:cNvPr id="27" name="Rectangle 26"/>
          <p:cNvSpPr/>
          <p:nvPr/>
        </p:nvSpPr>
        <p:spPr>
          <a:xfrm>
            <a:off x="5303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3003804"/>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15010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5</a:t>
            </a:r>
          </a:p>
        </p:txBody>
      </p:sp>
      <p:sp>
        <p:nvSpPr>
          <p:cNvPr id="31" name="TextBox 30"/>
          <p:cNvSpPr txBox="1"/>
          <p:nvPr/>
        </p:nvSpPr>
        <p:spPr>
          <a:xfrm>
            <a:off x="10058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Buy: $400,000/year.</a:t>
            </a:r>
          </a:p>
        </p:txBody>
      </p:sp>
      <p:sp>
        <p:nvSpPr>
          <p:cNvPr id="32" name="Rectangle 31"/>
          <p:cNvSpPr/>
          <p:nvPr/>
        </p:nvSpPr>
        <p:spPr>
          <a:xfrm>
            <a:off x="46451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645152" y="3003804"/>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91456" y="315010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14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6</a:t>
            </a:r>
          </a:p>
        </p:txBody>
      </p:sp>
      <p:sp>
        <p:nvSpPr>
          <p:cNvPr id="36" name="TextBox 35"/>
          <p:cNvSpPr txBox="1"/>
          <p:nvPr/>
        </p:nvSpPr>
        <p:spPr>
          <a:xfrm>
            <a:off x="51206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Quality Control:</a:t>
            </a:r>
          </a:p>
        </p:txBody>
      </p:sp>
      <p:sp>
        <p:nvSpPr>
          <p:cNvPr id="37" name="Rectangle 36"/>
          <p:cNvSpPr/>
          <p:nvPr/>
        </p:nvSpPr>
        <p:spPr>
          <a:xfrm>
            <a:off x="530352" y="3902202"/>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0352" y="3902202"/>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76656" y="4048506"/>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6656" y="407136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7</a:t>
            </a:r>
          </a:p>
        </p:txBody>
      </p:sp>
      <p:sp>
        <p:nvSpPr>
          <p:cNvPr id="41" name="TextBox 40"/>
          <p:cNvSpPr txBox="1"/>
          <p:nvPr/>
        </p:nvSpPr>
        <p:spPr>
          <a:xfrm>
            <a:off x="1005840" y="4011930"/>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Make: Better quality control and consistency.</a:t>
            </a:r>
          </a:p>
        </p:txBody>
      </p:sp>
      <p:sp>
        <p:nvSpPr>
          <p:cNvPr id="42" name="Rectangle 41"/>
          <p:cNvSpPr/>
          <p:nvPr/>
        </p:nvSpPr>
        <p:spPr>
          <a:xfrm>
            <a:off x="4645152" y="3902202"/>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645152" y="3902202"/>
            <a:ext cx="41148" cy="7795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791456" y="4048506"/>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91456" y="407136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8</a:t>
            </a:r>
          </a:p>
        </p:txBody>
      </p:sp>
      <p:sp>
        <p:nvSpPr>
          <p:cNvPr id="46" name="TextBox 45"/>
          <p:cNvSpPr txBox="1"/>
          <p:nvPr/>
        </p:nvSpPr>
        <p:spPr>
          <a:xfrm>
            <a:off x="5120640" y="4011930"/>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Buy: Dependent on supplier's quality.</a:t>
            </a:r>
          </a:p>
        </p:txBody>
      </p:sp>
      <p:sp>
        <p:nvSpPr>
          <p:cNvPr id="47" name="TextBox 46"/>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8" name="TextBox 47"/>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9" name="TextBox 48"/>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Obtain or Build Value Chain Activity</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353312"/>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1</a:t>
            </a:r>
          </a:p>
        </p:txBody>
      </p:sp>
      <p:sp>
        <p:nvSpPr>
          <p:cNvPr id="11" name="TextBox 10"/>
          <p:cNvSpPr txBox="1"/>
          <p:nvPr/>
        </p:nvSpPr>
        <p:spPr>
          <a:xfrm>
            <a:off x="10058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Core Competencies:</a:t>
            </a:r>
          </a:p>
        </p:txBody>
      </p:sp>
      <p:sp>
        <p:nvSpPr>
          <p:cNvPr id="12" name="Rectangle 11"/>
          <p:cNvSpPr/>
          <p:nvPr/>
        </p:nvSpPr>
        <p:spPr>
          <a:xfrm>
            <a:off x="46451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45152" y="1207008"/>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91456" y="1353312"/>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4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2</a:t>
            </a:r>
          </a:p>
        </p:txBody>
      </p:sp>
      <p:sp>
        <p:nvSpPr>
          <p:cNvPr id="16" name="TextBox 15"/>
          <p:cNvSpPr txBox="1"/>
          <p:nvPr/>
        </p:nvSpPr>
        <p:spPr>
          <a:xfrm>
            <a:off x="51206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Make: Enhances internal expertise.</a:t>
            </a:r>
          </a:p>
        </p:txBody>
      </p:sp>
      <p:sp>
        <p:nvSpPr>
          <p:cNvPr id="17" name="Rectangle 16"/>
          <p:cNvSpPr/>
          <p:nvPr/>
        </p:nvSpPr>
        <p:spPr>
          <a:xfrm>
            <a:off x="5303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105406"/>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251710"/>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3</a:t>
            </a:r>
          </a:p>
        </p:txBody>
      </p:sp>
      <p:sp>
        <p:nvSpPr>
          <p:cNvPr id="21" name="TextBox 20"/>
          <p:cNvSpPr txBox="1"/>
          <p:nvPr/>
        </p:nvSpPr>
        <p:spPr>
          <a:xfrm>
            <a:off x="10058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Buy: Focuses on core activities, uses supplier expertise.</a:t>
            </a:r>
          </a:p>
        </p:txBody>
      </p:sp>
      <p:sp>
        <p:nvSpPr>
          <p:cNvPr id="22" name="Rectangle 21"/>
          <p:cNvSpPr/>
          <p:nvPr/>
        </p:nvSpPr>
        <p:spPr>
          <a:xfrm>
            <a:off x="46451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45152" y="2105406"/>
            <a:ext cx="41148" cy="7795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91456" y="2251710"/>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914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4</a:t>
            </a:r>
          </a:p>
        </p:txBody>
      </p:sp>
      <p:sp>
        <p:nvSpPr>
          <p:cNvPr id="26" name="TextBox 25"/>
          <p:cNvSpPr txBox="1"/>
          <p:nvPr/>
        </p:nvSpPr>
        <p:spPr>
          <a:xfrm>
            <a:off x="51206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Capacity:</a:t>
            </a:r>
          </a:p>
        </p:txBody>
      </p:sp>
      <p:sp>
        <p:nvSpPr>
          <p:cNvPr id="27" name="Rectangle 26"/>
          <p:cNvSpPr/>
          <p:nvPr/>
        </p:nvSpPr>
        <p:spPr>
          <a:xfrm>
            <a:off x="5303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3003804"/>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15010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5</a:t>
            </a:r>
          </a:p>
        </p:txBody>
      </p:sp>
      <p:sp>
        <p:nvSpPr>
          <p:cNvPr id="31" name="TextBox 30"/>
          <p:cNvSpPr txBox="1"/>
          <p:nvPr/>
        </p:nvSpPr>
        <p:spPr>
          <a:xfrm>
            <a:off x="10058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Make: Requires additional capacity.</a:t>
            </a:r>
          </a:p>
        </p:txBody>
      </p:sp>
      <p:sp>
        <p:nvSpPr>
          <p:cNvPr id="32" name="Rectangle 31"/>
          <p:cNvSpPr/>
          <p:nvPr/>
        </p:nvSpPr>
        <p:spPr>
          <a:xfrm>
            <a:off x="46451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645152" y="3003804"/>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91456" y="315010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14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6</a:t>
            </a:r>
          </a:p>
        </p:txBody>
      </p:sp>
      <p:sp>
        <p:nvSpPr>
          <p:cNvPr id="36" name="TextBox 35"/>
          <p:cNvSpPr txBox="1"/>
          <p:nvPr/>
        </p:nvSpPr>
        <p:spPr>
          <a:xfrm>
            <a:off x="51206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Buy: No extra capacity needed.</a:t>
            </a:r>
          </a:p>
        </p:txBody>
      </p:sp>
      <p:sp>
        <p:nvSpPr>
          <p:cNvPr id="37" name="Rectangle 36"/>
          <p:cNvSpPr/>
          <p:nvPr/>
        </p:nvSpPr>
        <p:spPr>
          <a:xfrm>
            <a:off x="530352" y="3902202"/>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0352" y="3902202"/>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76656" y="4048506"/>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6656" y="407136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7</a:t>
            </a:r>
          </a:p>
        </p:txBody>
      </p:sp>
      <p:sp>
        <p:nvSpPr>
          <p:cNvPr id="41" name="TextBox 40"/>
          <p:cNvSpPr txBox="1"/>
          <p:nvPr/>
        </p:nvSpPr>
        <p:spPr>
          <a:xfrm>
            <a:off x="1005840" y="4011930"/>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Decision:</a:t>
            </a:r>
          </a:p>
        </p:txBody>
      </p:sp>
      <p:sp>
        <p:nvSpPr>
          <p:cNvPr id="42" name="Rectangle 41"/>
          <p:cNvSpPr/>
          <p:nvPr/>
        </p:nvSpPr>
        <p:spPr>
          <a:xfrm>
            <a:off x="4645152" y="3902202"/>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645152" y="3902202"/>
            <a:ext cx="41148" cy="7795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791456" y="4048506"/>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91456" y="407136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8</a:t>
            </a:r>
          </a:p>
        </p:txBody>
      </p:sp>
      <p:sp>
        <p:nvSpPr>
          <p:cNvPr id="46" name="TextBox 45"/>
          <p:cNvSpPr txBox="1"/>
          <p:nvPr/>
        </p:nvSpPr>
        <p:spPr>
          <a:xfrm>
            <a:off x="5120640" y="4011930"/>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Cost: Buying is cheaper at $400,000/year vs. $500,000/year for making.</a:t>
            </a:r>
          </a:p>
        </p:txBody>
      </p:sp>
      <p:sp>
        <p:nvSpPr>
          <p:cNvPr id="47" name="TextBox 46"/>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8" name="TextBox 47"/>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9" name="TextBox 48"/>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176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Deliver and Support — Value Chain Activity</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PURPOSE: to ensure services are delivered and supported according to agreed specifications and stakeholders' expectations.</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This is the activity users experience day to day — it is where the service actually runs.</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Includes handling incidents and service requests, and performing routine operational tasks.</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Key inputs: new and changed services, service components, user requests and incidents from engage.</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Key outputs: services delivered to consumers, information on completed tasks, change requests and improvement opportunities.</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TYPICAL TRIGGER</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A user cannot access a shared drive: logged at engage, restored at deliver and support.</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Delivery AND support together — this activity covers both running the service and fixing it.</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177</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Example of Service Value Chain</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690876" y="1329538"/>
            <a:ext cx="3762248"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178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Value Chain</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410476" y="1329538"/>
            <a:ext cx="4323047"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179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Continual Improvement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PURPOSE: to align the organisation's practices and services with changing business needs, through ongoing identification and improvement of every element involved in the management of products and services.</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Continual improvement appears three times in ITIL 4: as an SVS component, a value chain activity, and a practice.</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It applies to every element — services, practices, processes, relationships and the four dimensions.</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Everyone contributes: it is not the job of a dedicated improvement team alone.</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Improvement ideas are captured in a CONTINUAL IMPROVEMENT REGISTER (CIR) so nothing is lost.</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THE REGISTER</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A CIR lets a small idea from a service-desk agent be assessed and prioritised alongside a strategic initiative.</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The database or structured document used to track improvement ideas is the Continual Improvement Register (CIR).</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180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Continual Improvement Model</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531662" y="1329538"/>
            <a:ext cx="4080676"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181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Continual Improvement Model</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635426"/>
            <a:ext cx="7436632" cy="2627028"/>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182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Step 1 — What Is the Vision?</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Every improvement initiative must support the organisation's goals and objectives.</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This step sets the vision and defines what success will look like before any work begins.</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It translates organisational vision into a vision for THIS specific improvement.</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Stakeholders must understand and buy into the vision, or the improvement will stall later.</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Skipping this step is the most common reason an improvement delivers change nobody wanted.</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A CLEAR VISION</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'Cut new-starter setup from 5 days to 1' — measurable, time-bound, and obviously tied to a business goal.</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Step 1 is about DIRECTION, not measurement. 'Where are we now?' is Step 2.</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183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Step 1: What is the vision?</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987307"/>
            <a:ext cx="7436632" cy="1923266"/>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184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Step 2 — Where Are We Now?</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 success of an improvement depends on a clear, accurate understanding of the starting point.</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This step performs an objective, evidence-based CURRENT-STATE ASSESSMENT — a baseline.</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Assess existing services, ways of working, people, technology, partners and processes.</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 assessment must be honest: an inaccurate baseline makes every later measurement meaningless.</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Without a baseline you cannot demonstrate at Step 6 that the improvement actually worked.</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THE BASELINE</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Measure the real current setup time — 5.2 days on average — before promising an improvement to 1 day.</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Step 2 = the BASELINE. It is what Step 6 measures against.</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185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Step 2: Where are we now?</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970020"/>
            <a:ext cx="7436632" cy="1957839"/>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186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Step 3 — Where Do We Want to Be?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Step 2 describes Point A; Step 3 describes Point B — the target state.</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Perform a GAP ANALYSIS between the current state and the desired state.</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Define measurable targets and critical success factors, plus the KPIs that will show progress.</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 target must be realistic in the light of Step 2's honest baseline.</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 size of the gap determines whether one iteration is enough or several will be needed.</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GAP ANALYSIS</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Current 5.2 days, target 1 day: a 4.2-day gap, likely to need several iterations rather than one change.</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Step 3 is where GAP ANALYSIS and measurable targets belong.</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187</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Step 3: Where do we want to be?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643574"/>
            <a:ext cx="7436632" cy="2610732"/>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188</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Step 4 — How Do We Get There?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This step produces the plan — the route from Point A to Point B.</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 plan may be a direct route for a simple improvement, or an iterative series of changes for a complex one.</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Applying 'progress iteratively with feedback' here reduces risk and surfaces problems early.</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Experiments and pilots are legitimate: the best route is not always known in advance.</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Each iteration should deliver something of value, not just progress towards a distant end state.</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ITERATING</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Automate account creation first (5.2 → 3 days), then laptop imaging, then access approval.</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Step 4 is the PLAN. Executing it is Step 5.</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189</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Step 4: How do we get there?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593135"/>
            <a:ext cx="7436632" cy="2711610"/>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190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Step 5 — Take Action</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In this step the plan for the improvement is acted upon — the work is actually done.</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 approach may be traditional and sequential, or agile and iterative with experiments.</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Change enablement, project management and organisational change management all support this step.</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Progress must be tracked, and the plan adjusted when reality differs from expectation.</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Communication matters as much as delivery: people affected by the change need to know what is happening.</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TAKING ACTION</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Building and releasing the automated account-creation workflow into production.</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Step 5 is EXECUTION. Checking whether it worked is Step 6.</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191</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Step 5: Take action</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348500"/>
            <a:ext cx="7436632" cy="3200880"/>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192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Step 6 — Did We Get There?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It is too often assumed that once an improvement is in motion, the expected benefits were achieved.</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This step CHECKS the outcome against the Step 2 baseline and the Step 3 targets, using evidence.</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If the target was met, confirm and communicate it with data.</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If it was not, that is not a failure — it is information. Return to an earlier step and iterate.</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Honest measurement here is what separates real improvement from an assumption of improvement.</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CHECKING</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Measured setup time now 1.4 days: a genuine gain, short of the 1-day target — so iterate again.</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Step 6 verifies against the BASELINE from Step 2. This link is examined.</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193</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Step 6: Did we get there?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368051"/>
            <a:ext cx="7436632" cy="3161778"/>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194</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Step 7 — How Do We Keep the Momentum Going?</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If the improvement delivered the expected value, the focus shifts to MARKETING that success and reinforcing the new ways of working.</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Embed the change so the organisation does not quietly drift back to the old behaviour.</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Share the result: visible success builds support and appetite for the next improvement.</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Update documentation, training and the continual improvement register.</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Momentum is the point — continual improvement is a recurring activity, not a one-off project.</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KEEPING MOMENTUM</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Publishing the setup-time result to the business, then opening the next improvement from the CIR.</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Step 7 is about REINFORCING and MARKETING the improvement so it sticks.</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195</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Step 7: How do we keep the momentum going?</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170166" y="1329538"/>
            <a:ext cx="6803667"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196</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Continual Improvement Model</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583525"/>
            <a:ext cx="7436632" cy="2730829"/>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197</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22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Which value chain activity provides a good understanding of stakeholder needs, and promotes transparency, continual engagement and good relationships with all stakeholders?</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Obtain or build</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Plan</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Improve</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Engage</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198</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23</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Which value chain activity to ensure that service components are available when and where needed, and that they meet agreed-upon specifications?</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Engage</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Design and transition</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Obtain or build</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Plan</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199</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24</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Which value chain activity to ensure that products and services continually meet stakeholder expectations for quality, cost and time to market?</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Plan</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Improve</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Deliver and support</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Design and transition</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200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2024" cy="51435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691640"/>
            <a:ext cx="91440"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737360"/>
            <a:ext cx="6583680" cy="310896"/>
          </a:xfrm>
          <a:prstGeom prst="rect">
            <a:avLst/>
          </a:prstGeom>
          <a:noFill/>
        </p:spPr>
        <p:txBody>
          <a:bodyPr wrap="square" anchor="t">
            <a:spAutoFit/>
          </a:bodyPr>
          <a:lstStyle/>
          <a:p>
            <a:pPr algn="l">
              <a:spcAft>
                <a:spcPts val="300"/>
              </a:spcAft>
            </a:pPr>
            <a:r>
              <a:rPr sz="1200" b="1">
                <a:solidFill>
                  <a:srgbClr val="1F6FEB"/>
                </a:solidFill>
                <a:latin typeface="Arial"/>
              </a:rPr>
              <a:t>TOPIC 05</a:t>
            </a:r>
          </a:p>
        </p:txBody>
      </p:sp>
      <p:sp>
        <p:nvSpPr>
          <p:cNvPr id="6" name="TextBox 5"/>
          <p:cNvSpPr txBox="1"/>
          <p:nvPr/>
        </p:nvSpPr>
        <p:spPr>
          <a:xfrm>
            <a:off x="841248" y="2066543"/>
            <a:ext cx="6949440" cy="1097280"/>
          </a:xfrm>
          <a:prstGeom prst="rect">
            <a:avLst/>
          </a:prstGeom>
          <a:noFill/>
        </p:spPr>
        <p:txBody>
          <a:bodyPr wrap="square" anchor="t">
            <a:spAutoFit/>
          </a:bodyPr>
          <a:lstStyle/>
          <a:p>
            <a:pPr algn="l">
              <a:spcAft>
                <a:spcPts val="300"/>
              </a:spcAft>
            </a:pPr>
            <a:r>
              <a:rPr sz="2700" b="1">
                <a:solidFill>
                  <a:srgbClr val="161B26"/>
                </a:solidFill>
                <a:latin typeface="Arial"/>
              </a:rPr>
              <a:t>ITIL Practices</a:t>
            </a:r>
          </a:p>
        </p:txBody>
      </p:sp>
      <p:sp>
        <p:nvSpPr>
          <p:cNvPr id="7" name="TextBox 6"/>
          <p:cNvSpPr txBox="1"/>
          <p:nvPr/>
        </p:nvSpPr>
        <p:spPr>
          <a:xfrm>
            <a:off x="859536" y="3127248"/>
            <a:ext cx="6949440" cy="640080"/>
          </a:xfrm>
          <a:prstGeom prst="rect">
            <a:avLst/>
          </a:prstGeom>
          <a:noFill/>
        </p:spPr>
        <p:txBody>
          <a:bodyPr wrap="square" anchor="t">
            <a:spAutoFit/>
          </a:bodyPr>
          <a:lstStyle/>
          <a:p>
            <a:pPr algn="l">
              <a:spcAft>
                <a:spcPts val="300"/>
              </a:spcAft>
            </a:pPr>
            <a:r>
              <a:rPr sz="1000" b="0">
                <a:solidFill>
                  <a:srgbClr val="5B6372"/>
                </a:solidFill>
                <a:latin typeface="Arial"/>
              </a:rPr>
              <a:t>Continual Improvement · Change Enablement · Incident · Problem · Service Request · Service Desk · Service Level Management</a:t>
            </a:r>
          </a:p>
        </p:txBody>
      </p:sp>
      <p:sp>
        <p:nvSpPr>
          <p:cNvPr id="8" name="TextBox 7"/>
          <p:cNvSpPr txBox="1"/>
          <p:nvPr/>
        </p:nvSpPr>
        <p:spPr>
          <a:xfrm>
            <a:off x="6949440" y="640080"/>
            <a:ext cx="1737360" cy="1188720"/>
          </a:xfrm>
          <a:prstGeom prst="rect">
            <a:avLst/>
          </a:prstGeom>
          <a:noFill/>
        </p:spPr>
        <p:txBody>
          <a:bodyPr wrap="square" anchor="t">
            <a:spAutoFit/>
          </a:bodyPr>
          <a:lstStyle/>
          <a:p>
            <a:pPr algn="r">
              <a:spcAft>
                <a:spcPts val="300"/>
              </a:spcAft>
            </a:pPr>
            <a:r>
              <a:rPr sz="6000" b="1">
                <a:solidFill>
                  <a:srgbClr val="E8EEF7"/>
                </a:solidFill>
                <a:latin typeface="Arial"/>
              </a:rPr>
              <a:t>05</a:t>
            </a:r>
          </a:p>
        </p:txBody>
      </p:sp>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201</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Topics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353312"/>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1</a:t>
            </a:r>
          </a:p>
        </p:txBody>
      </p:sp>
      <p:sp>
        <p:nvSpPr>
          <p:cNvPr id="11" name="TextBox 10"/>
          <p:cNvSpPr txBox="1"/>
          <p:nvPr/>
        </p:nvSpPr>
        <p:spPr>
          <a:xfrm>
            <a:off x="10058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ITIL Practices</a:t>
            </a:r>
          </a:p>
        </p:txBody>
      </p:sp>
      <p:sp>
        <p:nvSpPr>
          <p:cNvPr id="12" name="Rectangle 11"/>
          <p:cNvSpPr/>
          <p:nvPr/>
        </p:nvSpPr>
        <p:spPr>
          <a:xfrm>
            <a:off x="46451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45152" y="1207008"/>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91456" y="1353312"/>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4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2</a:t>
            </a:r>
          </a:p>
        </p:txBody>
      </p:sp>
      <p:sp>
        <p:nvSpPr>
          <p:cNvPr id="16" name="TextBox 15"/>
          <p:cNvSpPr txBox="1"/>
          <p:nvPr/>
        </p:nvSpPr>
        <p:spPr>
          <a:xfrm>
            <a:off x="51206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Continual improvement</a:t>
            </a:r>
          </a:p>
        </p:txBody>
      </p:sp>
      <p:sp>
        <p:nvSpPr>
          <p:cNvPr id="17" name="Rectangle 16"/>
          <p:cNvSpPr/>
          <p:nvPr/>
        </p:nvSpPr>
        <p:spPr>
          <a:xfrm>
            <a:off x="5303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105406"/>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251710"/>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3</a:t>
            </a:r>
          </a:p>
        </p:txBody>
      </p:sp>
      <p:sp>
        <p:nvSpPr>
          <p:cNvPr id="21" name="TextBox 20"/>
          <p:cNvSpPr txBox="1"/>
          <p:nvPr/>
        </p:nvSpPr>
        <p:spPr>
          <a:xfrm>
            <a:off x="10058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Change enablement</a:t>
            </a:r>
          </a:p>
        </p:txBody>
      </p:sp>
      <p:sp>
        <p:nvSpPr>
          <p:cNvPr id="22" name="Rectangle 21"/>
          <p:cNvSpPr/>
          <p:nvPr/>
        </p:nvSpPr>
        <p:spPr>
          <a:xfrm>
            <a:off x="46451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45152" y="2105406"/>
            <a:ext cx="41148" cy="7795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91456" y="2251710"/>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914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4</a:t>
            </a:r>
          </a:p>
        </p:txBody>
      </p:sp>
      <p:sp>
        <p:nvSpPr>
          <p:cNvPr id="26" name="TextBox 25"/>
          <p:cNvSpPr txBox="1"/>
          <p:nvPr/>
        </p:nvSpPr>
        <p:spPr>
          <a:xfrm>
            <a:off x="51206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Incident management</a:t>
            </a:r>
          </a:p>
        </p:txBody>
      </p:sp>
      <p:sp>
        <p:nvSpPr>
          <p:cNvPr id="27" name="Rectangle 26"/>
          <p:cNvSpPr/>
          <p:nvPr/>
        </p:nvSpPr>
        <p:spPr>
          <a:xfrm>
            <a:off x="5303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3003804"/>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15010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5</a:t>
            </a:r>
          </a:p>
        </p:txBody>
      </p:sp>
      <p:sp>
        <p:nvSpPr>
          <p:cNvPr id="31" name="TextBox 30"/>
          <p:cNvSpPr txBox="1"/>
          <p:nvPr/>
        </p:nvSpPr>
        <p:spPr>
          <a:xfrm>
            <a:off x="10058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Problem management</a:t>
            </a:r>
          </a:p>
        </p:txBody>
      </p:sp>
      <p:sp>
        <p:nvSpPr>
          <p:cNvPr id="32" name="Rectangle 31"/>
          <p:cNvSpPr/>
          <p:nvPr/>
        </p:nvSpPr>
        <p:spPr>
          <a:xfrm>
            <a:off x="46451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645152" y="3003804"/>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91456" y="315010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14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6</a:t>
            </a:r>
          </a:p>
        </p:txBody>
      </p:sp>
      <p:sp>
        <p:nvSpPr>
          <p:cNvPr id="36" name="TextBox 35"/>
          <p:cNvSpPr txBox="1"/>
          <p:nvPr/>
        </p:nvSpPr>
        <p:spPr>
          <a:xfrm>
            <a:off x="51206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Service request management</a:t>
            </a:r>
          </a:p>
        </p:txBody>
      </p:sp>
      <p:sp>
        <p:nvSpPr>
          <p:cNvPr id="37" name="Rectangle 36"/>
          <p:cNvSpPr/>
          <p:nvPr/>
        </p:nvSpPr>
        <p:spPr>
          <a:xfrm>
            <a:off x="530352" y="3902202"/>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0352" y="3902202"/>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76656" y="4048506"/>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6656" y="407136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7</a:t>
            </a:r>
          </a:p>
        </p:txBody>
      </p:sp>
      <p:sp>
        <p:nvSpPr>
          <p:cNvPr id="41" name="TextBox 40"/>
          <p:cNvSpPr txBox="1"/>
          <p:nvPr/>
        </p:nvSpPr>
        <p:spPr>
          <a:xfrm>
            <a:off x="1005840" y="4011930"/>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Service desk</a:t>
            </a:r>
          </a:p>
        </p:txBody>
      </p:sp>
      <p:sp>
        <p:nvSpPr>
          <p:cNvPr id="42" name="Rectangle 41"/>
          <p:cNvSpPr/>
          <p:nvPr/>
        </p:nvSpPr>
        <p:spPr>
          <a:xfrm>
            <a:off x="4645152" y="3902202"/>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645152" y="3902202"/>
            <a:ext cx="41148" cy="7795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791456" y="4048506"/>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91456" y="407136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8</a:t>
            </a:r>
          </a:p>
        </p:txBody>
      </p:sp>
      <p:sp>
        <p:nvSpPr>
          <p:cNvPr id="46" name="TextBox 45"/>
          <p:cNvSpPr txBox="1"/>
          <p:nvPr/>
        </p:nvSpPr>
        <p:spPr>
          <a:xfrm>
            <a:off x="5120640" y="4011930"/>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Service level management</a:t>
            </a:r>
          </a:p>
        </p:txBody>
      </p:sp>
      <p:sp>
        <p:nvSpPr>
          <p:cNvPr id="47" name="TextBox 46"/>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8" name="TextBox 47"/>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9" name="TextBox 48"/>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202</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What Is a Practice?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 PRACTICE is a set of organisational resources designed for performing work or accomplishing an objective.</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ITIL 4 defines 34 practices, grouped into three categories.</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GENERAL MANAGEMENT practices (14) — adopted from general business, e.g. continual improvement, information security management, relationship management, supplier management.</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SERVICE MANAGEMENT practices (17) — developed in service management, e.g. incident management, problem management, change enablement, service desk, service level management.</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TECHNICAL MANAGEMENT practices (3) — adapted from technology management, e.g. deployment management, infrastructure and platform management, software development and management.</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PRACTICES, NOT PROCESSES</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A practice includes the people, tools, information and processes needed — it is broader than a process alone.</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34 practices in 3 groups: 14 general management, 17 service management, 3 technical management.</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203</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The 34 ITIL Practices — Three Groups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 practice is a set of organisational resources designed for performing work or accomplishing an objective.</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GENERAL MANAGEMENT PRACTICES (14) — adopted from general business management, e.g. continual improvement, information security management, relationship management, supplier management.</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SERVICE MANAGEMENT PRACTICES (17) — developed within service management, e.g. incident management, problem management, change enablement, service desk, service level management.</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TECHNICAL MANAGEMENT PRACTICES (3) — adapted from technology management: deployment management, infrastructure and platform management, and software development and management.</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 practice is broader than a process: it includes the people, tools, information and processes required to do the work.</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WHY 'PRACTICE' NOT 'PROCESS'</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Incident management needs a process, but also trained agents, a tool, a knowledge base and an escalation path.</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34 practices = 14 general + 17 service + 3 technical. The three technical ones are worth memorising.</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204</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ITIL Practices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700256" y="1329538"/>
            <a:ext cx="5743487"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205</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General Practices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738976" y="1329538"/>
            <a:ext cx="5666047"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206</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Practices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087167" y="1329538"/>
            <a:ext cx="4969665"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207</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Technical Practices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2278665"/>
            <a:ext cx="7436632" cy="1340550"/>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208</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General Management Practices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8083296" cy="3474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5720" cy="3474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426464"/>
            <a:ext cx="7406640" cy="3108960"/>
          </a:xfrm>
          <a:prstGeom prst="rect">
            <a:avLst/>
          </a:prstGeom>
          <a:noFill/>
        </p:spPr>
        <p:txBody>
          <a:bodyPr wrap="square" anchor="t">
            <a:spAutoFit/>
          </a:bodyPr>
          <a:lstStyle/>
          <a:p>
            <a:pPr algn="l">
              <a:spcAft>
                <a:spcPts val="800"/>
              </a:spcAft>
            </a:pPr>
            <a:r>
              <a:rPr sz="1050" b="0">
                <a:solidFill>
                  <a:srgbClr val="161B26"/>
                </a:solidFill>
                <a:latin typeface="Arial"/>
              </a:rPr>
              <a:t>•  Continual Improvement</a:t>
            </a:r>
          </a:p>
          <a:p>
            <a:pPr algn="l">
              <a:spcAft>
                <a:spcPts val="800"/>
              </a:spcAft>
            </a:pPr>
            <a:r>
              <a:rPr sz="1050" b="0">
                <a:solidFill>
                  <a:srgbClr val="161B26"/>
                </a:solidFill>
                <a:latin typeface="Arial"/>
              </a:rPr>
              <a:t>•  Information Security Management</a:t>
            </a:r>
          </a:p>
          <a:p>
            <a:pPr algn="l">
              <a:spcAft>
                <a:spcPts val="800"/>
              </a:spcAft>
            </a:pPr>
            <a:r>
              <a:rPr sz="1050" b="0">
                <a:solidFill>
                  <a:srgbClr val="161B26"/>
                </a:solidFill>
                <a:latin typeface="Arial"/>
              </a:rPr>
              <a:t>•  Relationship Management</a:t>
            </a:r>
          </a:p>
          <a:p>
            <a:pPr algn="l">
              <a:spcAft>
                <a:spcPts val="800"/>
              </a:spcAft>
            </a:pPr>
            <a:r>
              <a:rPr sz="1050" b="0">
                <a:solidFill>
                  <a:srgbClr val="161B26"/>
                </a:solidFill>
                <a:latin typeface="Arial"/>
              </a:rPr>
              <a:t>•  Supplier Management</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209</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Information Security Management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PURPOSE: to protect the information needed by the organisation to conduct its business.</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Covers CONFIDENTIALITY (only the right people see it), INTEGRITY (it is accurate and complete) and AVAILABILITY (it is there when needed).</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Also covers authentication (the person is who they claim) and non-repudiation (an action cannot later be denied).</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Security must balance PROTECTION against AVAILABILITY — controls so tight that nobody can work have failed.</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It is a general management practice: it applies across every service, not only to IT systems.</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THE BALANCE</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Mandatory MFA on a clinical system protects records, but must not lock a clinician out during an emergency.</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CIA — confidentiality, integrity, availability — is the core of this practice.</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210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Information Security Management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660856" y="1329538"/>
            <a:ext cx="5822288"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211</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Example of IT Security Attack: DDOS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264772" y="1329538"/>
            <a:ext cx="6614455"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212</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Popular IT Security Certifications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480270" y="1329538"/>
            <a:ext cx="4183459"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213</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1700" b="1">
                <a:solidFill>
                  <a:srgbClr val="161B26"/>
                </a:solidFill>
                <a:latin typeface="Arial"/>
              </a:rPr>
              <a:t>Scenario: Implementing Information Security Management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411480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922961" y="1329538"/>
            <a:ext cx="3329582" cy="3238804"/>
          </a:xfrm>
          <a:prstGeom prst="rect">
            <a:avLst/>
          </a:prstGeom>
        </p:spPr>
      </p:pic>
      <p:sp>
        <p:nvSpPr>
          <p:cNvPr id="9" name="Rectangle 8"/>
          <p:cNvSpPr/>
          <p:nvPr/>
        </p:nvSpPr>
        <p:spPr>
          <a:xfrm>
            <a:off x="4828032" y="1188720"/>
            <a:ext cx="3785615"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28032" y="1188720"/>
            <a:ext cx="41148"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10912" y="1353312"/>
            <a:ext cx="3474720" cy="3246120"/>
          </a:xfrm>
          <a:prstGeom prst="rect">
            <a:avLst/>
          </a:prstGeom>
          <a:noFill/>
        </p:spPr>
        <p:txBody>
          <a:bodyPr wrap="square" anchor="t">
            <a:spAutoFit/>
          </a:bodyPr>
          <a:lstStyle/>
          <a:p>
            <a:pPr algn="l">
              <a:spcAft>
                <a:spcPts val="600"/>
              </a:spcAft>
            </a:pPr>
            <a:r>
              <a:rPr sz="950" b="0">
                <a:solidFill>
                  <a:srgbClr val="161B26"/>
                </a:solidFill>
                <a:latin typeface="Arial"/>
              </a:rPr>
              <a:t>•  ABC Corporation is a mid-sized company providing IT services to various clients. The company has been growing rapidly and has decided to adopt ITIL best practices to improve its IT service management. One of the critical areas identified for improvement is Information Security Management (ISM) to ensure the confidentiality, integrity, and availability of information asset</a:t>
            </a:r>
          </a:p>
          <a:p>
            <a:pPr algn="l">
              <a:spcAft>
                <a:spcPts val="600"/>
              </a:spcAft>
            </a:pPr>
            <a:r>
              <a:rPr sz="950" b="0">
                <a:solidFill>
                  <a:srgbClr val="161B26"/>
                </a:solidFill>
                <a:latin typeface="Arial"/>
              </a:rPr>
              <a:t>•  Objectives:</a:t>
            </a:r>
          </a:p>
          <a:p>
            <a:pPr algn="l">
              <a:spcAft>
                <a:spcPts val="600"/>
              </a:spcAft>
            </a:pPr>
            <a:r>
              <a:rPr sz="950" b="0">
                <a:solidFill>
                  <a:srgbClr val="161B26"/>
                </a:solidFill>
                <a:latin typeface="Arial"/>
              </a:rPr>
              <a:t>•  Establish a robust Information Security Management System (ISMS) in line with ITIL guidelines.</a:t>
            </a:r>
          </a:p>
          <a:p>
            <a:pPr algn="l">
              <a:spcAft>
                <a:spcPts val="600"/>
              </a:spcAft>
            </a:pPr>
            <a:r>
              <a:rPr sz="950" b="0">
                <a:solidFill>
                  <a:srgbClr val="161B26"/>
                </a:solidFill>
                <a:latin typeface="Arial"/>
              </a:rPr>
              <a:t>•  Protect sensitive data from unauthorized access and breaches.</a:t>
            </a:r>
          </a:p>
          <a:p>
            <a:pPr algn="l">
              <a:spcAft>
                <a:spcPts val="600"/>
              </a:spcAft>
            </a:pPr>
            <a:r>
              <a:rPr sz="950" b="0">
                <a:solidFill>
                  <a:srgbClr val="161B26"/>
                </a:solidFill>
                <a:latin typeface="Arial"/>
              </a:rPr>
              <a:t>•  Ensure compliance with relevant regulations and standards.</a:t>
            </a:r>
          </a:p>
          <a:p>
            <a:pPr algn="l">
              <a:spcAft>
                <a:spcPts val="600"/>
              </a:spcAft>
            </a:pPr>
            <a:r>
              <a:rPr sz="950" b="0">
                <a:solidFill>
                  <a:srgbClr val="161B26"/>
                </a:solidFill>
                <a:latin typeface="Arial"/>
              </a:rPr>
              <a:t>•  Enhance trust with clients by demonstrating strong security practices.</a:t>
            </a:r>
          </a:p>
        </p:txBody>
      </p:sp>
      <p:sp>
        <p:nvSpPr>
          <p:cNvPr id="12" name="TextBox 1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3" name="TextBox 1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4" name="TextBox 1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214</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1700" b="1">
                <a:solidFill>
                  <a:srgbClr val="161B26"/>
                </a:solidFill>
                <a:latin typeface="Arial"/>
              </a:rPr>
              <a:t>Scenario: Implementing Information Security Management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411480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988390" y="1329538"/>
            <a:ext cx="3198724" cy="3238804"/>
          </a:xfrm>
          <a:prstGeom prst="rect">
            <a:avLst/>
          </a:prstGeom>
        </p:spPr>
      </p:pic>
      <p:sp>
        <p:nvSpPr>
          <p:cNvPr id="9" name="Rectangle 8"/>
          <p:cNvSpPr/>
          <p:nvPr/>
        </p:nvSpPr>
        <p:spPr>
          <a:xfrm>
            <a:off x="4828032" y="1188720"/>
            <a:ext cx="3785615"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28032" y="1188720"/>
            <a:ext cx="41148"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10912" y="1353312"/>
            <a:ext cx="3474720" cy="3246120"/>
          </a:xfrm>
          <a:prstGeom prst="rect">
            <a:avLst/>
          </a:prstGeom>
          <a:noFill/>
        </p:spPr>
        <p:txBody>
          <a:bodyPr wrap="square" anchor="t">
            <a:spAutoFit/>
          </a:bodyPr>
          <a:lstStyle/>
          <a:p>
            <a:pPr algn="l">
              <a:spcAft>
                <a:spcPts val="600"/>
              </a:spcAft>
            </a:pPr>
            <a:r>
              <a:rPr sz="950" b="0">
                <a:solidFill>
                  <a:srgbClr val="161B26"/>
                </a:solidFill>
                <a:latin typeface="Arial"/>
              </a:rPr>
              <a:t>•  Key Stakeholders:</a:t>
            </a:r>
          </a:p>
          <a:p>
            <a:pPr algn="l">
              <a:spcAft>
                <a:spcPts val="600"/>
              </a:spcAft>
            </a:pPr>
            <a:r>
              <a:rPr sz="950" b="0">
                <a:solidFill>
                  <a:srgbClr val="161B26"/>
                </a:solidFill>
                <a:latin typeface="Arial"/>
              </a:rPr>
              <a:t>•  IT Security Manager</a:t>
            </a:r>
          </a:p>
          <a:p>
            <a:pPr algn="l">
              <a:spcAft>
                <a:spcPts val="600"/>
              </a:spcAft>
            </a:pPr>
            <a:r>
              <a:rPr sz="950" b="0">
                <a:solidFill>
                  <a:srgbClr val="161B26"/>
                </a:solidFill>
                <a:latin typeface="Arial"/>
              </a:rPr>
              <a:t>•  Service Desk Manager</a:t>
            </a:r>
          </a:p>
          <a:p>
            <a:pPr algn="l">
              <a:spcAft>
                <a:spcPts val="600"/>
              </a:spcAft>
            </a:pPr>
            <a:r>
              <a:rPr sz="950" b="0">
                <a:solidFill>
                  <a:srgbClr val="161B26"/>
                </a:solidFill>
                <a:latin typeface="Arial"/>
              </a:rPr>
              <a:t>•  IT Operations Team</a:t>
            </a:r>
          </a:p>
          <a:p>
            <a:pPr algn="l">
              <a:spcAft>
                <a:spcPts val="600"/>
              </a:spcAft>
            </a:pPr>
            <a:r>
              <a:rPr sz="950" b="0">
                <a:solidFill>
                  <a:srgbClr val="161B26"/>
                </a:solidFill>
                <a:latin typeface="Arial"/>
              </a:rPr>
              <a:t>•  Compliance Officer</a:t>
            </a:r>
          </a:p>
          <a:p>
            <a:pPr algn="l">
              <a:spcAft>
                <a:spcPts val="600"/>
              </a:spcAft>
            </a:pPr>
            <a:r>
              <a:rPr sz="950" b="0">
                <a:solidFill>
                  <a:srgbClr val="161B26"/>
                </a:solidFill>
                <a:latin typeface="Arial"/>
              </a:rPr>
              <a:t>•  Business Unit Managers</a:t>
            </a:r>
          </a:p>
          <a:p>
            <a:pPr algn="l">
              <a:spcAft>
                <a:spcPts val="600"/>
              </a:spcAft>
            </a:pPr>
            <a:r>
              <a:rPr sz="950" b="0">
                <a:solidFill>
                  <a:srgbClr val="161B26"/>
                </a:solidFill>
                <a:latin typeface="Arial"/>
              </a:rPr>
              <a:t>•  External Auditors</a:t>
            </a:r>
          </a:p>
          <a:p>
            <a:pPr algn="l">
              <a:spcAft>
                <a:spcPts val="600"/>
              </a:spcAft>
            </a:pPr>
            <a:r>
              <a:rPr sz="950" b="0">
                <a:solidFill>
                  <a:srgbClr val="161B26"/>
                </a:solidFill>
                <a:latin typeface="Arial"/>
              </a:rPr>
              <a:t>•  Implementation Steps:</a:t>
            </a:r>
          </a:p>
        </p:txBody>
      </p:sp>
      <p:sp>
        <p:nvSpPr>
          <p:cNvPr id="12" name="TextBox 1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3" name="TextBox 1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4" name="TextBox 1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215</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Relationship Management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PURPOSE: to establish and nurture the links between the organisation and its stakeholders at strategic and tactical levels.</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Covers the identification, analysis, monitoring and continual improvement of relationships with and between stakeholders.</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Ensures stakeholders' needs are understood and that priorities are balanced across competing demands.</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Builds the trust that allows difficult conversations — about cost, risk or capacity — to happen productively.</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Distinct from supplier management: this practice covers ALL stakeholders, not only vendors.</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IN PRACTICE</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A regular business-relationship review that surfaces an upcoming acquisition before IT is asked to absorb it.</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Relationship management = all stakeholders. Supplier management = the supply side specifically.</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216</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Supplier Management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PURPOSE: to ensure the organisation's suppliers and their performance are managed appropriately to support the seamless provision of quality products and services.</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Includes creating closer, more collaborative relationships with key suppliers to uncover and realise new value.</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Activities: evaluating and selecting suppliers, negotiating contracts, managing performance, and managing renewal or termination.</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Strategy considerations include strategic focus, resource scarcity, cost, subject-matter expertise and external constraints.</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Underpinning contracts with suppliers must support the service levels promised to your own customers.</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THE CHAIN</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A 4-hour SLA to the business is undeliverable if the hardware vendor's underpinning contract is next-business-day.</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Supplier commitments must be at least as strong as the SLAs they support — expect a question on this chain.</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217</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Supplier Management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539552" y="1329538"/>
            <a:ext cx="4064896"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218</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Management Practices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353312"/>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1</a:t>
            </a:r>
          </a:p>
        </p:txBody>
      </p:sp>
      <p:sp>
        <p:nvSpPr>
          <p:cNvPr id="11" name="TextBox 10"/>
          <p:cNvSpPr txBox="1"/>
          <p:nvPr/>
        </p:nvSpPr>
        <p:spPr>
          <a:xfrm>
            <a:off x="10058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Change Enablement</a:t>
            </a:r>
          </a:p>
        </p:txBody>
      </p:sp>
      <p:sp>
        <p:nvSpPr>
          <p:cNvPr id="12" name="Rectangle 11"/>
          <p:cNvSpPr/>
          <p:nvPr/>
        </p:nvSpPr>
        <p:spPr>
          <a:xfrm>
            <a:off x="46451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45152" y="1207008"/>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91456" y="1353312"/>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4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2</a:t>
            </a:r>
          </a:p>
        </p:txBody>
      </p:sp>
      <p:sp>
        <p:nvSpPr>
          <p:cNvPr id="16" name="TextBox 15"/>
          <p:cNvSpPr txBox="1"/>
          <p:nvPr/>
        </p:nvSpPr>
        <p:spPr>
          <a:xfrm>
            <a:off x="51206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Incident Management</a:t>
            </a:r>
          </a:p>
        </p:txBody>
      </p:sp>
      <p:sp>
        <p:nvSpPr>
          <p:cNvPr id="17" name="Rectangle 16"/>
          <p:cNvSpPr/>
          <p:nvPr/>
        </p:nvSpPr>
        <p:spPr>
          <a:xfrm>
            <a:off x="5303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105406"/>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251710"/>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3</a:t>
            </a:r>
          </a:p>
        </p:txBody>
      </p:sp>
      <p:sp>
        <p:nvSpPr>
          <p:cNvPr id="21" name="TextBox 20"/>
          <p:cNvSpPr txBox="1"/>
          <p:nvPr/>
        </p:nvSpPr>
        <p:spPr>
          <a:xfrm>
            <a:off x="10058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IT Asset Management</a:t>
            </a:r>
          </a:p>
        </p:txBody>
      </p:sp>
      <p:sp>
        <p:nvSpPr>
          <p:cNvPr id="22" name="Rectangle 21"/>
          <p:cNvSpPr/>
          <p:nvPr/>
        </p:nvSpPr>
        <p:spPr>
          <a:xfrm>
            <a:off x="46451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45152" y="2105406"/>
            <a:ext cx="41148" cy="7795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91456" y="2251710"/>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914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4</a:t>
            </a:r>
          </a:p>
        </p:txBody>
      </p:sp>
      <p:sp>
        <p:nvSpPr>
          <p:cNvPr id="26" name="TextBox 25"/>
          <p:cNvSpPr txBox="1"/>
          <p:nvPr/>
        </p:nvSpPr>
        <p:spPr>
          <a:xfrm>
            <a:off x="51206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Monitoring and Event Management</a:t>
            </a:r>
          </a:p>
        </p:txBody>
      </p:sp>
      <p:sp>
        <p:nvSpPr>
          <p:cNvPr id="27" name="Rectangle 26"/>
          <p:cNvSpPr/>
          <p:nvPr/>
        </p:nvSpPr>
        <p:spPr>
          <a:xfrm>
            <a:off x="5303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3003804"/>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15010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5</a:t>
            </a:r>
          </a:p>
        </p:txBody>
      </p:sp>
      <p:sp>
        <p:nvSpPr>
          <p:cNvPr id="31" name="TextBox 30"/>
          <p:cNvSpPr txBox="1"/>
          <p:nvPr/>
        </p:nvSpPr>
        <p:spPr>
          <a:xfrm>
            <a:off x="10058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Problem Management</a:t>
            </a:r>
          </a:p>
        </p:txBody>
      </p:sp>
      <p:sp>
        <p:nvSpPr>
          <p:cNvPr id="32" name="Rectangle 31"/>
          <p:cNvSpPr/>
          <p:nvPr/>
        </p:nvSpPr>
        <p:spPr>
          <a:xfrm>
            <a:off x="46451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645152" y="3003804"/>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91456" y="315010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14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6</a:t>
            </a:r>
          </a:p>
        </p:txBody>
      </p:sp>
      <p:sp>
        <p:nvSpPr>
          <p:cNvPr id="36" name="TextBox 35"/>
          <p:cNvSpPr txBox="1"/>
          <p:nvPr/>
        </p:nvSpPr>
        <p:spPr>
          <a:xfrm>
            <a:off x="51206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Release Management</a:t>
            </a:r>
          </a:p>
        </p:txBody>
      </p:sp>
      <p:sp>
        <p:nvSpPr>
          <p:cNvPr id="37" name="Rectangle 36"/>
          <p:cNvSpPr/>
          <p:nvPr/>
        </p:nvSpPr>
        <p:spPr>
          <a:xfrm>
            <a:off x="530352" y="3902202"/>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0352" y="3902202"/>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76656" y="4048506"/>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6656" y="407136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7</a:t>
            </a:r>
          </a:p>
        </p:txBody>
      </p:sp>
      <p:sp>
        <p:nvSpPr>
          <p:cNvPr id="41" name="TextBox 40"/>
          <p:cNvSpPr txBox="1"/>
          <p:nvPr/>
        </p:nvSpPr>
        <p:spPr>
          <a:xfrm>
            <a:off x="1005840" y="4011930"/>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Service Configuration Management</a:t>
            </a:r>
          </a:p>
        </p:txBody>
      </p:sp>
      <p:sp>
        <p:nvSpPr>
          <p:cNvPr id="42" name="Rectangle 41"/>
          <p:cNvSpPr/>
          <p:nvPr/>
        </p:nvSpPr>
        <p:spPr>
          <a:xfrm>
            <a:off x="4645152" y="3902202"/>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645152" y="3902202"/>
            <a:ext cx="41148" cy="7795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791456" y="4048506"/>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91456" y="407136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8</a:t>
            </a:r>
          </a:p>
        </p:txBody>
      </p:sp>
      <p:sp>
        <p:nvSpPr>
          <p:cNvPr id="46" name="TextBox 45"/>
          <p:cNvSpPr txBox="1"/>
          <p:nvPr/>
        </p:nvSpPr>
        <p:spPr>
          <a:xfrm>
            <a:off x="5120640" y="4011930"/>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Service Desk</a:t>
            </a:r>
          </a:p>
        </p:txBody>
      </p:sp>
      <p:sp>
        <p:nvSpPr>
          <p:cNvPr id="47" name="TextBox 46"/>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8" name="TextBox 47"/>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9" name="TextBox 48"/>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219</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Change Enablement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PURPOSE: to maximise the number of successful IT changes by ensuring risks are properly assessed, authorising changes to proceed, and managing the change schedule.</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 CHANGE is the addition, modification or removal of anything that could have a direct or indirect effect on services.</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Every change is authorised by a CHANGE AUTHORITY — the person or group with the right to approve it.</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 practice balances SPEED against RISK: too much control and delivery stalls; too little and outages follow.</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It is 'change enablement', not 'change control' — the aim is to enable change safely, not to prevent it.</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BALANCE</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Pre-authorising low-risk standard changes frees the change authority to scrutinise the genuinely risky ones.</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Note the wording: MAXIMISE the number of SUCCESSFUL changes — not minimise the number of changes.</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220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Change Enablement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892206" y="1329538"/>
            <a:ext cx="5359587"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221</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The Three Types of Change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STANDARD — pre-authorised, low-risk, well-understood and fully documented; implemented without needing new authorisation each time.</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NORMAL — must be scheduled, assessed and authorised following a defined process; the change authority depends on the level of risk.</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EMERGENCY — must be implemented as soon as possible, typically to resolve a major incident or apply a critical security patch.</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Emergency changes are still authorised, but by a smaller, faster body and often with documentation completed afterwards.</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Emergency changes may have a separate change authority and an accelerated assessment and approval path.</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EACH TYPE</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Standard: create a user account. Normal: upgrade a database. Emergency: patch an actively exploited vulnerability.</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Standard = pre-authorised, NOT 'simple'. That distinction is a common exam trap.</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222</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Change Authority and the Change Schedule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 CHANGE AUTHORITY is the person or group who authorises a change.</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Authority is assigned by risk and impact: low-risk changes are devolved to the team; high-risk ones escalate.</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Centralising all authority in one committee creates a bottleneck and slows delivery — devolution is deliberate.</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 CHANGE SCHEDULE is used to plan changes, assist communication, avoid conflicts and assign resources.</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 schedule also supports post-incident review: it shows what changed and when.</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DEVOLVED AUTHORITY</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A standard account creation is authorised by the service desk; a core network upgrade goes to a senior authority.</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The change schedule helps plan, communicate, avoid conflicts and assign resources — learn those four uses.</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223</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Incident Management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151215" y="1316736"/>
            <a:ext cx="4841569"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The purpose of incident management is to minimize the negative impact of incidents by restoring normal service operation as quickly as possible.</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224</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What Is an Incident?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An INCIDENT is an unplanned interruption to a service, or a reduction in the quality of a service.</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 purpose of incident management is to minimise the negative impact of incidents by restoring normal service operation as quickly as possible.</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Every incident should be logged and managed to ensure it is resolved in a time that meets the expectations of the customer and user.</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Incidents are prioritised by IMPACT (how much of the business is affected) and URGENCY (how quickly it must be fixed).</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Restoring service takes priority over finding the underlying cause — that is problem management's job.</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DEGRADATION COUNTS</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A system that still works but has become very slow is an incident: quality of service is reduced.</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'Unplanned interruption OR reduction in quality' — the reduction half is frequently the tested part.</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225</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IT Asset Management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PURPOSE: to plan and manage the full lifecycle of all IT assets, to help the organisation maximise value, control costs, manage risks and support decision-making about purchase, reuse and retirement.</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An IT ASSET is any financially valuable component that can contribute to the delivery of an IT product or service.</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Covers the full lifecycle: acquisition, deployment, operation, maintenance, and disposal or retirement.</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Supports licence compliance — knowing what is owned prevents both over-buying and under-licensing.</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Distinct from configuration management: assets are about FINANCIAL value; CIs are about SERVICE relationships.</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WHY IT SAVES MONEY</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An accurate asset register reveals 300 licences paid for and unassigned after a restructure.</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IT asset management = financial value and lifecycle. Service configuration management = relationships between components.</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226</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Monitoring and Event Management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PURPOSE: to systematically observe services and service components, and record and report selected changes of state identified as events.</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An EVENT is any change of state that has significance for the management of a service or other configuration item.</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Events are typically classified as INFORMATIONAL, WARNING or EXCEPTION.</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Informational: no action needed. Warning: something is approaching a threshold. Exception: a breach requiring action.</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This practice identifies and prioritises events, and establishes the right response — including raising an incident.</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THE THREE TYPES</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Informational: a backup completed. Warning: disk 85% full. Exception: disk full and the service has stopped.</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Informational / warning / exception — know all three and that an exception may trigger an incident.</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227</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What is an Event?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960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353312"/>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1</a:t>
            </a:r>
          </a:p>
        </p:txBody>
      </p:sp>
      <p:sp>
        <p:nvSpPr>
          <p:cNvPr id="11" name="TextBox 10"/>
          <p:cNvSpPr txBox="1"/>
          <p:nvPr/>
        </p:nvSpPr>
        <p:spPr>
          <a:xfrm>
            <a:off x="1005840" y="1316736"/>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An event is any change of state that has significance for the management of a service or other configuration item (CI).</a:t>
            </a:r>
          </a:p>
        </p:txBody>
      </p:sp>
      <p:sp>
        <p:nvSpPr>
          <p:cNvPr id="12" name="Rectangle 11"/>
          <p:cNvSpPr/>
          <p:nvPr/>
        </p:nvSpPr>
        <p:spPr>
          <a:xfrm>
            <a:off x="4645152" y="1207008"/>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45152" y="1207008"/>
            <a:ext cx="41148"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91456" y="1353312"/>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4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2</a:t>
            </a:r>
          </a:p>
        </p:txBody>
      </p:sp>
      <p:sp>
        <p:nvSpPr>
          <p:cNvPr id="16" name="TextBox 15"/>
          <p:cNvSpPr txBox="1"/>
          <p:nvPr/>
        </p:nvSpPr>
        <p:spPr>
          <a:xfrm>
            <a:off x="5120640" y="1316736"/>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Event are classified into 3 types:</a:t>
            </a:r>
          </a:p>
        </p:txBody>
      </p:sp>
      <p:sp>
        <p:nvSpPr>
          <p:cNvPr id="17" name="Rectangle 16"/>
          <p:cNvSpPr/>
          <p:nvPr/>
        </p:nvSpPr>
        <p:spPr>
          <a:xfrm>
            <a:off x="530352" y="2286000"/>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286000"/>
            <a:ext cx="41148" cy="960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432304"/>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455164"/>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3</a:t>
            </a:r>
          </a:p>
        </p:txBody>
      </p:sp>
      <p:sp>
        <p:nvSpPr>
          <p:cNvPr id="21" name="TextBox 20"/>
          <p:cNvSpPr txBox="1"/>
          <p:nvPr/>
        </p:nvSpPr>
        <p:spPr>
          <a:xfrm>
            <a:off x="1005840" y="2395728"/>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Informational</a:t>
            </a:r>
          </a:p>
        </p:txBody>
      </p:sp>
      <p:sp>
        <p:nvSpPr>
          <p:cNvPr id="22" name="Rectangle 21"/>
          <p:cNvSpPr/>
          <p:nvPr/>
        </p:nvSpPr>
        <p:spPr>
          <a:xfrm>
            <a:off x="4645152" y="2286000"/>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45152" y="2286000"/>
            <a:ext cx="41148"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91456" y="2432304"/>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91456" y="2455164"/>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4</a:t>
            </a:r>
          </a:p>
        </p:txBody>
      </p:sp>
      <p:sp>
        <p:nvSpPr>
          <p:cNvPr id="26" name="TextBox 25"/>
          <p:cNvSpPr txBox="1"/>
          <p:nvPr/>
        </p:nvSpPr>
        <p:spPr>
          <a:xfrm>
            <a:off x="5120640" y="2395728"/>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Warning</a:t>
            </a:r>
          </a:p>
        </p:txBody>
      </p:sp>
      <p:sp>
        <p:nvSpPr>
          <p:cNvPr id="27" name="Rectangle 26"/>
          <p:cNvSpPr/>
          <p:nvPr/>
        </p:nvSpPr>
        <p:spPr>
          <a:xfrm>
            <a:off x="530352" y="3364992"/>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3364992"/>
            <a:ext cx="41148" cy="960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511296"/>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53415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5</a:t>
            </a:r>
          </a:p>
        </p:txBody>
      </p:sp>
      <p:sp>
        <p:nvSpPr>
          <p:cNvPr id="31" name="TextBox 30"/>
          <p:cNvSpPr txBox="1"/>
          <p:nvPr/>
        </p:nvSpPr>
        <p:spPr>
          <a:xfrm>
            <a:off x="1005840" y="3474720"/>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Exceptions</a:t>
            </a:r>
          </a:p>
        </p:txBody>
      </p:sp>
      <p:sp>
        <p:nvSpPr>
          <p:cNvPr id="32" name="TextBox 3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33" name="TextBox 3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34" name="TextBox 3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228</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Problem Management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3165333" y="1316736"/>
            <a:ext cx="2813333"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The purpose of a problem management practice is to reduce the likelihood and impact of incidents by identifying actual and potential causes of incidents, and managing workarounds and known errors.</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229</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Problem Management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2014271"/>
            <a:ext cx="7436632" cy="154929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A problem is a potential cause of prior, current, or future incidents.</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230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Workaround</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436811" y="1316736"/>
            <a:ext cx="4270378"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A workaround is a solution that reduces or eliminates the impact of an incident or problem for which a full resolution is not yet available. Some workarounds reduce the likelihood of incidents</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231</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Problem Management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797605" y="1329538"/>
            <a:ext cx="5548789"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232</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Release Management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546565" y="1316736"/>
            <a:ext cx="6050870"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The purpose of a release management practice is to make new and changed services and features available for use</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233</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Release Management in Agile/DevOps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394079"/>
            <a:ext cx="7436632" cy="3109721"/>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234</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Release Management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337941"/>
            <a:ext cx="7436632" cy="3221997"/>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235</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Configuration Management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434380" y="1316736"/>
            <a:ext cx="4275239" cy="2944367"/>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The purpose of a service configuration management practice is to ensure that accurate and reliable information about the configuration of services, and the CIs that support them, is available when and where it is needed. This includes information on how CIs are configured and the relationships between them.</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236</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Configuration Items and the CMDB</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 CONFIGURATION ITEM (CI) is any component that needs to be managed in order to deliver an IT service.</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CIs include hardware, software, networks, buildings, people, suppliers and documentation.</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 CONFIGURATION MANAGEMENT DATABASE (CMDB) stores configuration records and the RELATIONSHIPS between CIs.</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 value is in the relationships: they let you see what a change or failure will actually affect.</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Collect only the CI data that is genuinely needed — an over-detailed CMDB becomes inaccurate and is then trusted by nobody.</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WHY RELATIONSHIPS MATTER</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Rebooting one server is safe or catastrophic depending on which services depend on it — the CMDB is what tells you.</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A CI is anything needing management to deliver a service — including people and documentation, not just kit.</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237</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Desk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818943" y="1316736"/>
            <a:ext cx="5506113"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The purpose of a service desk is to capture the demand for incident resolution and service requests. It should also be the entry point and single point of contact for the service provider with all of its users.</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238</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Value of Service Desk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960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353312"/>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1</a:t>
            </a:r>
          </a:p>
        </p:txBody>
      </p:sp>
      <p:sp>
        <p:nvSpPr>
          <p:cNvPr id="11" name="TextBox 10"/>
          <p:cNvSpPr txBox="1"/>
          <p:nvPr/>
        </p:nvSpPr>
        <p:spPr>
          <a:xfrm>
            <a:off x="1005840" y="1316736"/>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Provide a clear path for users to report issues, queries, and requests, and have them acknowledged, classified, owned, and actioned.</a:t>
            </a:r>
          </a:p>
        </p:txBody>
      </p:sp>
      <p:sp>
        <p:nvSpPr>
          <p:cNvPr id="12" name="Rectangle 11"/>
          <p:cNvSpPr/>
          <p:nvPr/>
        </p:nvSpPr>
        <p:spPr>
          <a:xfrm>
            <a:off x="4645152" y="1207008"/>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45152" y="1207008"/>
            <a:ext cx="41148"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91456" y="1353312"/>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4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2</a:t>
            </a:r>
          </a:p>
        </p:txBody>
      </p:sp>
      <p:sp>
        <p:nvSpPr>
          <p:cNvPr id="16" name="TextBox 15"/>
          <p:cNvSpPr txBox="1"/>
          <p:nvPr/>
        </p:nvSpPr>
        <p:spPr>
          <a:xfrm>
            <a:off x="5120640" y="1316736"/>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Used to get various matters arranged, explained, and coordinated, rather than just to get broken technology fixed.</a:t>
            </a:r>
          </a:p>
        </p:txBody>
      </p:sp>
      <p:sp>
        <p:nvSpPr>
          <p:cNvPr id="17" name="Rectangle 16"/>
          <p:cNvSpPr/>
          <p:nvPr/>
        </p:nvSpPr>
        <p:spPr>
          <a:xfrm>
            <a:off x="530352" y="2286000"/>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286000"/>
            <a:ext cx="41148" cy="960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432304"/>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455164"/>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3</a:t>
            </a:r>
          </a:p>
        </p:txBody>
      </p:sp>
      <p:sp>
        <p:nvSpPr>
          <p:cNvPr id="21" name="TextBox 20"/>
          <p:cNvSpPr txBox="1"/>
          <p:nvPr/>
        </p:nvSpPr>
        <p:spPr>
          <a:xfrm>
            <a:off x="1005840" y="2395728"/>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May not need to be highly technical but has to be practical understanding of the wider organization, the business processes, and the users.</a:t>
            </a:r>
          </a:p>
        </p:txBody>
      </p:sp>
      <p:sp>
        <p:nvSpPr>
          <p:cNvPr id="22" name="Rectangle 21"/>
          <p:cNvSpPr/>
          <p:nvPr/>
        </p:nvSpPr>
        <p:spPr>
          <a:xfrm>
            <a:off x="4645152" y="2286000"/>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45152" y="2286000"/>
            <a:ext cx="41148"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91456" y="2432304"/>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91456" y="2455164"/>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4</a:t>
            </a:r>
          </a:p>
        </p:txBody>
      </p:sp>
      <p:sp>
        <p:nvSpPr>
          <p:cNvPr id="26" name="TextBox 25"/>
          <p:cNvSpPr txBox="1"/>
          <p:nvPr/>
        </p:nvSpPr>
        <p:spPr>
          <a:xfrm>
            <a:off x="5120640" y="2395728"/>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Need to work close collaboration with support and development teams.</a:t>
            </a:r>
          </a:p>
        </p:txBody>
      </p:sp>
      <p:sp>
        <p:nvSpPr>
          <p:cNvPr id="27" name="Rectangle 26"/>
          <p:cNvSpPr/>
          <p:nvPr/>
        </p:nvSpPr>
        <p:spPr>
          <a:xfrm>
            <a:off x="530352" y="3364992"/>
            <a:ext cx="3968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3364992"/>
            <a:ext cx="41148" cy="960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511296"/>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53415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5</a:t>
            </a:r>
          </a:p>
        </p:txBody>
      </p:sp>
      <p:sp>
        <p:nvSpPr>
          <p:cNvPr id="31" name="TextBox 30"/>
          <p:cNvSpPr txBox="1"/>
          <p:nvPr/>
        </p:nvSpPr>
        <p:spPr>
          <a:xfrm>
            <a:off x="1005840" y="3474720"/>
            <a:ext cx="3364992" cy="758952"/>
          </a:xfrm>
          <a:prstGeom prst="rect">
            <a:avLst/>
          </a:prstGeom>
          <a:noFill/>
        </p:spPr>
        <p:txBody>
          <a:bodyPr wrap="square" anchor="ctr">
            <a:spAutoFit/>
          </a:bodyPr>
          <a:lstStyle/>
          <a:p>
            <a:pPr algn="l">
              <a:spcAft>
                <a:spcPts val="300"/>
              </a:spcAft>
            </a:pPr>
            <a:r>
              <a:rPr sz="1050" b="0">
                <a:solidFill>
                  <a:srgbClr val="161B26"/>
                </a:solidFill>
                <a:latin typeface="Arial"/>
              </a:rPr>
              <a:t>It has major influence on user experience and how the service provider is perceived by the users.</a:t>
            </a:r>
          </a:p>
        </p:txBody>
      </p:sp>
      <p:sp>
        <p:nvSpPr>
          <p:cNvPr id="32" name="TextBox 3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33" name="TextBox 3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34" name="TextBox 3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239</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Level Management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3061403" y="1316736"/>
            <a:ext cx="3021194" cy="2944368"/>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The purpose of a service level management practice is to set clear business-based targets for service performance, so that the delivery of a service can be properly assessed, monitored, and managed against these targets</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240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Level Agreements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A SERVICE LEVEL AGREEMENT (SLA) is a documented agreement between a service provider and a customer that identifies both the services required and the expected level of service.</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The purpose of service level management is to set clear business-based targets for service performance, so delivery can be properly assessed, monitored and managed.</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SLAs must be written in business terms the customer recognises — not in technical metrics only IT understands.</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Beware the 'watermelon SLA': green on every technical metric, red in the customer's actual experience.</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SLAs require regular review: targets that no longer reflect business need are worse than no targets at all.</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WATERMELON SLA</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99.9% server uptime reported as success, while the login service was unusable every Monday morning.</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'Clear BUSINESS-BASED targets' is the phrase — service level management is not a technical metrics exercise.</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241</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Level Mangement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589168"/>
            <a:ext cx="7436632" cy="271954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242</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Request Management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53684" y="1848468"/>
            <a:ext cx="7436632" cy="1880903"/>
          </a:xfrm>
          <a:prstGeom prst="rect">
            <a:avLst/>
          </a:prstGeom>
        </p:spPr>
      </p:pic>
      <p:sp>
        <p:nvSpPr>
          <p:cNvPr id="9" name="TextBox 8"/>
          <p:cNvSpPr txBox="1"/>
          <p:nvPr/>
        </p:nvSpPr>
        <p:spPr>
          <a:xfrm>
            <a:off x="530352" y="4462272"/>
            <a:ext cx="8083296" cy="310896"/>
          </a:xfrm>
          <a:prstGeom prst="rect">
            <a:avLst/>
          </a:prstGeom>
          <a:noFill/>
        </p:spPr>
        <p:txBody>
          <a:bodyPr wrap="square" anchor="t">
            <a:spAutoFit/>
          </a:bodyPr>
          <a:lstStyle/>
          <a:p>
            <a:pPr algn="l">
              <a:spcAft>
                <a:spcPts val="300"/>
              </a:spcAft>
            </a:pPr>
            <a:r>
              <a:rPr sz="900" b="0">
                <a:solidFill>
                  <a:srgbClr val="5B6372"/>
                </a:solidFill>
                <a:latin typeface="Arial"/>
              </a:rPr>
              <a:t>The purpose of a service request management practice is to support the agreed-upon quality of a service by handling all pre-defined, user-initiated service requests in an effective and user-friendly manner.</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243</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Service Request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353312"/>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1</a:t>
            </a:r>
          </a:p>
        </p:txBody>
      </p:sp>
      <p:sp>
        <p:nvSpPr>
          <p:cNvPr id="11" name="TextBox 10"/>
          <p:cNvSpPr txBox="1"/>
          <p:nvPr/>
        </p:nvSpPr>
        <p:spPr>
          <a:xfrm>
            <a:off x="10058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A service request is a request from a user or a user’s authorized representative that initiates a service action that has been agreed upon as a normal part of service delivery.</a:t>
            </a:r>
          </a:p>
        </p:txBody>
      </p:sp>
      <p:sp>
        <p:nvSpPr>
          <p:cNvPr id="12" name="Rectangle 11"/>
          <p:cNvSpPr/>
          <p:nvPr/>
        </p:nvSpPr>
        <p:spPr>
          <a:xfrm>
            <a:off x="4645152" y="1207008"/>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45152" y="1207008"/>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91456" y="1353312"/>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456" y="137617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2</a:t>
            </a:r>
          </a:p>
        </p:txBody>
      </p:sp>
      <p:sp>
        <p:nvSpPr>
          <p:cNvPr id="16" name="TextBox 15"/>
          <p:cNvSpPr txBox="1"/>
          <p:nvPr/>
        </p:nvSpPr>
        <p:spPr>
          <a:xfrm>
            <a:off x="5120640" y="1316736"/>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Each Service Request may include one or more of the following:</a:t>
            </a:r>
          </a:p>
        </p:txBody>
      </p:sp>
      <p:sp>
        <p:nvSpPr>
          <p:cNvPr id="17" name="Rectangle 16"/>
          <p:cNvSpPr/>
          <p:nvPr/>
        </p:nvSpPr>
        <p:spPr>
          <a:xfrm>
            <a:off x="5303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105406"/>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251710"/>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3</a:t>
            </a:r>
          </a:p>
        </p:txBody>
      </p:sp>
      <p:sp>
        <p:nvSpPr>
          <p:cNvPr id="21" name="TextBox 20"/>
          <p:cNvSpPr txBox="1"/>
          <p:nvPr/>
        </p:nvSpPr>
        <p:spPr>
          <a:xfrm>
            <a:off x="10058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A request for a service delivery action</a:t>
            </a:r>
          </a:p>
        </p:txBody>
      </p:sp>
      <p:sp>
        <p:nvSpPr>
          <p:cNvPr id="22" name="Rectangle 21"/>
          <p:cNvSpPr/>
          <p:nvPr/>
        </p:nvSpPr>
        <p:spPr>
          <a:xfrm>
            <a:off x="4645152" y="2105406"/>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45152" y="2105406"/>
            <a:ext cx="41148" cy="7795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91456" y="2251710"/>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91456" y="2274570"/>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4</a:t>
            </a:r>
          </a:p>
        </p:txBody>
      </p:sp>
      <p:sp>
        <p:nvSpPr>
          <p:cNvPr id="26" name="TextBox 25"/>
          <p:cNvSpPr txBox="1"/>
          <p:nvPr/>
        </p:nvSpPr>
        <p:spPr>
          <a:xfrm>
            <a:off x="5120640" y="2215134"/>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A request for information</a:t>
            </a:r>
          </a:p>
        </p:txBody>
      </p:sp>
      <p:sp>
        <p:nvSpPr>
          <p:cNvPr id="27" name="Rectangle 26"/>
          <p:cNvSpPr/>
          <p:nvPr/>
        </p:nvSpPr>
        <p:spPr>
          <a:xfrm>
            <a:off x="5303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3003804"/>
            <a:ext cx="41148" cy="77952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15010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5</a:t>
            </a:r>
          </a:p>
        </p:txBody>
      </p:sp>
      <p:sp>
        <p:nvSpPr>
          <p:cNvPr id="31" name="TextBox 30"/>
          <p:cNvSpPr txBox="1"/>
          <p:nvPr/>
        </p:nvSpPr>
        <p:spPr>
          <a:xfrm>
            <a:off x="10058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A request for the provision of resource or service</a:t>
            </a:r>
          </a:p>
        </p:txBody>
      </p:sp>
      <p:sp>
        <p:nvSpPr>
          <p:cNvPr id="32" name="Rectangle 31"/>
          <p:cNvSpPr/>
          <p:nvPr/>
        </p:nvSpPr>
        <p:spPr>
          <a:xfrm>
            <a:off x="4645152" y="3003804"/>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645152" y="3003804"/>
            <a:ext cx="41148" cy="7795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91456" y="315010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1456" y="3172968"/>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6</a:t>
            </a:r>
          </a:p>
        </p:txBody>
      </p:sp>
      <p:sp>
        <p:nvSpPr>
          <p:cNvPr id="36" name="TextBox 35"/>
          <p:cNvSpPr txBox="1"/>
          <p:nvPr/>
        </p:nvSpPr>
        <p:spPr>
          <a:xfrm>
            <a:off x="5120640" y="3113532"/>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A request for access to a resource or service</a:t>
            </a:r>
          </a:p>
        </p:txBody>
      </p:sp>
      <p:sp>
        <p:nvSpPr>
          <p:cNvPr id="37" name="Rectangle 36"/>
          <p:cNvSpPr/>
          <p:nvPr/>
        </p:nvSpPr>
        <p:spPr>
          <a:xfrm>
            <a:off x="530352" y="3902202"/>
            <a:ext cx="3968496" cy="7795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0352" y="3902202"/>
            <a:ext cx="41148" cy="77952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76656" y="4048506"/>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6656" y="4071366"/>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7</a:t>
            </a:r>
          </a:p>
        </p:txBody>
      </p:sp>
      <p:sp>
        <p:nvSpPr>
          <p:cNvPr id="41" name="TextBox 40"/>
          <p:cNvSpPr txBox="1"/>
          <p:nvPr/>
        </p:nvSpPr>
        <p:spPr>
          <a:xfrm>
            <a:off x="1005840" y="4011930"/>
            <a:ext cx="3364992" cy="578358"/>
          </a:xfrm>
          <a:prstGeom prst="rect">
            <a:avLst/>
          </a:prstGeom>
          <a:noFill/>
        </p:spPr>
        <p:txBody>
          <a:bodyPr wrap="square" anchor="ctr">
            <a:spAutoFit/>
          </a:bodyPr>
          <a:lstStyle/>
          <a:p>
            <a:pPr algn="l">
              <a:spcAft>
                <a:spcPts val="300"/>
              </a:spcAft>
            </a:pPr>
            <a:r>
              <a:rPr sz="900" b="0">
                <a:solidFill>
                  <a:srgbClr val="161B26"/>
                </a:solidFill>
                <a:latin typeface="Arial"/>
              </a:rPr>
              <a:t>Feedback, compliments, and complaint</a:t>
            </a:r>
          </a:p>
        </p:txBody>
      </p:sp>
      <p:sp>
        <p:nvSpPr>
          <p:cNvPr id="42" name="TextBox 41"/>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3" name="TextBox 42"/>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4" name="TextBox 43"/>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244</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Deployment Management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704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704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6656" y="12573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2710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1</a:t>
            </a:r>
          </a:p>
        </p:txBody>
      </p:sp>
      <p:sp>
        <p:nvSpPr>
          <p:cNvPr id="11" name="TextBox 10"/>
          <p:cNvSpPr txBox="1"/>
          <p:nvPr/>
        </p:nvSpPr>
        <p:spPr>
          <a:xfrm>
            <a:off x="987552" y="11704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PURPOSE: to move new or changed hardware, software, documentation, processes or any other component to live environments.</a:t>
            </a:r>
          </a:p>
        </p:txBody>
      </p:sp>
      <p:sp>
        <p:nvSpPr>
          <p:cNvPr id="12" name="Rectangle 11"/>
          <p:cNvSpPr/>
          <p:nvPr/>
        </p:nvSpPr>
        <p:spPr>
          <a:xfrm>
            <a:off x="530352" y="16276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 y="16276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6656" y="17145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17282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2</a:t>
            </a:r>
          </a:p>
        </p:txBody>
      </p:sp>
      <p:sp>
        <p:nvSpPr>
          <p:cNvPr id="16" name="TextBox 15"/>
          <p:cNvSpPr txBox="1"/>
          <p:nvPr/>
        </p:nvSpPr>
        <p:spPr>
          <a:xfrm>
            <a:off x="987552" y="16276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It may also be involved in deploying components to other environments, such as test or staging.</a:t>
            </a:r>
          </a:p>
        </p:txBody>
      </p:sp>
      <p:sp>
        <p:nvSpPr>
          <p:cNvPr id="17" name="Rectangle 16"/>
          <p:cNvSpPr/>
          <p:nvPr/>
        </p:nvSpPr>
        <p:spPr>
          <a:xfrm>
            <a:off x="530352" y="20848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20848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 y="21717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1854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3</a:t>
            </a:r>
          </a:p>
        </p:txBody>
      </p:sp>
      <p:sp>
        <p:nvSpPr>
          <p:cNvPr id="21" name="TextBox 20"/>
          <p:cNvSpPr txBox="1"/>
          <p:nvPr/>
        </p:nvSpPr>
        <p:spPr>
          <a:xfrm>
            <a:off x="987552" y="20848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Deployment is DISTINCT from release: deployment moves a component; release makes it available to users.</a:t>
            </a:r>
          </a:p>
        </p:txBody>
      </p:sp>
      <p:sp>
        <p:nvSpPr>
          <p:cNvPr id="22" name="Rectangle 21"/>
          <p:cNvSpPr/>
          <p:nvPr/>
        </p:nvSpPr>
        <p:spPr>
          <a:xfrm>
            <a:off x="530352" y="25420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 y="25420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6656" y="26289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26426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4</a:t>
            </a:r>
          </a:p>
        </p:txBody>
      </p:sp>
      <p:sp>
        <p:nvSpPr>
          <p:cNvPr id="26" name="TextBox 25"/>
          <p:cNvSpPr txBox="1"/>
          <p:nvPr/>
        </p:nvSpPr>
        <p:spPr>
          <a:xfrm>
            <a:off x="987552" y="25420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Common approaches: phased deployment, continuous delivery, big-bang deployment, and pull deployment.</a:t>
            </a:r>
          </a:p>
        </p:txBody>
      </p:sp>
      <p:sp>
        <p:nvSpPr>
          <p:cNvPr id="27" name="Rectangle 26"/>
          <p:cNvSpPr/>
          <p:nvPr/>
        </p:nvSpPr>
        <p:spPr>
          <a:xfrm>
            <a:off x="530352" y="2999232"/>
            <a:ext cx="8083296"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2999232"/>
            <a:ext cx="36576"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6656" y="3086100"/>
            <a:ext cx="219456" cy="2194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099816"/>
            <a:ext cx="219456" cy="182880"/>
          </a:xfrm>
          <a:prstGeom prst="rect">
            <a:avLst/>
          </a:prstGeom>
          <a:noFill/>
        </p:spPr>
        <p:txBody>
          <a:bodyPr wrap="square" anchor="t">
            <a:spAutoFit/>
          </a:bodyPr>
          <a:lstStyle/>
          <a:p>
            <a:pPr algn="ctr">
              <a:spcAft>
                <a:spcPts val="300"/>
              </a:spcAft>
            </a:pPr>
            <a:r>
              <a:rPr sz="750" b="1">
                <a:solidFill>
                  <a:srgbClr val="FFFFFF"/>
                </a:solidFill>
                <a:latin typeface="Arial"/>
              </a:rPr>
              <a:t>5</a:t>
            </a:r>
          </a:p>
        </p:txBody>
      </p:sp>
      <p:sp>
        <p:nvSpPr>
          <p:cNvPr id="31" name="TextBox 30"/>
          <p:cNvSpPr txBox="1"/>
          <p:nvPr/>
        </p:nvSpPr>
        <p:spPr>
          <a:xfrm>
            <a:off x="987552" y="2999232"/>
            <a:ext cx="7498079" cy="411480"/>
          </a:xfrm>
          <a:prstGeom prst="rect">
            <a:avLst/>
          </a:prstGeom>
          <a:noFill/>
        </p:spPr>
        <p:txBody>
          <a:bodyPr wrap="square" anchor="ctr">
            <a:spAutoFit/>
          </a:bodyPr>
          <a:lstStyle/>
          <a:p>
            <a:pPr algn="l">
              <a:spcAft>
                <a:spcPts val="300"/>
              </a:spcAft>
            </a:pPr>
            <a:r>
              <a:rPr sz="1000" b="0">
                <a:solidFill>
                  <a:srgbClr val="161B26"/>
                </a:solidFill>
                <a:latin typeface="Arial"/>
              </a:rPr>
              <a:t>It is one of the three TECHNICAL MANAGEMENT practices in ITIL 4.</a:t>
            </a:r>
          </a:p>
        </p:txBody>
      </p:sp>
      <p:sp>
        <p:nvSpPr>
          <p:cNvPr id="32" name="Rectangle 31"/>
          <p:cNvSpPr/>
          <p:nvPr/>
        </p:nvSpPr>
        <p:spPr>
          <a:xfrm>
            <a:off x="5303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0352" y="3511296"/>
            <a:ext cx="3657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57016"/>
            <a:ext cx="3712464" cy="182880"/>
          </a:xfrm>
          <a:prstGeom prst="rect">
            <a:avLst/>
          </a:prstGeom>
          <a:noFill/>
        </p:spPr>
        <p:txBody>
          <a:bodyPr wrap="square" anchor="t">
            <a:spAutoFit/>
          </a:bodyPr>
          <a:lstStyle/>
          <a:p>
            <a:pPr algn="l">
              <a:spcAft>
                <a:spcPts val="300"/>
              </a:spcAft>
            </a:pPr>
            <a:r>
              <a:rPr sz="700" b="1">
                <a:solidFill>
                  <a:srgbClr val="10B981"/>
                </a:solidFill>
                <a:latin typeface="Arial"/>
              </a:rPr>
              <a:t>DEPLOY VS RELEASE</a:t>
            </a:r>
          </a:p>
        </p:txBody>
      </p:sp>
      <p:sp>
        <p:nvSpPr>
          <p:cNvPr id="35" name="TextBox 34"/>
          <p:cNvSpPr txBox="1"/>
          <p:nvPr/>
        </p:nvSpPr>
        <p:spPr>
          <a:xfrm>
            <a:off x="6766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Code deployed behind a feature flag is live on the servers but not released — users see nothing until the flag flips.</a:t>
            </a:r>
          </a:p>
        </p:txBody>
      </p:sp>
      <p:sp>
        <p:nvSpPr>
          <p:cNvPr id="36" name="Rectangle 35"/>
          <p:cNvSpPr/>
          <p:nvPr/>
        </p:nvSpPr>
        <p:spPr>
          <a:xfrm>
            <a:off x="4645152" y="3511296"/>
            <a:ext cx="3968496" cy="11338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45152" y="3511296"/>
            <a:ext cx="36576" cy="11338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91456" y="3557016"/>
            <a:ext cx="3712464" cy="182880"/>
          </a:xfrm>
          <a:prstGeom prst="rect">
            <a:avLst/>
          </a:prstGeom>
          <a:noFill/>
        </p:spPr>
        <p:txBody>
          <a:bodyPr wrap="square" anchor="t">
            <a:spAutoFit/>
          </a:bodyPr>
          <a:lstStyle/>
          <a:p>
            <a:pPr algn="l">
              <a:spcAft>
                <a:spcPts val="300"/>
              </a:spcAft>
            </a:pPr>
            <a:r>
              <a:rPr sz="700" b="1">
                <a:solidFill>
                  <a:srgbClr val="F59E0B"/>
                </a:solidFill>
                <a:latin typeface="Arial"/>
              </a:rPr>
              <a:t>EXAM TIP</a:t>
            </a:r>
          </a:p>
        </p:txBody>
      </p:sp>
      <p:sp>
        <p:nvSpPr>
          <p:cNvPr id="39" name="TextBox 38"/>
          <p:cNvSpPr txBox="1"/>
          <p:nvPr/>
        </p:nvSpPr>
        <p:spPr>
          <a:xfrm>
            <a:off x="4791456" y="3712464"/>
            <a:ext cx="3712464" cy="877824"/>
          </a:xfrm>
          <a:prstGeom prst="rect">
            <a:avLst/>
          </a:prstGeom>
          <a:noFill/>
        </p:spPr>
        <p:txBody>
          <a:bodyPr wrap="square" anchor="t">
            <a:spAutoFit/>
          </a:bodyPr>
          <a:lstStyle/>
          <a:p>
            <a:pPr algn="l">
              <a:spcAft>
                <a:spcPts val="300"/>
              </a:spcAft>
            </a:pPr>
            <a:r>
              <a:rPr sz="850" b="0">
                <a:solidFill>
                  <a:srgbClr val="161B26"/>
                </a:solidFill>
                <a:latin typeface="Arial"/>
              </a:rPr>
              <a:t>Deployment = moving it. Release = making it available to users. The two are deliberately separated.</a:t>
            </a:r>
          </a:p>
        </p:txBody>
      </p:sp>
      <p:sp>
        <p:nvSpPr>
          <p:cNvPr id="40" name="TextBox 3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1" name="TextBox 4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2" name="TextBox 4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245</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Example: Grab Food Service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8083296" cy="3474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5720" cy="3474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207008"/>
            <a:ext cx="7406640" cy="3474720"/>
          </a:xfrm>
          <a:prstGeom prst="rect">
            <a:avLst/>
          </a:prstGeom>
          <a:noFill/>
        </p:spPr>
        <p:txBody>
          <a:bodyPr wrap="square" anchor="ctr">
            <a:spAutoFit/>
          </a:bodyPr>
          <a:lstStyle/>
          <a:p>
            <a:pPr algn="l">
              <a:spcAft>
                <a:spcPts val="300"/>
              </a:spcAft>
            </a:pPr>
            <a:r>
              <a:rPr sz="1500" b="0">
                <a:solidFill>
                  <a:srgbClr val="161B26"/>
                </a:solidFill>
                <a:latin typeface="Arial"/>
              </a:rPr>
              <a:t>Example: Grab Food Service</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246</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Example: Grab Food Service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8083296" cy="3474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5720" cy="3474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207008"/>
            <a:ext cx="7406640" cy="3474720"/>
          </a:xfrm>
          <a:prstGeom prst="rect">
            <a:avLst/>
          </a:prstGeom>
          <a:noFill/>
        </p:spPr>
        <p:txBody>
          <a:bodyPr wrap="square" anchor="ctr">
            <a:spAutoFit/>
          </a:bodyPr>
          <a:lstStyle/>
          <a:p>
            <a:pPr algn="l">
              <a:spcAft>
                <a:spcPts val="300"/>
              </a:spcAft>
            </a:pPr>
            <a:r>
              <a:rPr sz="1500" b="0">
                <a:solidFill>
                  <a:srgbClr val="161B26"/>
                </a:solidFill>
                <a:latin typeface="Arial"/>
              </a:rPr>
              <a:t>Example: Grab Food Service</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247</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Example: Grab Food Service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8083296" cy="3474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5720" cy="3474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207008"/>
            <a:ext cx="7406640" cy="3474720"/>
          </a:xfrm>
          <a:prstGeom prst="rect">
            <a:avLst/>
          </a:prstGeom>
          <a:noFill/>
        </p:spPr>
        <p:txBody>
          <a:bodyPr wrap="square" anchor="ctr">
            <a:spAutoFit/>
          </a:bodyPr>
          <a:lstStyle/>
          <a:p>
            <a:pPr algn="l">
              <a:spcAft>
                <a:spcPts val="300"/>
              </a:spcAft>
            </a:pPr>
            <a:r>
              <a:rPr sz="1500" b="0">
                <a:solidFill>
                  <a:srgbClr val="161B26"/>
                </a:solidFill>
                <a:latin typeface="Arial"/>
              </a:rPr>
              <a:t>Example: Grab Food Service</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248</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Example: Grab Food Service</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8083296" cy="3474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5720" cy="3474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207008"/>
            <a:ext cx="7406640" cy="3474720"/>
          </a:xfrm>
          <a:prstGeom prst="rect">
            <a:avLst/>
          </a:prstGeom>
          <a:noFill/>
        </p:spPr>
        <p:txBody>
          <a:bodyPr wrap="square" anchor="ctr">
            <a:spAutoFit/>
          </a:bodyPr>
          <a:lstStyle/>
          <a:p>
            <a:pPr algn="l">
              <a:spcAft>
                <a:spcPts val="300"/>
              </a:spcAft>
            </a:pPr>
            <a:r>
              <a:rPr sz="1500" b="0">
                <a:solidFill>
                  <a:srgbClr val="161B26"/>
                </a:solidFill>
                <a:latin typeface="Arial"/>
              </a:rPr>
              <a:t>Example: Grab Food Service</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249</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25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Which practice provides a single point of contact for users?</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Incident management</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Service request management</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Service level management</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Service Desk</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250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26</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What is the definition of change? environments</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To make new and changed services and features available for use</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To add, modify or remove anything that could have a direct or indirect effect on service</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To move new or changed hardware, software, or any other component to live</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To ensure</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251</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27</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Identify the missing word in the following sentence. The purpose of the information security management practice is to ____ the organization’s Information.</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audit</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provide</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backup</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protect</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252</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28</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To track and manage improvement ideas from identification through to final action, organizations use a database or structured document called:</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Change record</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Service request record</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Incident record</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Continual improvement register</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253</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29</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Which problem management phases have activities managed known errors?</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Error control</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Problem control</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Problem identification</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Problem resolved</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254</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30</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Which practice set clear business-based targets for service performance, so that the delivery of a service can be properly assessed, monitored, and managed against these targets?</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Service Desk</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Relationship management</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Service request management</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Service level management</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255</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31</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Service level management practices mainly apply to which service value chain activities? e. ‘Engage’ and ‘Design and Transition’</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‘Plan’ and ‘Design and Transition’</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‘Obtain or Build’ and ‘Deliver and Support’</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‘Improve’ and ‘Engage’</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‘Plan’ and ‘Engage’</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256</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F59E0B"/>
                </a:solidFill>
                <a:latin typeface="Arial"/>
              </a:rPr>
              <a:t>QUIZ 32</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Knowledge Check</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188720"/>
            <a:ext cx="7498079" cy="914400"/>
          </a:xfrm>
          <a:prstGeom prst="rect">
            <a:avLst/>
          </a:prstGeom>
          <a:noFill/>
        </p:spPr>
        <p:txBody>
          <a:bodyPr wrap="square" anchor="ctr">
            <a:spAutoFit/>
          </a:bodyPr>
          <a:lstStyle/>
          <a:p>
            <a:pPr algn="l">
              <a:spcAft>
                <a:spcPts val="300"/>
              </a:spcAft>
            </a:pPr>
            <a:r>
              <a:rPr sz="1200" b="1">
                <a:solidFill>
                  <a:srgbClr val="161B26"/>
                </a:solidFill>
                <a:latin typeface="Arial"/>
              </a:rPr>
              <a:t>Which of the following is NOT an incident?</a:t>
            </a:r>
          </a:p>
        </p:txBody>
      </p:sp>
      <p:sp>
        <p:nvSpPr>
          <p:cNvPr id="10" name="Rectangle 9"/>
          <p:cNvSpPr/>
          <p:nvPr/>
        </p:nvSpPr>
        <p:spPr>
          <a:xfrm>
            <a:off x="5303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a</a:t>
            </a:r>
          </a:p>
        </p:txBody>
      </p:sp>
      <p:sp>
        <p:nvSpPr>
          <p:cNvPr id="13" name="TextBox 12"/>
          <p:cNvSpPr txBox="1"/>
          <p:nvPr/>
        </p:nvSpPr>
        <p:spPr>
          <a:xfrm>
            <a:off x="9875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A user make a complain to the Service Desk</a:t>
            </a:r>
          </a:p>
        </p:txBody>
      </p:sp>
      <p:sp>
        <p:nvSpPr>
          <p:cNvPr id="14" name="Rectangle 13"/>
          <p:cNvSpPr/>
          <p:nvPr/>
        </p:nvSpPr>
        <p:spPr>
          <a:xfrm>
            <a:off x="4645152" y="22677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3168" y="24323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4505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b</a:t>
            </a:r>
          </a:p>
        </p:txBody>
      </p:sp>
      <p:sp>
        <p:nvSpPr>
          <p:cNvPr id="17" name="TextBox 16"/>
          <p:cNvSpPr txBox="1"/>
          <p:nvPr/>
        </p:nvSpPr>
        <p:spPr>
          <a:xfrm>
            <a:off x="5102352" y="22677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Internet access provide the service provider is slow</a:t>
            </a:r>
          </a:p>
        </p:txBody>
      </p:sp>
      <p:sp>
        <p:nvSpPr>
          <p:cNvPr id="18" name="Rectangle 17"/>
          <p:cNvSpPr/>
          <p:nvPr/>
        </p:nvSpPr>
        <p:spPr>
          <a:xfrm>
            <a:off x="5303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c</a:t>
            </a:r>
          </a:p>
        </p:txBody>
      </p:sp>
      <p:sp>
        <p:nvSpPr>
          <p:cNvPr id="21" name="TextBox 20"/>
          <p:cNvSpPr txBox="1"/>
          <p:nvPr/>
        </p:nvSpPr>
        <p:spPr>
          <a:xfrm>
            <a:off x="9875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Account clerk cannot print her invoice for billing</a:t>
            </a:r>
          </a:p>
        </p:txBody>
      </p:sp>
      <p:sp>
        <p:nvSpPr>
          <p:cNvPr id="22" name="Rectangle 21"/>
          <p:cNvSpPr/>
          <p:nvPr/>
        </p:nvSpPr>
        <p:spPr>
          <a:xfrm>
            <a:off x="4645152" y="2953512"/>
            <a:ext cx="3968496" cy="566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73168" y="3118104"/>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3136392"/>
            <a:ext cx="237744" cy="201168"/>
          </a:xfrm>
          <a:prstGeom prst="rect">
            <a:avLst/>
          </a:prstGeom>
          <a:noFill/>
        </p:spPr>
        <p:txBody>
          <a:bodyPr wrap="square" anchor="t">
            <a:spAutoFit/>
          </a:bodyPr>
          <a:lstStyle/>
          <a:p>
            <a:pPr algn="ctr">
              <a:spcAft>
                <a:spcPts val="300"/>
              </a:spcAft>
            </a:pPr>
            <a:r>
              <a:rPr sz="800" b="1">
                <a:solidFill>
                  <a:srgbClr val="FFFFFF"/>
                </a:solidFill>
                <a:latin typeface="Arial"/>
              </a:rPr>
              <a:t>d</a:t>
            </a:r>
          </a:p>
        </p:txBody>
      </p:sp>
      <p:sp>
        <p:nvSpPr>
          <p:cNvPr id="25" name="TextBox 24"/>
          <p:cNvSpPr txBox="1"/>
          <p:nvPr/>
        </p:nvSpPr>
        <p:spPr>
          <a:xfrm>
            <a:off x="5102352" y="2953512"/>
            <a:ext cx="3401568" cy="566928"/>
          </a:xfrm>
          <a:prstGeom prst="rect">
            <a:avLst/>
          </a:prstGeom>
          <a:noFill/>
        </p:spPr>
        <p:txBody>
          <a:bodyPr wrap="square" anchor="ctr">
            <a:spAutoFit/>
          </a:bodyPr>
          <a:lstStyle/>
          <a:p>
            <a:pPr algn="l">
              <a:spcAft>
                <a:spcPts val="300"/>
              </a:spcAft>
            </a:pPr>
            <a:r>
              <a:rPr sz="950" b="0">
                <a:solidFill>
                  <a:srgbClr val="161B26"/>
                </a:solidFill>
                <a:latin typeface="Arial"/>
              </a:rPr>
              <a:t>Account executive cannot access Sales application due intermittent unavailability</a:t>
            </a:r>
          </a:p>
        </p:txBody>
      </p:sp>
      <p:sp>
        <p:nvSpPr>
          <p:cNvPr id="26" name="TextBox 25"/>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7" name="TextBox 26"/>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8" name="TextBox 27"/>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257</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0B981"/>
                </a:solidFill>
                <a:latin typeface="Arial"/>
              </a:rPr>
              <a:t>IN-CLASS ACTIVITY</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Group Activity - ITIL</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389888"/>
            <a:ext cx="7406640" cy="3108960"/>
          </a:xfrm>
          <a:prstGeom prst="rect">
            <a:avLst/>
          </a:prstGeom>
          <a:noFill/>
        </p:spPr>
        <p:txBody>
          <a:bodyPr wrap="square" anchor="t">
            <a:spAutoFit/>
          </a:bodyPr>
          <a:lstStyle/>
          <a:p>
            <a:pPr algn="l">
              <a:spcAft>
                <a:spcPts val="700"/>
              </a:spcAft>
            </a:pPr>
            <a:r>
              <a:rPr sz="1000" b="1">
                <a:solidFill>
                  <a:srgbClr val="10B981"/>
                </a:solidFill>
                <a:latin typeface="Arial"/>
              </a:rPr>
              <a:t>1.  </a:t>
            </a:r>
            <a:r>
              <a:rPr sz="1000" b="0">
                <a:solidFill>
                  <a:srgbClr val="161B26"/>
                </a:solidFill>
                <a:latin typeface="Arial"/>
              </a:rPr>
              <a:t>The class is to be divided into 2 or 3 or 4 small groups. Each group will comprise of minimum of 2 or 3 persons.</a:t>
            </a:r>
          </a:p>
          <a:p>
            <a:pPr algn="l">
              <a:spcAft>
                <a:spcPts val="700"/>
              </a:spcAft>
            </a:pPr>
            <a:r>
              <a:rPr sz="1000" b="1">
                <a:solidFill>
                  <a:srgbClr val="10B981"/>
                </a:solidFill>
                <a:latin typeface="Arial"/>
              </a:rPr>
              <a:t>2.  </a:t>
            </a:r>
            <a:r>
              <a:rPr sz="1000" b="0">
                <a:solidFill>
                  <a:srgbClr val="161B26"/>
                </a:solidFill>
                <a:latin typeface="Arial"/>
              </a:rPr>
              <a:t>With reference to Service Value Chain, for each value chain activities “Deliver and Support ", “Engage” and “Design and Transition”, please list down their possible inputs and their corresponding outputs. Next, explain your answers. You can use the below sample tables to fill in your answers</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258</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0B981"/>
                </a:solidFill>
                <a:latin typeface="Arial"/>
              </a:rPr>
              <a:t>IN-CLASS ACTIVITY</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Group Activity - ITIL</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188720"/>
            <a:ext cx="45720"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389888"/>
            <a:ext cx="7406640" cy="3108960"/>
          </a:xfrm>
          <a:prstGeom prst="rect">
            <a:avLst/>
          </a:prstGeom>
          <a:noFill/>
        </p:spPr>
        <p:txBody>
          <a:bodyPr wrap="square" anchor="t">
            <a:spAutoFit/>
          </a:bodyPr>
          <a:lstStyle/>
          <a:p>
            <a:pPr algn="l">
              <a:spcAft>
                <a:spcPts val="700"/>
              </a:spcAft>
            </a:pPr>
            <a:r>
              <a:rPr sz="1000" b="1">
                <a:solidFill>
                  <a:srgbClr val="10B981"/>
                </a:solidFill>
                <a:latin typeface="Arial"/>
              </a:rPr>
              <a:t>1.  </a:t>
            </a:r>
            <a:r>
              <a:rPr sz="1000" b="0">
                <a:solidFill>
                  <a:srgbClr val="161B26"/>
                </a:solidFill>
                <a:latin typeface="Arial"/>
              </a:rPr>
              <a:t>With reference to Guiding Principles, please select one ITIL principle and explain how you can apply in your organization.</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259</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Practice Exams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8083296" cy="3474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5720" cy="3474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426464"/>
            <a:ext cx="7406640" cy="3108960"/>
          </a:xfrm>
          <a:prstGeom prst="rect">
            <a:avLst/>
          </a:prstGeom>
          <a:noFill/>
        </p:spPr>
        <p:txBody>
          <a:bodyPr wrap="square" anchor="t">
            <a:spAutoFit/>
          </a:bodyPr>
          <a:lstStyle/>
          <a:p>
            <a:pPr algn="l">
              <a:spcAft>
                <a:spcPts val="800"/>
              </a:spcAft>
            </a:pPr>
            <a:r>
              <a:rPr sz="1050" b="0">
                <a:solidFill>
                  <a:srgbClr val="161B26"/>
                </a:solidFill>
                <a:latin typeface="Arial"/>
              </a:rPr>
              <a:t>•  Practice Exam 1</a:t>
            </a:r>
          </a:p>
          <a:p>
            <a:pPr algn="l">
              <a:spcAft>
                <a:spcPts val="800"/>
              </a:spcAft>
            </a:pPr>
            <a:r>
              <a:rPr sz="1050" b="0">
                <a:solidFill>
                  <a:srgbClr val="161B26"/>
                </a:solidFill>
                <a:latin typeface="Arial"/>
              </a:rPr>
              <a:t>•  https://docs.google.com/forms/d/e/1FAIpQLSeC_XMBlOaZbWDGLOZzJ0ZlxBVwLiKwKDnhdUzvGpxHqOdQgQ/viewform?usp=sf_link</a:t>
            </a:r>
          </a:p>
          <a:p>
            <a:pPr algn="l">
              <a:spcAft>
                <a:spcPts val="800"/>
              </a:spcAft>
            </a:pPr>
            <a:r>
              <a:rPr sz="1050" b="0">
                <a:solidFill>
                  <a:srgbClr val="161B26"/>
                </a:solidFill>
                <a:latin typeface="Arial"/>
              </a:rPr>
              <a:t>•  Practice Exam 2</a:t>
            </a:r>
          </a:p>
          <a:p>
            <a:pPr algn="l">
              <a:spcAft>
                <a:spcPts val="800"/>
              </a:spcAft>
            </a:pPr>
            <a:r>
              <a:rPr sz="1050" b="0">
                <a:solidFill>
                  <a:srgbClr val="161B26"/>
                </a:solidFill>
                <a:latin typeface="Arial"/>
              </a:rPr>
              <a:t>•  https://d12.github.io/itil-quiz/</a:t>
            </a:r>
          </a:p>
        </p:txBody>
      </p:sp>
      <p:sp>
        <p:nvSpPr>
          <p:cNvPr id="10" name="TextBox 9"/>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1" name="TextBox 10"/>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2" name="TextBox 11"/>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260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TOPIC 05</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ITIL Certifications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188720"/>
            <a:ext cx="8083296"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135977" y="1329538"/>
            <a:ext cx="4872045" cy="3238804"/>
          </a:xfrm>
          <a:prstGeom prst="rect">
            <a:avLst/>
          </a:prstGeom>
        </p:spPr>
      </p:pic>
      <p:sp>
        <p:nvSpPr>
          <p:cNvPr id="9" name="TextBox 8"/>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0" name="TextBox 9"/>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1" name="TextBox 10"/>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261</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0B981"/>
                </a:solidFill>
                <a:latin typeface="Arial"/>
              </a:rPr>
              <a:t>LEARNING OUTCOMES</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What You Achieved</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298448"/>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Key Concepts of Service Management</a:t>
            </a:r>
          </a:p>
        </p:txBody>
      </p:sp>
      <p:sp>
        <p:nvSpPr>
          <p:cNvPr id="10" name="TextBox 9"/>
          <p:cNvSpPr txBox="1"/>
          <p:nvPr/>
        </p:nvSpPr>
        <p:spPr>
          <a:xfrm>
            <a:off x="694944" y="1554480"/>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Explained services, value co-creation, outcomes, costs, risks, utility and warranty.</a:t>
            </a:r>
          </a:p>
        </p:txBody>
      </p:sp>
      <p:sp>
        <p:nvSpPr>
          <p:cNvPr id="11" name="Rectangle 10"/>
          <p:cNvSpPr/>
          <p:nvPr/>
        </p:nvSpPr>
        <p:spPr>
          <a:xfrm>
            <a:off x="4645152" y="1207008"/>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45152" y="1207008"/>
            <a:ext cx="41148"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9744" y="1298448"/>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ITIL Guiding Principles</a:t>
            </a:r>
          </a:p>
        </p:txBody>
      </p:sp>
      <p:sp>
        <p:nvSpPr>
          <p:cNvPr id="14" name="TextBox 13"/>
          <p:cNvSpPr txBox="1"/>
          <p:nvPr/>
        </p:nvSpPr>
        <p:spPr>
          <a:xfrm>
            <a:off x="4809744" y="1554480"/>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Applied the seven guiding principles to a real workplace improvement initiative.</a:t>
            </a:r>
          </a:p>
        </p:txBody>
      </p:sp>
      <p:sp>
        <p:nvSpPr>
          <p:cNvPr id="15" name="Rectangle 14"/>
          <p:cNvSpPr/>
          <p:nvPr/>
        </p:nvSpPr>
        <p:spPr>
          <a:xfrm>
            <a:off x="530352" y="2377440"/>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 y="2377440"/>
            <a:ext cx="41148"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2468880"/>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Four Dimensions of Service Management</a:t>
            </a:r>
          </a:p>
        </p:txBody>
      </p:sp>
      <p:sp>
        <p:nvSpPr>
          <p:cNvPr id="18" name="TextBox 17"/>
          <p:cNvSpPr txBox="1"/>
          <p:nvPr/>
        </p:nvSpPr>
        <p:spPr>
          <a:xfrm>
            <a:off x="694944" y="2724912"/>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Analysed a live service across all four dimensions and identified the weakest.</a:t>
            </a:r>
          </a:p>
        </p:txBody>
      </p:sp>
      <p:sp>
        <p:nvSpPr>
          <p:cNvPr id="19" name="Rectangle 18"/>
          <p:cNvSpPr/>
          <p:nvPr/>
        </p:nvSpPr>
        <p:spPr>
          <a:xfrm>
            <a:off x="4645152" y="2377440"/>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45152" y="2377440"/>
            <a:ext cx="41148"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9744" y="2468880"/>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The Service Value System</a:t>
            </a:r>
          </a:p>
        </p:txBody>
      </p:sp>
      <p:sp>
        <p:nvSpPr>
          <p:cNvPr id="22" name="TextBox 21"/>
          <p:cNvSpPr txBox="1"/>
          <p:nvPr/>
        </p:nvSpPr>
        <p:spPr>
          <a:xfrm>
            <a:off x="4809744" y="2724912"/>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Mapped inputs and outputs across the service value chain activities.</a:t>
            </a:r>
          </a:p>
        </p:txBody>
      </p:sp>
      <p:sp>
        <p:nvSpPr>
          <p:cNvPr id="23" name="Rectangle 22"/>
          <p:cNvSpPr/>
          <p:nvPr/>
        </p:nvSpPr>
        <p:spPr>
          <a:xfrm>
            <a:off x="530352" y="3547872"/>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30352" y="3547872"/>
            <a:ext cx="41148"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3639312"/>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ITIL Practices</a:t>
            </a:r>
          </a:p>
        </p:txBody>
      </p:sp>
      <p:sp>
        <p:nvSpPr>
          <p:cNvPr id="26" name="TextBox 25"/>
          <p:cNvSpPr txBox="1"/>
          <p:nvPr/>
        </p:nvSpPr>
        <p:spPr>
          <a:xfrm>
            <a:off x="694944" y="3895344"/>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Triaged incidents, problems, changes and service requests to the correct practice.</a:t>
            </a:r>
          </a:p>
        </p:txBody>
      </p:sp>
      <p:sp>
        <p:nvSpPr>
          <p:cNvPr id="27" name="TextBox 26"/>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8" name="TextBox 27"/>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9" name="TextBox 28"/>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262</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NEXT STEPS</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Preparing for the ITIL 4 Foundation Exam</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8083296" cy="5998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5998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298448"/>
            <a:ext cx="7808976" cy="237744"/>
          </a:xfrm>
          <a:prstGeom prst="rect">
            <a:avLst/>
          </a:prstGeom>
          <a:noFill/>
        </p:spPr>
        <p:txBody>
          <a:bodyPr wrap="square" anchor="t">
            <a:spAutoFit/>
          </a:bodyPr>
          <a:lstStyle/>
          <a:p>
            <a:pPr algn="l">
              <a:spcAft>
                <a:spcPts val="300"/>
              </a:spcAft>
            </a:pPr>
            <a:r>
              <a:rPr sz="1100" b="1">
                <a:solidFill>
                  <a:srgbClr val="161B26"/>
                </a:solidFill>
                <a:latin typeface="Arial"/>
              </a:rPr>
              <a:t>1</a:t>
            </a:r>
          </a:p>
        </p:txBody>
      </p:sp>
      <p:sp>
        <p:nvSpPr>
          <p:cNvPr id="10" name="TextBox 9"/>
          <p:cNvSpPr txBox="1"/>
          <p:nvPr/>
        </p:nvSpPr>
        <p:spPr>
          <a:xfrm>
            <a:off x="694944" y="1554480"/>
            <a:ext cx="7808976" cy="179222"/>
          </a:xfrm>
          <a:prstGeom prst="rect">
            <a:avLst/>
          </a:prstGeom>
          <a:noFill/>
        </p:spPr>
        <p:txBody>
          <a:bodyPr wrap="square" anchor="t">
            <a:spAutoFit/>
          </a:bodyPr>
          <a:lstStyle/>
          <a:p>
            <a:pPr algn="l">
              <a:spcAft>
                <a:spcPts val="300"/>
              </a:spcAft>
            </a:pPr>
            <a:r>
              <a:rPr sz="850" b="0">
                <a:solidFill>
                  <a:srgbClr val="5B6372"/>
                </a:solidFill>
                <a:latin typeface="Arial"/>
              </a:rPr>
              <a:t>Review the key concepts and definitions in each topic of the Learner Guide.</a:t>
            </a:r>
          </a:p>
        </p:txBody>
      </p:sp>
      <p:sp>
        <p:nvSpPr>
          <p:cNvPr id="11" name="Rectangle 10"/>
          <p:cNvSpPr/>
          <p:nvPr/>
        </p:nvSpPr>
        <p:spPr>
          <a:xfrm>
            <a:off x="530352" y="1925726"/>
            <a:ext cx="8083296" cy="5998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0352" y="1925726"/>
            <a:ext cx="41148" cy="5998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2017166"/>
            <a:ext cx="7808976" cy="237744"/>
          </a:xfrm>
          <a:prstGeom prst="rect">
            <a:avLst/>
          </a:prstGeom>
          <a:noFill/>
        </p:spPr>
        <p:txBody>
          <a:bodyPr wrap="square" anchor="t">
            <a:spAutoFit/>
          </a:bodyPr>
          <a:lstStyle/>
          <a:p>
            <a:pPr algn="l">
              <a:spcAft>
                <a:spcPts val="300"/>
              </a:spcAft>
            </a:pPr>
            <a:r>
              <a:rPr sz="1100" b="1">
                <a:solidFill>
                  <a:srgbClr val="161B26"/>
                </a:solidFill>
                <a:latin typeface="Arial"/>
              </a:rPr>
              <a:t>2</a:t>
            </a:r>
          </a:p>
        </p:txBody>
      </p:sp>
      <p:sp>
        <p:nvSpPr>
          <p:cNvPr id="14" name="TextBox 13"/>
          <p:cNvSpPr txBox="1"/>
          <p:nvPr/>
        </p:nvSpPr>
        <p:spPr>
          <a:xfrm>
            <a:off x="694944" y="2273198"/>
            <a:ext cx="7808976" cy="179222"/>
          </a:xfrm>
          <a:prstGeom prst="rect">
            <a:avLst/>
          </a:prstGeom>
          <a:noFill/>
        </p:spPr>
        <p:txBody>
          <a:bodyPr wrap="square" anchor="t">
            <a:spAutoFit/>
          </a:bodyPr>
          <a:lstStyle/>
          <a:p>
            <a:pPr algn="l">
              <a:spcAft>
                <a:spcPts val="300"/>
              </a:spcAft>
            </a:pPr>
            <a:r>
              <a:rPr sz="850" b="0">
                <a:solidFill>
                  <a:srgbClr val="5B6372"/>
                </a:solidFill>
                <a:latin typeface="Arial"/>
              </a:rPr>
              <a:t>Re-read the seven guiding principles and be able to apply each to a scenario.</a:t>
            </a:r>
          </a:p>
        </p:txBody>
      </p:sp>
      <p:sp>
        <p:nvSpPr>
          <p:cNvPr id="15" name="Rectangle 14"/>
          <p:cNvSpPr/>
          <p:nvPr/>
        </p:nvSpPr>
        <p:spPr>
          <a:xfrm>
            <a:off x="530352" y="2644444"/>
            <a:ext cx="8083296" cy="5998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 y="2644444"/>
            <a:ext cx="41148" cy="59984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2735884"/>
            <a:ext cx="7808976" cy="237744"/>
          </a:xfrm>
          <a:prstGeom prst="rect">
            <a:avLst/>
          </a:prstGeom>
          <a:noFill/>
        </p:spPr>
        <p:txBody>
          <a:bodyPr wrap="square" anchor="t">
            <a:spAutoFit/>
          </a:bodyPr>
          <a:lstStyle/>
          <a:p>
            <a:pPr algn="l">
              <a:spcAft>
                <a:spcPts val="300"/>
              </a:spcAft>
            </a:pPr>
            <a:r>
              <a:rPr sz="1100" b="1">
                <a:solidFill>
                  <a:srgbClr val="161B26"/>
                </a:solidFill>
                <a:latin typeface="Arial"/>
              </a:rPr>
              <a:t>3</a:t>
            </a:r>
          </a:p>
        </p:txBody>
      </p:sp>
      <p:sp>
        <p:nvSpPr>
          <p:cNvPr id="18" name="TextBox 17"/>
          <p:cNvSpPr txBox="1"/>
          <p:nvPr/>
        </p:nvSpPr>
        <p:spPr>
          <a:xfrm>
            <a:off x="694944" y="2991916"/>
            <a:ext cx="7808976" cy="179222"/>
          </a:xfrm>
          <a:prstGeom prst="rect">
            <a:avLst/>
          </a:prstGeom>
          <a:noFill/>
        </p:spPr>
        <p:txBody>
          <a:bodyPr wrap="square" anchor="t">
            <a:spAutoFit/>
          </a:bodyPr>
          <a:lstStyle/>
          <a:p>
            <a:pPr algn="l">
              <a:spcAft>
                <a:spcPts val="300"/>
              </a:spcAft>
            </a:pPr>
            <a:r>
              <a:rPr sz="850" b="0">
                <a:solidFill>
                  <a:srgbClr val="5B6372"/>
                </a:solidFill>
                <a:latin typeface="Arial"/>
              </a:rPr>
              <a:t>Memorise the purpose statements of the ITIL practices covered in Topic 5.</a:t>
            </a:r>
          </a:p>
        </p:txBody>
      </p:sp>
      <p:sp>
        <p:nvSpPr>
          <p:cNvPr id="19" name="Rectangle 18"/>
          <p:cNvSpPr/>
          <p:nvPr/>
        </p:nvSpPr>
        <p:spPr>
          <a:xfrm>
            <a:off x="530352" y="3363162"/>
            <a:ext cx="8083296" cy="5998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0352" y="3363162"/>
            <a:ext cx="41148" cy="5998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 y="3454602"/>
            <a:ext cx="7808976" cy="237744"/>
          </a:xfrm>
          <a:prstGeom prst="rect">
            <a:avLst/>
          </a:prstGeom>
          <a:noFill/>
        </p:spPr>
        <p:txBody>
          <a:bodyPr wrap="square" anchor="t">
            <a:spAutoFit/>
          </a:bodyPr>
          <a:lstStyle/>
          <a:p>
            <a:pPr algn="l">
              <a:spcAft>
                <a:spcPts val="300"/>
              </a:spcAft>
            </a:pPr>
            <a:r>
              <a:rPr sz="1100" b="1">
                <a:solidFill>
                  <a:srgbClr val="161B26"/>
                </a:solidFill>
                <a:latin typeface="Arial"/>
              </a:rPr>
              <a:t>4</a:t>
            </a:r>
          </a:p>
        </p:txBody>
      </p:sp>
      <p:sp>
        <p:nvSpPr>
          <p:cNvPr id="22" name="TextBox 21"/>
          <p:cNvSpPr txBox="1"/>
          <p:nvPr/>
        </p:nvSpPr>
        <p:spPr>
          <a:xfrm>
            <a:off x="694944" y="3710634"/>
            <a:ext cx="7808976" cy="179222"/>
          </a:xfrm>
          <a:prstGeom prst="rect">
            <a:avLst/>
          </a:prstGeom>
          <a:noFill/>
        </p:spPr>
        <p:txBody>
          <a:bodyPr wrap="square" anchor="t">
            <a:spAutoFit/>
          </a:bodyPr>
          <a:lstStyle/>
          <a:p>
            <a:pPr algn="l">
              <a:spcAft>
                <a:spcPts val="300"/>
              </a:spcAft>
            </a:pPr>
            <a:r>
              <a:rPr sz="850" b="0">
                <a:solidFill>
                  <a:srgbClr val="5B6372"/>
                </a:solidFill>
                <a:latin typeface="Arial"/>
              </a:rPr>
              <a:t>Be able to distinguish incident, problem, known error, workaround, service request and change.</a:t>
            </a:r>
          </a:p>
        </p:txBody>
      </p:sp>
      <p:sp>
        <p:nvSpPr>
          <p:cNvPr id="23" name="Rectangle 22"/>
          <p:cNvSpPr/>
          <p:nvPr/>
        </p:nvSpPr>
        <p:spPr>
          <a:xfrm>
            <a:off x="530352" y="4081880"/>
            <a:ext cx="8083296" cy="5998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30352" y="4081880"/>
            <a:ext cx="41148" cy="5998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4173320"/>
            <a:ext cx="7808976" cy="237744"/>
          </a:xfrm>
          <a:prstGeom prst="rect">
            <a:avLst/>
          </a:prstGeom>
          <a:noFill/>
        </p:spPr>
        <p:txBody>
          <a:bodyPr wrap="square" anchor="t">
            <a:spAutoFit/>
          </a:bodyPr>
          <a:lstStyle/>
          <a:p>
            <a:pPr algn="l">
              <a:spcAft>
                <a:spcPts val="300"/>
              </a:spcAft>
            </a:pPr>
            <a:r>
              <a:rPr sz="1100" b="1">
                <a:solidFill>
                  <a:srgbClr val="161B26"/>
                </a:solidFill>
                <a:latin typeface="Arial"/>
              </a:rPr>
              <a:t>5</a:t>
            </a:r>
          </a:p>
        </p:txBody>
      </p:sp>
      <p:sp>
        <p:nvSpPr>
          <p:cNvPr id="26" name="TextBox 25"/>
          <p:cNvSpPr txBox="1"/>
          <p:nvPr/>
        </p:nvSpPr>
        <p:spPr>
          <a:xfrm>
            <a:off x="694944" y="4429352"/>
            <a:ext cx="7808976" cy="179222"/>
          </a:xfrm>
          <a:prstGeom prst="rect">
            <a:avLst/>
          </a:prstGeom>
          <a:noFill/>
        </p:spPr>
        <p:txBody>
          <a:bodyPr wrap="square" anchor="t">
            <a:spAutoFit/>
          </a:bodyPr>
          <a:lstStyle/>
          <a:p>
            <a:pPr algn="l">
              <a:spcAft>
                <a:spcPts val="300"/>
              </a:spcAft>
            </a:pPr>
            <a:r>
              <a:rPr sz="850" b="0">
                <a:solidFill>
                  <a:srgbClr val="5B6372"/>
                </a:solidFill>
                <a:latin typeface="Arial"/>
              </a:rPr>
              <a:t>Attempt the practice exams and review every explanation.</a:t>
            </a:r>
          </a:p>
        </p:txBody>
      </p:sp>
      <p:sp>
        <p:nvSpPr>
          <p:cNvPr id="27" name="TextBox 26"/>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8" name="TextBox 27"/>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9" name="TextBox 28"/>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263</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0B981"/>
                </a:solidFill>
                <a:latin typeface="Arial"/>
              </a:rPr>
              <a:t>TEST YOURSELF</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Practice Exam</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8083296"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5720"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207008"/>
            <a:ext cx="7406640" cy="1371600"/>
          </a:xfrm>
          <a:prstGeom prst="rect">
            <a:avLst/>
          </a:prstGeom>
          <a:noFill/>
        </p:spPr>
        <p:txBody>
          <a:bodyPr wrap="square" anchor="ctr">
            <a:spAutoFit/>
          </a:bodyPr>
          <a:lstStyle/>
          <a:p>
            <a:pPr algn="l">
              <a:spcAft>
                <a:spcPts val="300"/>
              </a:spcAft>
            </a:pPr>
            <a:r>
              <a:rPr sz="1200" b="0">
                <a:solidFill>
                  <a:srgbClr val="161B26"/>
                </a:solidFill>
                <a:latin typeface="Arial"/>
              </a:rPr>
              <a:t>Sharpen your exam readiness with the Tertiary Infotech ITIL 4 Foundation practice exam. Attempt it under timed conditions and review every explanation.</a:t>
            </a:r>
          </a:p>
        </p:txBody>
      </p:sp>
      <p:sp>
        <p:nvSpPr>
          <p:cNvPr id="10" name="TextBox 9"/>
          <p:cNvSpPr txBox="1"/>
          <p:nvPr/>
        </p:nvSpPr>
        <p:spPr>
          <a:xfrm>
            <a:off x="530352" y="2834640"/>
            <a:ext cx="8083296" cy="365760"/>
          </a:xfrm>
          <a:prstGeom prst="rect">
            <a:avLst/>
          </a:prstGeom>
          <a:noFill/>
        </p:spPr>
        <p:txBody>
          <a:bodyPr wrap="square" anchor="t">
            <a:spAutoFit/>
          </a:bodyPr>
          <a:lstStyle/>
          <a:p>
            <a:pPr algn="ctr">
              <a:spcAft>
                <a:spcPts val="200"/>
              </a:spcAft>
            </a:pPr>
            <a:r>
              <a:rPr sz="1300" b="1">
                <a:solidFill>
                  <a:srgbClr val="1F6FEB"/>
                </a:solidFill>
                <a:latin typeface="Arial"/>
              </a:rPr>
              <a:t>https://exams.tertiaryinfotech.com/</a:t>
            </a:r>
          </a:p>
          <a:p>
            <a:pPr algn="ctr">
              <a:spcAft>
                <a:spcPts val="200"/>
              </a:spcAft>
            </a:pPr>
            <a:r>
              <a:rPr sz="1300" b="1">
                <a:solidFill>
                  <a:srgbClr val="1F6FEB"/>
                </a:solidFill>
                <a:latin typeface="Arial"/>
              </a:rPr>
              <a:t>practice-exams/axelos/axelos-itil4-foundation</a:t>
            </a:r>
          </a:p>
        </p:txBody>
      </p:sp>
      <p:sp>
        <p:nvSpPr>
          <p:cNvPr id="11" name="TextBox 10"/>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12" name="TextBox 11"/>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13" name="TextBox 12"/>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264</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7C3AED"/>
                </a:solidFill>
                <a:latin typeface="Arial"/>
              </a:rPr>
              <a:t>CONTINUE YOUR JOURNEY</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Recommended Next Courses</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298448"/>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ITIL 4 Specialist</a:t>
            </a:r>
          </a:p>
        </p:txBody>
      </p:sp>
      <p:sp>
        <p:nvSpPr>
          <p:cNvPr id="10" name="TextBox 9"/>
          <p:cNvSpPr txBox="1"/>
          <p:nvPr/>
        </p:nvSpPr>
        <p:spPr>
          <a:xfrm>
            <a:off x="694944" y="1554480"/>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Create, Deliver and Support.</a:t>
            </a:r>
          </a:p>
        </p:txBody>
      </p:sp>
      <p:sp>
        <p:nvSpPr>
          <p:cNvPr id="11" name="Rectangle 10"/>
          <p:cNvSpPr/>
          <p:nvPr/>
        </p:nvSpPr>
        <p:spPr>
          <a:xfrm>
            <a:off x="4645152" y="1207008"/>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45152" y="1207008"/>
            <a:ext cx="41148"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9744" y="1298448"/>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ITIL 4 Specialist</a:t>
            </a:r>
          </a:p>
        </p:txBody>
      </p:sp>
      <p:sp>
        <p:nvSpPr>
          <p:cNvPr id="14" name="TextBox 13"/>
          <p:cNvSpPr txBox="1"/>
          <p:nvPr/>
        </p:nvSpPr>
        <p:spPr>
          <a:xfrm>
            <a:off x="4809744" y="1554480"/>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Drive Stakeholder Value.</a:t>
            </a:r>
          </a:p>
        </p:txBody>
      </p:sp>
      <p:sp>
        <p:nvSpPr>
          <p:cNvPr id="15" name="Rectangle 14"/>
          <p:cNvSpPr/>
          <p:nvPr/>
        </p:nvSpPr>
        <p:spPr>
          <a:xfrm>
            <a:off x="530352" y="2377440"/>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 y="2377440"/>
            <a:ext cx="41148"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2468880"/>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ITIL 4 Strategist</a:t>
            </a:r>
          </a:p>
        </p:txBody>
      </p:sp>
      <p:sp>
        <p:nvSpPr>
          <p:cNvPr id="18" name="TextBox 17"/>
          <p:cNvSpPr txBox="1"/>
          <p:nvPr/>
        </p:nvSpPr>
        <p:spPr>
          <a:xfrm>
            <a:off x="694944" y="2724912"/>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Direct, Plan and Improve.</a:t>
            </a:r>
          </a:p>
        </p:txBody>
      </p:sp>
      <p:sp>
        <p:nvSpPr>
          <p:cNvPr id="19" name="Rectangle 18"/>
          <p:cNvSpPr/>
          <p:nvPr/>
        </p:nvSpPr>
        <p:spPr>
          <a:xfrm>
            <a:off x="4645152" y="2377440"/>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45152" y="2377440"/>
            <a:ext cx="41148"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9744" y="2468880"/>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COBIT / ISO 20000</a:t>
            </a:r>
          </a:p>
        </p:txBody>
      </p:sp>
      <p:sp>
        <p:nvSpPr>
          <p:cNvPr id="22" name="TextBox 21"/>
          <p:cNvSpPr txBox="1"/>
          <p:nvPr/>
        </p:nvSpPr>
        <p:spPr>
          <a:xfrm>
            <a:off x="4809744" y="2724912"/>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IT governance and service management.</a:t>
            </a:r>
          </a:p>
        </p:txBody>
      </p:sp>
      <p:sp>
        <p:nvSpPr>
          <p:cNvPr id="23" name="TextBox 22"/>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4" name="TextBox 23"/>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5" name="TextBox 24"/>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265</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7C3AED"/>
                </a:solidFill>
                <a:latin typeface="Arial"/>
              </a:rPr>
              <a:t>WE'RE HERE TO HELP</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Support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298448"/>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Email</a:t>
            </a:r>
          </a:p>
        </p:txBody>
      </p:sp>
      <p:sp>
        <p:nvSpPr>
          <p:cNvPr id="10" name="TextBox 9"/>
          <p:cNvSpPr txBox="1"/>
          <p:nvPr/>
        </p:nvSpPr>
        <p:spPr>
          <a:xfrm>
            <a:off x="694944" y="1554480"/>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enquiry@tertiaryinfotech.com</a:t>
            </a:r>
          </a:p>
        </p:txBody>
      </p:sp>
      <p:sp>
        <p:nvSpPr>
          <p:cNvPr id="11" name="Rectangle 10"/>
          <p:cNvSpPr/>
          <p:nvPr/>
        </p:nvSpPr>
        <p:spPr>
          <a:xfrm>
            <a:off x="4645152" y="1207008"/>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45152" y="1207008"/>
            <a:ext cx="41148"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9744" y="1298448"/>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Website</a:t>
            </a:r>
          </a:p>
        </p:txBody>
      </p:sp>
      <p:sp>
        <p:nvSpPr>
          <p:cNvPr id="14" name="TextBox 13"/>
          <p:cNvSpPr txBox="1"/>
          <p:nvPr/>
        </p:nvSpPr>
        <p:spPr>
          <a:xfrm>
            <a:off x="4809744" y="1554480"/>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www.tertiarycourses.com.sg</a:t>
            </a:r>
          </a:p>
        </p:txBody>
      </p:sp>
      <p:sp>
        <p:nvSpPr>
          <p:cNvPr id="15" name="Rectangle 14"/>
          <p:cNvSpPr/>
          <p:nvPr/>
        </p:nvSpPr>
        <p:spPr>
          <a:xfrm>
            <a:off x="530352" y="2377440"/>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 y="2377440"/>
            <a:ext cx="41148"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2468880"/>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LMS / TMS</a:t>
            </a:r>
          </a:p>
        </p:txBody>
      </p:sp>
      <p:sp>
        <p:nvSpPr>
          <p:cNvPr id="18" name="TextBox 17"/>
          <p:cNvSpPr txBox="1"/>
          <p:nvPr/>
        </p:nvSpPr>
        <p:spPr>
          <a:xfrm>
            <a:off x="694944" y="2724912"/>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lms-tms.tertiaryinfotech.com</a:t>
            </a:r>
          </a:p>
        </p:txBody>
      </p:sp>
      <p:sp>
        <p:nvSpPr>
          <p:cNvPr id="19" name="Rectangle 18"/>
          <p:cNvSpPr/>
          <p:nvPr/>
        </p:nvSpPr>
        <p:spPr>
          <a:xfrm>
            <a:off x="4645152" y="2377440"/>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45152" y="2377440"/>
            <a:ext cx="41148"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9744" y="2468880"/>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Practice exams</a:t>
            </a:r>
          </a:p>
        </p:txBody>
      </p:sp>
      <p:sp>
        <p:nvSpPr>
          <p:cNvPr id="22" name="TextBox 21"/>
          <p:cNvSpPr txBox="1"/>
          <p:nvPr/>
        </p:nvSpPr>
        <p:spPr>
          <a:xfrm>
            <a:off x="4809744" y="2724912"/>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exams.tertiaryinfotech.com</a:t>
            </a:r>
          </a:p>
        </p:txBody>
      </p:sp>
      <p:sp>
        <p:nvSpPr>
          <p:cNvPr id="23" name="TextBox 22"/>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4" name="TextBox 23"/>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5" name="TextBox 24"/>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266</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WRAP-UP</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Assessment</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207008"/>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07008"/>
            <a:ext cx="41148"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298448"/>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Written Assessment (SAQ)</a:t>
            </a:r>
          </a:p>
        </p:txBody>
      </p:sp>
      <p:sp>
        <p:nvSpPr>
          <p:cNvPr id="10" name="TextBox 9"/>
          <p:cNvSpPr txBox="1"/>
          <p:nvPr/>
        </p:nvSpPr>
        <p:spPr>
          <a:xfrm>
            <a:off x="694944" y="1554480"/>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1 hour, open book.</a:t>
            </a:r>
          </a:p>
        </p:txBody>
      </p:sp>
      <p:sp>
        <p:nvSpPr>
          <p:cNvPr id="11" name="Rectangle 10"/>
          <p:cNvSpPr/>
          <p:nvPr/>
        </p:nvSpPr>
        <p:spPr>
          <a:xfrm>
            <a:off x="4645152" y="1207008"/>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45152" y="1207008"/>
            <a:ext cx="41148"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9744" y="1298448"/>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Case Study (CS)</a:t>
            </a:r>
          </a:p>
        </p:txBody>
      </p:sp>
      <p:sp>
        <p:nvSpPr>
          <p:cNvPr id="14" name="TextBox 13"/>
          <p:cNvSpPr txBox="1"/>
          <p:nvPr/>
        </p:nvSpPr>
        <p:spPr>
          <a:xfrm>
            <a:off x="4809744" y="1554480"/>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1 hour, open book.</a:t>
            </a:r>
          </a:p>
        </p:txBody>
      </p:sp>
      <p:sp>
        <p:nvSpPr>
          <p:cNvPr id="15" name="Rectangle 14"/>
          <p:cNvSpPr/>
          <p:nvPr/>
        </p:nvSpPr>
        <p:spPr>
          <a:xfrm>
            <a:off x="530352" y="2377440"/>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 y="2377440"/>
            <a:ext cx="41148"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2468880"/>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Digital attendance</a:t>
            </a:r>
          </a:p>
        </p:txBody>
      </p:sp>
      <p:sp>
        <p:nvSpPr>
          <p:cNvPr id="18" name="TextBox 17"/>
          <p:cNvSpPr txBox="1"/>
          <p:nvPr/>
        </p:nvSpPr>
        <p:spPr>
          <a:xfrm>
            <a:off x="694944" y="2724912"/>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Take the Assessment attendance (TRAQOM).</a:t>
            </a:r>
          </a:p>
        </p:txBody>
      </p:sp>
      <p:sp>
        <p:nvSpPr>
          <p:cNvPr id="19" name="Rectangle 18"/>
          <p:cNvSpPr/>
          <p:nvPr/>
        </p:nvSpPr>
        <p:spPr>
          <a:xfrm>
            <a:off x="4645152" y="2377440"/>
            <a:ext cx="3968496"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45152" y="2377440"/>
            <a:ext cx="41148"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9744" y="2468880"/>
            <a:ext cx="3694176" cy="237744"/>
          </a:xfrm>
          <a:prstGeom prst="rect">
            <a:avLst/>
          </a:prstGeom>
          <a:noFill/>
        </p:spPr>
        <p:txBody>
          <a:bodyPr wrap="square" anchor="t">
            <a:spAutoFit/>
          </a:bodyPr>
          <a:lstStyle/>
          <a:p>
            <a:pPr algn="l">
              <a:spcAft>
                <a:spcPts val="300"/>
              </a:spcAft>
            </a:pPr>
            <a:r>
              <a:rPr sz="1100" b="1">
                <a:solidFill>
                  <a:srgbClr val="161B26"/>
                </a:solidFill>
                <a:latin typeface="Arial"/>
              </a:rPr>
              <a:t>Submit on the LMS</a:t>
            </a:r>
          </a:p>
        </p:txBody>
      </p:sp>
      <p:sp>
        <p:nvSpPr>
          <p:cNvPr id="22" name="TextBox 21"/>
          <p:cNvSpPr txBox="1"/>
          <p:nvPr/>
        </p:nvSpPr>
        <p:spPr>
          <a:xfrm>
            <a:off x="4809744" y="2724912"/>
            <a:ext cx="3694176" cy="630936"/>
          </a:xfrm>
          <a:prstGeom prst="rect">
            <a:avLst/>
          </a:prstGeom>
          <a:noFill/>
        </p:spPr>
        <p:txBody>
          <a:bodyPr wrap="square" anchor="t">
            <a:spAutoFit/>
          </a:bodyPr>
          <a:lstStyle/>
          <a:p>
            <a:pPr algn="l">
              <a:spcAft>
                <a:spcPts val="300"/>
              </a:spcAft>
            </a:pPr>
            <a:r>
              <a:rPr sz="850" b="0">
                <a:solidFill>
                  <a:srgbClr val="5B6372"/>
                </a:solidFill>
                <a:latin typeface="Arial"/>
              </a:rPr>
              <a:t>lms-tms.tertiaryinfotech.com</a:t>
            </a:r>
          </a:p>
        </p:txBody>
      </p:sp>
      <p:sp>
        <p:nvSpPr>
          <p:cNvPr id="23" name="TextBox 22"/>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24" name="TextBox 23"/>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25" name="TextBox 24"/>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267</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ON ASSESSMENT DAY</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Assessment Flow</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600200"/>
            <a:ext cx="1543507"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600200"/>
            <a:ext cx="1543507"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28369" y="176479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1810512"/>
            <a:ext cx="1543507" cy="274320"/>
          </a:xfrm>
          <a:prstGeom prst="rect">
            <a:avLst/>
          </a:prstGeom>
          <a:noFill/>
        </p:spPr>
        <p:txBody>
          <a:bodyPr wrap="square" anchor="t">
            <a:spAutoFit/>
          </a:bodyPr>
          <a:lstStyle/>
          <a:p>
            <a:pPr algn="ctr">
              <a:spcAft>
                <a:spcPts val="300"/>
              </a:spcAft>
            </a:pPr>
            <a:r>
              <a:rPr sz="1100" b="1">
                <a:solidFill>
                  <a:srgbClr val="FFFFFF"/>
                </a:solidFill>
                <a:latin typeface="Arial"/>
              </a:rPr>
              <a:t>1</a:t>
            </a:r>
          </a:p>
        </p:txBody>
      </p:sp>
      <p:sp>
        <p:nvSpPr>
          <p:cNvPr id="11" name="TextBox 10"/>
          <p:cNvSpPr txBox="1"/>
          <p:nvPr/>
        </p:nvSpPr>
        <p:spPr>
          <a:xfrm>
            <a:off x="576072" y="2221992"/>
            <a:ext cx="1452067" cy="365760"/>
          </a:xfrm>
          <a:prstGeom prst="rect">
            <a:avLst/>
          </a:prstGeom>
          <a:noFill/>
        </p:spPr>
        <p:txBody>
          <a:bodyPr wrap="square" anchor="t">
            <a:spAutoFit/>
          </a:bodyPr>
          <a:lstStyle/>
          <a:p>
            <a:pPr algn="ctr">
              <a:spcAft>
                <a:spcPts val="300"/>
              </a:spcAft>
            </a:pPr>
            <a:r>
              <a:rPr sz="950" b="1">
                <a:solidFill>
                  <a:srgbClr val="161B26"/>
                </a:solidFill>
                <a:latin typeface="Arial"/>
              </a:rPr>
              <a:t>TRAQOM survey</a:t>
            </a:r>
          </a:p>
        </p:txBody>
      </p:sp>
      <p:sp>
        <p:nvSpPr>
          <p:cNvPr id="12" name="TextBox 11"/>
          <p:cNvSpPr txBox="1"/>
          <p:nvPr/>
        </p:nvSpPr>
        <p:spPr>
          <a:xfrm>
            <a:off x="576072" y="2560320"/>
            <a:ext cx="1452067" cy="475488"/>
          </a:xfrm>
          <a:prstGeom prst="rect">
            <a:avLst/>
          </a:prstGeom>
          <a:noFill/>
        </p:spPr>
        <p:txBody>
          <a:bodyPr wrap="square" anchor="t">
            <a:spAutoFit/>
          </a:bodyPr>
          <a:lstStyle/>
          <a:p>
            <a:pPr algn="ctr">
              <a:spcAft>
                <a:spcPts val="300"/>
              </a:spcAft>
            </a:pPr>
            <a:r>
              <a:rPr sz="750" b="0">
                <a:solidFill>
                  <a:srgbClr val="5B6372"/>
                </a:solidFill>
                <a:latin typeface="Arial"/>
              </a:rPr>
              <a:t>QR on the LMS</a:t>
            </a:r>
          </a:p>
        </p:txBody>
      </p:sp>
      <p:sp>
        <p:nvSpPr>
          <p:cNvPr id="13" name="TextBox 12"/>
          <p:cNvSpPr txBox="1"/>
          <p:nvPr/>
        </p:nvSpPr>
        <p:spPr>
          <a:xfrm>
            <a:off x="2073859" y="2148840"/>
            <a:ext cx="91440" cy="274320"/>
          </a:xfrm>
          <a:prstGeom prst="rect">
            <a:avLst/>
          </a:prstGeom>
          <a:noFill/>
        </p:spPr>
        <p:txBody>
          <a:bodyPr wrap="square" anchor="t">
            <a:spAutoFit/>
          </a:bodyPr>
          <a:lstStyle/>
          <a:p>
            <a:pPr algn="ctr">
              <a:spcAft>
                <a:spcPts val="300"/>
              </a:spcAft>
            </a:pPr>
            <a:r>
              <a:rPr sz="900" b="1">
                <a:solidFill>
                  <a:srgbClr val="1F6FEB"/>
                </a:solidFill>
                <a:latin typeface="Arial"/>
              </a:rPr>
              <a:t>▶</a:t>
            </a:r>
          </a:p>
        </p:txBody>
      </p:sp>
      <p:sp>
        <p:nvSpPr>
          <p:cNvPr id="14" name="Rectangle 13"/>
          <p:cNvSpPr/>
          <p:nvPr/>
        </p:nvSpPr>
        <p:spPr>
          <a:xfrm>
            <a:off x="2165299" y="1600200"/>
            <a:ext cx="1543507"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165299" y="1600200"/>
            <a:ext cx="1543507"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763316" y="176479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65299" y="1810512"/>
            <a:ext cx="1543507" cy="274320"/>
          </a:xfrm>
          <a:prstGeom prst="rect">
            <a:avLst/>
          </a:prstGeom>
          <a:noFill/>
        </p:spPr>
        <p:txBody>
          <a:bodyPr wrap="square" anchor="t">
            <a:spAutoFit/>
          </a:bodyPr>
          <a:lstStyle/>
          <a:p>
            <a:pPr algn="ctr">
              <a:spcAft>
                <a:spcPts val="300"/>
              </a:spcAft>
            </a:pPr>
            <a:r>
              <a:rPr sz="1100" b="1">
                <a:solidFill>
                  <a:srgbClr val="FFFFFF"/>
                </a:solidFill>
                <a:latin typeface="Arial"/>
              </a:rPr>
              <a:t>2</a:t>
            </a:r>
          </a:p>
        </p:txBody>
      </p:sp>
      <p:sp>
        <p:nvSpPr>
          <p:cNvPr id="18" name="TextBox 17"/>
          <p:cNvSpPr txBox="1"/>
          <p:nvPr/>
        </p:nvSpPr>
        <p:spPr>
          <a:xfrm>
            <a:off x="2211019" y="2221992"/>
            <a:ext cx="1452067" cy="365760"/>
          </a:xfrm>
          <a:prstGeom prst="rect">
            <a:avLst/>
          </a:prstGeom>
          <a:noFill/>
        </p:spPr>
        <p:txBody>
          <a:bodyPr wrap="square" anchor="t">
            <a:spAutoFit/>
          </a:bodyPr>
          <a:lstStyle/>
          <a:p>
            <a:pPr algn="ctr">
              <a:spcAft>
                <a:spcPts val="300"/>
              </a:spcAft>
            </a:pPr>
            <a:r>
              <a:rPr sz="950" b="1">
                <a:solidFill>
                  <a:srgbClr val="161B26"/>
                </a:solidFill>
                <a:latin typeface="Arial"/>
              </a:rPr>
              <a:t>Attendance</a:t>
            </a:r>
          </a:p>
        </p:txBody>
      </p:sp>
      <p:sp>
        <p:nvSpPr>
          <p:cNvPr id="19" name="TextBox 18"/>
          <p:cNvSpPr txBox="1"/>
          <p:nvPr/>
        </p:nvSpPr>
        <p:spPr>
          <a:xfrm>
            <a:off x="2211019" y="2560320"/>
            <a:ext cx="1452067" cy="475488"/>
          </a:xfrm>
          <a:prstGeom prst="rect">
            <a:avLst/>
          </a:prstGeom>
          <a:noFill/>
        </p:spPr>
        <p:txBody>
          <a:bodyPr wrap="square" anchor="t">
            <a:spAutoFit/>
          </a:bodyPr>
          <a:lstStyle/>
          <a:p>
            <a:pPr algn="ctr">
              <a:spcAft>
                <a:spcPts val="300"/>
              </a:spcAft>
            </a:pPr>
            <a:r>
              <a:rPr sz="750" b="0">
                <a:solidFill>
                  <a:srgbClr val="5B6372"/>
                </a:solidFill>
                <a:latin typeface="Arial"/>
              </a:rPr>
              <a:t>scan the SSG QR</a:t>
            </a:r>
          </a:p>
        </p:txBody>
      </p:sp>
      <p:sp>
        <p:nvSpPr>
          <p:cNvPr id="20" name="TextBox 19"/>
          <p:cNvSpPr txBox="1"/>
          <p:nvPr/>
        </p:nvSpPr>
        <p:spPr>
          <a:xfrm>
            <a:off x="3708806" y="2148840"/>
            <a:ext cx="91440" cy="274320"/>
          </a:xfrm>
          <a:prstGeom prst="rect">
            <a:avLst/>
          </a:prstGeom>
          <a:noFill/>
        </p:spPr>
        <p:txBody>
          <a:bodyPr wrap="square" anchor="t">
            <a:spAutoFit/>
          </a:bodyPr>
          <a:lstStyle/>
          <a:p>
            <a:pPr algn="ctr">
              <a:spcAft>
                <a:spcPts val="300"/>
              </a:spcAft>
            </a:pPr>
            <a:r>
              <a:rPr sz="900" b="1">
                <a:solidFill>
                  <a:srgbClr val="1F6FEB"/>
                </a:solidFill>
                <a:latin typeface="Arial"/>
              </a:rPr>
              <a:t>▶</a:t>
            </a:r>
          </a:p>
        </p:txBody>
      </p:sp>
      <p:sp>
        <p:nvSpPr>
          <p:cNvPr id="21" name="Rectangle 20"/>
          <p:cNvSpPr/>
          <p:nvPr/>
        </p:nvSpPr>
        <p:spPr>
          <a:xfrm>
            <a:off x="3800246" y="1600200"/>
            <a:ext cx="1543507"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800246" y="1600200"/>
            <a:ext cx="1543507"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398263" y="176479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00246" y="1810512"/>
            <a:ext cx="1543507" cy="274320"/>
          </a:xfrm>
          <a:prstGeom prst="rect">
            <a:avLst/>
          </a:prstGeom>
          <a:noFill/>
        </p:spPr>
        <p:txBody>
          <a:bodyPr wrap="square" anchor="t">
            <a:spAutoFit/>
          </a:bodyPr>
          <a:lstStyle/>
          <a:p>
            <a:pPr algn="ctr">
              <a:spcAft>
                <a:spcPts val="300"/>
              </a:spcAft>
            </a:pPr>
            <a:r>
              <a:rPr sz="1100" b="1">
                <a:solidFill>
                  <a:srgbClr val="FFFFFF"/>
                </a:solidFill>
                <a:latin typeface="Arial"/>
              </a:rPr>
              <a:t>3</a:t>
            </a:r>
          </a:p>
        </p:txBody>
      </p:sp>
      <p:sp>
        <p:nvSpPr>
          <p:cNvPr id="25" name="TextBox 24"/>
          <p:cNvSpPr txBox="1"/>
          <p:nvPr/>
        </p:nvSpPr>
        <p:spPr>
          <a:xfrm>
            <a:off x="3845966" y="2221992"/>
            <a:ext cx="1452067" cy="365760"/>
          </a:xfrm>
          <a:prstGeom prst="rect">
            <a:avLst/>
          </a:prstGeom>
          <a:noFill/>
        </p:spPr>
        <p:txBody>
          <a:bodyPr wrap="square" anchor="t">
            <a:spAutoFit/>
          </a:bodyPr>
          <a:lstStyle/>
          <a:p>
            <a:pPr algn="ctr">
              <a:spcAft>
                <a:spcPts val="300"/>
              </a:spcAft>
            </a:pPr>
            <a:r>
              <a:rPr sz="950" b="1">
                <a:solidFill>
                  <a:srgbClr val="161B26"/>
                </a:solidFill>
                <a:latin typeface="Arial"/>
              </a:rPr>
              <a:t>Sit WA then CS</a:t>
            </a:r>
          </a:p>
        </p:txBody>
      </p:sp>
      <p:sp>
        <p:nvSpPr>
          <p:cNvPr id="26" name="TextBox 25"/>
          <p:cNvSpPr txBox="1"/>
          <p:nvPr/>
        </p:nvSpPr>
        <p:spPr>
          <a:xfrm>
            <a:off x="3845966" y="2560320"/>
            <a:ext cx="1452067" cy="475488"/>
          </a:xfrm>
          <a:prstGeom prst="rect">
            <a:avLst/>
          </a:prstGeom>
          <a:noFill/>
        </p:spPr>
        <p:txBody>
          <a:bodyPr wrap="square" anchor="t">
            <a:spAutoFit/>
          </a:bodyPr>
          <a:lstStyle/>
          <a:p>
            <a:pPr algn="ctr">
              <a:spcAft>
                <a:spcPts val="300"/>
              </a:spcAft>
            </a:pPr>
            <a:r>
              <a:rPr sz="750" b="0">
                <a:solidFill>
                  <a:srgbClr val="5B6372"/>
                </a:solidFill>
                <a:latin typeface="Arial"/>
              </a:rPr>
              <a:t>open book</a:t>
            </a:r>
          </a:p>
        </p:txBody>
      </p:sp>
      <p:sp>
        <p:nvSpPr>
          <p:cNvPr id="27" name="TextBox 26"/>
          <p:cNvSpPr txBox="1"/>
          <p:nvPr/>
        </p:nvSpPr>
        <p:spPr>
          <a:xfrm>
            <a:off x="5343753" y="2148840"/>
            <a:ext cx="91440" cy="274320"/>
          </a:xfrm>
          <a:prstGeom prst="rect">
            <a:avLst/>
          </a:prstGeom>
          <a:noFill/>
        </p:spPr>
        <p:txBody>
          <a:bodyPr wrap="square" anchor="t">
            <a:spAutoFit/>
          </a:bodyPr>
          <a:lstStyle/>
          <a:p>
            <a:pPr algn="ctr">
              <a:spcAft>
                <a:spcPts val="300"/>
              </a:spcAft>
            </a:pPr>
            <a:r>
              <a:rPr sz="900" b="1">
                <a:solidFill>
                  <a:srgbClr val="1F6FEB"/>
                </a:solidFill>
                <a:latin typeface="Arial"/>
              </a:rPr>
              <a:t>▶</a:t>
            </a:r>
          </a:p>
        </p:txBody>
      </p:sp>
      <p:sp>
        <p:nvSpPr>
          <p:cNvPr id="28" name="Rectangle 27"/>
          <p:cNvSpPr/>
          <p:nvPr/>
        </p:nvSpPr>
        <p:spPr>
          <a:xfrm>
            <a:off x="5435193" y="1600200"/>
            <a:ext cx="1543507"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35193" y="1600200"/>
            <a:ext cx="1543507"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033210" y="176479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35193" y="1810512"/>
            <a:ext cx="1543507" cy="274320"/>
          </a:xfrm>
          <a:prstGeom prst="rect">
            <a:avLst/>
          </a:prstGeom>
          <a:noFill/>
        </p:spPr>
        <p:txBody>
          <a:bodyPr wrap="square" anchor="t">
            <a:spAutoFit/>
          </a:bodyPr>
          <a:lstStyle/>
          <a:p>
            <a:pPr algn="ctr">
              <a:spcAft>
                <a:spcPts val="300"/>
              </a:spcAft>
            </a:pPr>
            <a:r>
              <a:rPr sz="1100" b="1">
                <a:solidFill>
                  <a:srgbClr val="FFFFFF"/>
                </a:solidFill>
                <a:latin typeface="Arial"/>
              </a:rPr>
              <a:t>4</a:t>
            </a:r>
          </a:p>
        </p:txBody>
      </p:sp>
      <p:sp>
        <p:nvSpPr>
          <p:cNvPr id="32" name="TextBox 31"/>
          <p:cNvSpPr txBox="1"/>
          <p:nvPr/>
        </p:nvSpPr>
        <p:spPr>
          <a:xfrm>
            <a:off x="5480913" y="2221992"/>
            <a:ext cx="1452067" cy="365760"/>
          </a:xfrm>
          <a:prstGeom prst="rect">
            <a:avLst/>
          </a:prstGeom>
          <a:noFill/>
        </p:spPr>
        <p:txBody>
          <a:bodyPr wrap="square" anchor="t">
            <a:spAutoFit/>
          </a:bodyPr>
          <a:lstStyle/>
          <a:p>
            <a:pPr algn="ctr">
              <a:spcAft>
                <a:spcPts val="300"/>
              </a:spcAft>
            </a:pPr>
            <a:r>
              <a:rPr sz="950" b="1">
                <a:solidFill>
                  <a:srgbClr val="161B26"/>
                </a:solidFill>
                <a:latin typeface="Arial"/>
              </a:rPr>
              <a:t>Submit</a:t>
            </a:r>
          </a:p>
        </p:txBody>
      </p:sp>
      <p:sp>
        <p:nvSpPr>
          <p:cNvPr id="33" name="TextBox 32"/>
          <p:cNvSpPr txBox="1"/>
          <p:nvPr/>
        </p:nvSpPr>
        <p:spPr>
          <a:xfrm>
            <a:off x="5480913" y="2560320"/>
            <a:ext cx="1452067" cy="475488"/>
          </a:xfrm>
          <a:prstGeom prst="rect">
            <a:avLst/>
          </a:prstGeom>
          <a:noFill/>
        </p:spPr>
        <p:txBody>
          <a:bodyPr wrap="square" anchor="t">
            <a:spAutoFit/>
          </a:bodyPr>
          <a:lstStyle/>
          <a:p>
            <a:pPr algn="ctr">
              <a:spcAft>
                <a:spcPts val="300"/>
              </a:spcAft>
            </a:pPr>
            <a:r>
              <a:rPr sz="750" b="0">
                <a:solidFill>
                  <a:srgbClr val="5B6372"/>
                </a:solidFill>
                <a:latin typeface="Arial"/>
              </a:rPr>
              <a:t>on the LMS</a:t>
            </a:r>
          </a:p>
        </p:txBody>
      </p:sp>
      <p:sp>
        <p:nvSpPr>
          <p:cNvPr id="34" name="TextBox 33"/>
          <p:cNvSpPr txBox="1"/>
          <p:nvPr/>
        </p:nvSpPr>
        <p:spPr>
          <a:xfrm>
            <a:off x="6978700" y="2148840"/>
            <a:ext cx="91440" cy="274320"/>
          </a:xfrm>
          <a:prstGeom prst="rect">
            <a:avLst/>
          </a:prstGeom>
          <a:noFill/>
        </p:spPr>
        <p:txBody>
          <a:bodyPr wrap="square" anchor="t">
            <a:spAutoFit/>
          </a:bodyPr>
          <a:lstStyle/>
          <a:p>
            <a:pPr algn="ctr">
              <a:spcAft>
                <a:spcPts val="300"/>
              </a:spcAft>
            </a:pPr>
            <a:r>
              <a:rPr sz="900" b="1">
                <a:solidFill>
                  <a:srgbClr val="1F6FEB"/>
                </a:solidFill>
                <a:latin typeface="Arial"/>
              </a:rPr>
              <a:t>▶</a:t>
            </a:r>
          </a:p>
        </p:txBody>
      </p:sp>
      <p:sp>
        <p:nvSpPr>
          <p:cNvPr id="35" name="Rectangle 34"/>
          <p:cNvSpPr/>
          <p:nvPr/>
        </p:nvSpPr>
        <p:spPr>
          <a:xfrm>
            <a:off x="7070140" y="1600200"/>
            <a:ext cx="1543507"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70140" y="1600200"/>
            <a:ext cx="1543507"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668157" y="176479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70140" y="1810512"/>
            <a:ext cx="1543507" cy="274320"/>
          </a:xfrm>
          <a:prstGeom prst="rect">
            <a:avLst/>
          </a:prstGeom>
          <a:noFill/>
        </p:spPr>
        <p:txBody>
          <a:bodyPr wrap="square" anchor="t">
            <a:spAutoFit/>
          </a:bodyPr>
          <a:lstStyle/>
          <a:p>
            <a:pPr algn="ctr">
              <a:spcAft>
                <a:spcPts val="300"/>
              </a:spcAft>
            </a:pPr>
            <a:r>
              <a:rPr sz="1100" b="1">
                <a:solidFill>
                  <a:srgbClr val="FFFFFF"/>
                </a:solidFill>
                <a:latin typeface="Arial"/>
              </a:rPr>
              <a:t>5</a:t>
            </a:r>
          </a:p>
        </p:txBody>
      </p:sp>
      <p:sp>
        <p:nvSpPr>
          <p:cNvPr id="39" name="TextBox 38"/>
          <p:cNvSpPr txBox="1"/>
          <p:nvPr/>
        </p:nvSpPr>
        <p:spPr>
          <a:xfrm>
            <a:off x="7115860" y="2221992"/>
            <a:ext cx="1452067" cy="365760"/>
          </a:xfrm>
          <a:prstGeom prst="rect">
            <a:avLst/>
          </a:prstGeom>
          <a:noFill/>
        </p:spPr>
        <p:txBody>
          <a:bodyPr wrap="square" anchor="t">
            <a:spAutoFit/>
          </a:bodyPr>
          <a:lstStyle/>
          <a:p>
            <a:pPr algn="ctr">
              <a:spcAft>
                <a:spcPts val="300"/>
              </a:spcAft>
            </a:pPr>
            <a:r>
              <a:rPr sz="950" b="1">
                <a:solidFill>
                  <a:srgbClr val="161B26"/>
                </a:solidFill>
                <a:latin typeface="Arial"/>
              </a:rPr>
              <a:t>Sign off</a:t>
            </a:r>
          </a:p>
        </p:txBody>
      </p:sp>
      <p:sp>
        <p:nvSpPr>
          <p:cNvPr id="40" name="TextBox 39"/>
          <p:cNvSpPr txBox="1"/>
          <p:nvPr/>
        </p:nvSpPr>
        <p:spPr>
          <a:xfrm>
            <a:off x="7115860" y="2560320"/>
            <a:ext cx="1452067" cy="475488"/>
          </a:xfrm>
          <a:prstGeom prst="rect">
            <a:avLst/>
          </a:prstGeom>
          <a:noFill/>
        </p:spPr>
        <p:txBody>
          <a:bodyPr wrap="square" anchor="t">
            <a:spAutoFit/>
          </a:bodyPr>
          <a:lstStyle/>
          <a:p>
            <a:pPr algn="ctr">
              <a:spcAft>
                <a:spcPts val="300"/>
              </a:spcAft>
            </a:pPr>
            <a:r>
              <a:rPr sz="750" b="0">
                <a:solidFill>
                  <a:srgbClr val="5B6372"/>
                </a:solidFill>
                <a:latin typeface="Arial"/>
              </a:rPr>
              <a:t>Summary Record</a:t>
            </a:r>
          </a:p>
        </p:txBody>
      </p:sp>
      <p:sp>
        <p:nvSpPr>
          <p:cNvPr id="41" name="TextBox 40"/>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2" name="TextBox 41"/>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3" name="TextBox 42"/>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268</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F6FEB"/>
                </a:solidFill>
                <a:latin typeface="Arial"/>
              </a:rPr>
              <a:t>TRAQOM · SSG DIGITAL ATTENDANCE</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Digital Attendance (Mandatory)</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 y="1600200"/>
            <a:ext cx="1952244"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600200"/>
            <a:ext cx="1952244"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32738" y="176479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1810512"/>
            <a:ext cx="1952244" cy="274320"/>
          </a:xfrm>
          <a:prstGeom prst="rect">
            <a:avLst/>
          </a:prstGeom>
          <a:noFill/>
        </p:spPr>
        <p:txBody>
          <a:bodyPr wrap="square" anchor="t">
            <a:spAutoFit/>
          </a:bodyPr>
          <a:lstStyle/>
          <a:p>
            <a:pPr algn="ctr">
              <a:spcAft>
                <a:spcPts val="300"/>
              </a:spcAft>
            </a:pPr>
            <a:r>
              <a:rPr sz="1100" b="1">
                <a:solidFill>
                  <a:srgbClr val="FFFFFF"/>
                </a:solidFill>
                <a:latin typeface="Arial"/>
              </a:rPr>
              <a:t>1</a:t>
            </a:r>
          </a:p>
        </p:txBody>
      </p:sp>
      <p:sp>
        <p:nvSpPr>
          <p:cNvPr id="11" name="TextBox 10"/>
          <p:cNvSpPr txBox="1"/>
          <p:nvPr/>
        </p:nvSpPr>
        <p:spPr>
          <a:xfrm>
            <a:off x="576072" y="2221992"/>
            <a:ext cx="1860804" cy="365760"/>
          </a:xfrm>
          <a:prstGeom prst="rect">
            <a:avLst/>
          </a:prstGeom>
          <a:noFill/>
        </p:spPr>
        <p:txBody>
          <a:bodyPr wrap="square" anchor="t">
            <a:spAutoFit/>
          </a:bodyPr>
          <a:lstStyle/>
          <a:p>
            <a:pPr algn="ctr">
              <a:spcAft>
                <a:spcPts val="300"/>
              </a:spcAft>
            </a:pPr>
            <a:r>
              <a:rPr sz="950" b="1">
                <a:solidFill>
                  <a:srgbClr val="161B26"/>
                </a:solidFill>
                <a:latin typeface="Arial"/>
              </a:rPr>
              <a:t>AM attendance</a:t>
            </a:r>
          </a:p>
        </p:txBody>
      </p:sp>
      <p:sp>
        <p:nvSpPr>
          <p:cNvPr id="12" name="TextBox 11"/>
          <p:cNvSpPr txBox="1"/>
          <p:nvPr/>
        </p:nvSpPr>
        <p:spPr>
          <a:xfrm>
            <a:off x="576072" y="2560320"/>
            <a:ext cx="1860804" cy="475488"/>
          </a:xfrm>
          <a:prstGeom prst="rect">
            <a:avLst/>
          </a:prstGeom>
          <a:noFill/>
        </p:spPr>
        <p:txBody>
          <a:bodyPr wrap="square" anchor="t">
            <a:spAutoFit/>
          </a:bodyPr>
          <a:lstStyle/>
          <a:p>
            <a:pPr algn="ctr">
              <a:spcAft>
                <a:spcPts val="300"/>
              </a:spcAft>
            </a:pPr>
            <a:r>
              <a:rPr sz="750" b="0">
                <a:solidFill>
                  <a:srgbClr val="5B6372"/>
                </a:solidFill>
                <a:latin typeface="Arial"/>
              </a:rPr>
              <a:t>start of each day</a:t>
            </a:r>
          </a:p>
        </p:txBody>
      </p:sp>
      <p:sp>
        <p:nvSpPr>
          <p:cNvPr id="13" name="TextBox 12"/>
          <p:cNvSpPr txBox="1"/>
          <p:nvPr/>
        </p:nvSpPr>
        <p:spPr>
          <a:xfrm>
            <a:off x="2482596" y="2148840"/>
            <a:ext cx="91440" cy="274320"/>
          </a:xfrm>
          <a:prstGeom prst="rect">
            <a:avLst/>
          </a:prstGeom>
          <a:noFill/>
        </p:spPr>
        <p:txBody>
          <a:bodyPr wrap="square" anchor="t">
            <a:spAutoFit/>
          </a:bodyPr>
          <a:lstStyle/>
          <a:p>
            <a:pPr algn="ctr">
              <a:spcAft>
                <a:spcPts val="300"/>
              </a:spcAft>
            </a:pPr>
            <a:r>
              <a:rPr sz="900" b="1">
                <a:solidFill>
                  <a:srgbClr val="1F6FEB"/>
                </a:solidFill>
                <a:latin typeface="Arial"/>
              </a:rPr>
              <a:t>▶</a:t>
            </a:r>
          </a:p>
        </p:txBody>
      </p:sp>
      <p:sp>
        <p:nvSpPr>
          <p:cNvPr id="14" name="Rectangle 13"/>
          <p:cNvSpPr/>
          <p:nvPr/>
        </p:nvSpPr>
        <p:spPr>
          <a:xfrm>
            <a:off x="2574036" y="1600200"/>
            <a:ext cx="1952244"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74036" y="1600200"/>
            <a:ext cx="1952244"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376422" y="176479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74036" y="1810512"/>
            <a:ext cx="1952244" cy="274320"/>
          </a:xfrm>
          <a:prstGeom prst="rect">
            <a:avLst/>
          </a:prstGeom>
          <a:noFill/>
        </p:spPr>
        <p:txBody>
          <a:bodyPr wrap="square" anchor="t">
            <a:spAutoFit/>
          </a:bodyPr>
          <a:lstStyle/>
          <a:p>
            <a:pPr algn="ctr">
              <a:spcAft>
                <a:spcPts val="300"/>
              </a:spcAft>
            </a:pPr>
            <a:r>
              <a:rPr sz="1100" b="1">
                <a:solidFill>
                  <a:srgbClr val="FFFFFF"/>
                </a:solidFill>
                <a:latin typeface="Arial"/>
              </a:rPr>
              <a:t>2</a:t>
            </a:r>
          </a:p>
        </p:txBody>
      </p:sp>
      <p:sp>
        <p:nvSpPr>
          <p:cNvPr id="18" name="TextBox 17"/>
          <p:cNvSpPr txBox="1"/>
          <p:nvPr/>
        </p:nvSpPr>
        <p:spPr>
          <a:xfrm>
            <a:off x="2619756" y="2221992"/>
            <a:ext cx="1860804" cy="365760"/>
          </a:xfrm>
          <a:prstGeom prst="rect">
            <a:avLst/>
          </a:prstGeom>
          <a:noFill/>
        </p:spPr>
        <p:txBody>
          <a:bodyPr wrap="square" anchor="t">
            <a:spAutoFit/>
          </a:bodyPr>
          <a:lstStyle/>
          <a:p>
            <a:pPr algn="ctr">
              <a:spcAft>
                <a:spcPts val="300"/>
              </a:spcAft>
            </a:pPr>
            <a:r>
              <a:rPr sz="950" b="1">
                <a:solidFill>
                  <a:srgbClr val="161B26"/>
                </a:solidFill>
                <a:latin typeface="Arial"/>
              </a:rPr>
              <a:t>PM attendance</a:t>
            </a:r>
          </a:p>
        </p:txBody>
      </p:sp>
      <p:sp>
        <p:nvSpPr>
          <p:cNvPr id="19" name="TextBox 18"/>
          <p:cNvSpPr txBox="1"/>
          <p:nvPr/>
        </p:nvSpPr>
        <p:spPr>
          <a:xfrm>
            <a:off x="2619756" y="2560320"/>
            <a:ext cx="1860804" cy="475488"/>
          </a:xfrm>
          <a:prstGeom prst="rect">
            <a:avLst/>
          </a:prstGeom>
          <a:noFill/>
        </p:spPr>
        <p:txBody>
          <a:bodyPr wrap="square" anchor="t">
            <a:spAutoFit/>
          </a:bodyPr>
          <a:lstStyle/>
          <a:p>
            <a:pPr algn="ctr">
              <a:spcAft>
                <a:spcPts val="300"/>
              </a:spcAft>
            </a:pPr>
            <a:r>
              <a:rPr sz="750" b="0">
                <a:solidFill>
                  <a:srgbClr val="5B6372"/>
                </a:solidFill>
                <a:latin typeface="Arial"/>
              </a:rPr>
              <a:t>after lunch</a:t>
            </a:r>
          </a:p>
        </p:txBody>
      </p:sp>
      <p:sp>
        <p:nvSpPr>
          <p:cNvPr id="20" name="TextBox 19"/>
          <p:cNvSpPr txBox="1"/>
          <p:nvPr/>
        </p:nvSpPr>
        <p:spPr>
          <a:xfrm>
            <a:off x="4526280" y="2148840"/>
            <a:ext cx="91440" cy="274320"/>
          </a:xfrm>
          <a:prstGeom prst="rect">
            <a:avLst/>
          </a:prstGeom>
          <a:noFill/>
        </p:spPr>
        <p:txBody>
          <a:bodyPr wrap="square" anchor="t">
            <a:spAutoFit/>
          </a:bodyPr>
          <a:lstStyle/>
          <a:p>
            <a:pPr algn="ctr">
              <a:spcAft>
                <a:spcPts val="300"/>
              </a:spcAft>
            </a:pPr>
            <a:r>
              <a:rPr sz="900" b="1">
                <a:solidFill>
                  <a:srgbClr val="1F6FEB"/>
                </a:solidFill>
                <a:latin typeface="Arial"/>
              </a:rPr>
              <a:t>▶</a:t>
            </a:r>
          </a:p>
        </p:txBody>
      </p:sp>
      <p:sp>
        <p:nvSpPr>
          <p:cNvPr id="21" name="Rectangle 20"/>
          <p:cNvSpPr/>
          <p:nvPr/>
        </p:nvSpPr>
        <p:spPr>
          <a:xfrm>
            <a:off x="4617720" y="1600200"/>
            <a:ext cx="1952244"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17720" y="1600200"/>
            <a:ext cx="1952244"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420106" y="176479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17720" y="1810512"/>
            <a:ext cx="1952244" cy="274320"/>
          </a:xfrm>
          <a:prstGeom prst="rect">
            <a:avLst/>
          </a:prstGeom>
          <a:noFill/>
        </p:spPr>
        <p:txBody>
          <a:bodyPr wrap="square" anchor="t">
            <a:spAutoFit/>
          </a:bodyPr>
          <a:lstStyle/>
          <a:p>
            <a:pPr algn="ctr">
              <a:spcAft>
                <a:spcPts val="300"/>
              </a:spcAft>
            </a:pPr>
            <a:r>
              <a:rPr sz="1100" b="1">
                <a:solidFill>
                  <a:srgbClr val="FFFFFF"/>
                </a:solidFill>
                <a:latin typeface="Arial"/>
              </a:rPr>
              <a:t>3</a:t>
            </a:r>
          </a:p>
        </p:txBody>
      </p:sp>
      <p:sp>
        <p:nvSpPr>
          <p:cNvPr id="25" name="TextBox 24"/>
          <p:cNvSpPr txBox="1"/>
          <p:nvPr/>
        </p:nvSpPr>
        <p:spPr>
          <a:xfrm>
            <a:off x="4663440" y="2221992"/>
            <a:ext cx="1860804" cy="365760"/>
          </a:xfrm>
          <a:prstGeom prst="rect">
            <a:avLst/>
          </a:prstGeom>
          <a:noFill/>
        </p:spPr>
        <p:txBody>
          <a:bodyPr wrap="square" anchor="t">
            <a:spAutoFit/>
          </a:bodyPr>
          <a:lstStyle/>
          <a:p>
            <a:pPr algn="ctr">
              <a:spcAft>
                <a:spcPts val="300"/>
              </a:spcAft>
            </a:pPr>
            <a:r>
              <a:rPr sz="950" b="1">
                <a:solidFill>
                  <a:srgbClr val="161B26"/>
                </a:solidFill>
                <a:latin typeface="Arial"/>
              </a:rPr>
              <a:t>Assessment</a:t>
            </a:r>
          </a:p>
        </p:txBody>
      </p:sp>
      <p:sp>
        <p:nvSpPr>
          <p:cNvPr id="26" name="TextBox 25"/>
          <p:cNvSpPr txBox="1"/>
          <p:nvPr/>
        </p:nvSpPr>
        <p:spPr>
          <a:xfrm>
            <a:off x="4663440" y="2560320"/>
            <a:ext cx="1860804" cy="475488"/>
          </a:xfrm>
          <a:prstGeom prst="rect">
            <a:avLst/>
          </a:prstGeom>
          <a:noFill/>
        </p:spPr>
        <p:txBody>
          <a:bodyPr wrap="square" anchor="t">
            <a:spAutoFit/>
          </a:bodyPr>
          <a:lstStyle/>
          <a:p>
            <a:pPr algn="ctr">
              <a:spcAft>
                <a:spcPts val="300"/>
              </a:spcAft>
            </a:pPr>
            <a:r>
              <a:rPr sz="750" b="0">
                <a:solidFill>
                  <a:srgbClr val="5B6372"/>
                </a:solidFill>
                <a:latin typeface="Arial"/>
              </a:rPr>
              <a:t>before the assessment</a:t>
            </a:r>
          </a:p>
        </p:txBody>
      </p:sp>
      <p:sp>
        <p:nvSpPr>
          <p:cNvPr id="27" name="TextBox 26"/>
          <p:cNvSpPr txBox="1"/>
          <p:nvPr/>
        </p:nvSpPr>
        <p:spPr>
          <a:xfrm>
            <a:off x="6569964" y="2148840"/>
            <a:ext cx="91440" cy="274320"/>
          </a:xfrm>
          <a:prstGeom prst="rect">
            <a:avLst/>
          </a:prstGeom>
          <a:noFill/>
        </p:spPr>
        <p:txBody>
          <a:bodyPr wrap="square" anchor="t">
            <a:spAutoFit/>
          </a:bodyPr>
          <a:lstStyle/>
          <a:p>
            <a:pPr algn="ctr">
              <a:spcAft>
                <a:spcPts val="300"/>
              </a:spcAft>
            </a:pPr>
            <a:r>
              <a:rPr sz="900" b="1">
                <a:solidFill>
                  <a:srgbClr val="1F6FEB"/>
                </a:solidFill>
                <a:latin typeface="Arial"/>
              </a:rPr>
              <a:t>▶</a:t>
            </a:r>
          </a:p>
        </p:txBody>
      </p:sp>
      <p:sp>
        <p:nvSpPr>
          <p:cNvPr id="28" name="Rectangle 27"/>
          <p:cNvSpPr/>
          <p:nvPr/>
        </p:nvSpPr>
        <p:spPr>
          <a:xfrm>
            <a:off x="6661404" y="1600200"/>
            <a:ext cx="1952244" cy="1508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661404" y="1600200"/>
            <a:ext cx="1952244"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463790" y="176479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61404" y="1810512"/>
            <a:ext cx="1952244" cy="274320"/>
          </a:xfrm>
          <a:prstGeom prst="rect">
            <a:avLst/>
          </a:prstGeom>
          <a:noFill/>
        </p:spPr>
        <p:txBody>
          <a:bodyPr wrap="square" anchor="t">
            <a:spAutoFit/>
          </a:bodyPr>
          <a:lstStyle/>
          <a:p>
            <a:pPr algn="ctr">
              <a:spcAft>
                <a:spcPts val="300"/>
              </a:spcAft>
            </a:pPr>
            <a:r>
              <a:rPr sz="1100" b="1">
                <a:solidFill>
                  <a:srgbClr val="FFFFFF"/>
                </a:solidFill>
                <a:latin typeface="Arial"/>
              </a:rPr>
              <a:t>4</a:t>
            </a:r>
          </a:p>
        </p:txBody>
      </p:sp>
      <p:sp>
        <p:nvSpPr>
          <p:cNvPr id="32" name="TextBox 31"/>
          <p:cNvSpPr txBox="1"/>
          <p:nvPr/>
        </p:nvSpPr>
        <p:spPr>
          <a:xfrm>
            <a:off x="6707124" y="2221992"/>
            <a:ext cx="1860804" cy="365760"/>
          </a:xfrm>
          <a:prstGeom prst="rect">
            <a:avLst/>
          </a:prstGeom>
          <a:noFill/>
        </p:spPr>
        <p:txBody>
          <a:bodyPr wrap="square" anchor="t">
            <a:spAutoFit/>
          </a:bodyPr>
          <a:lstStyle/>
          <a:p>
            <a:pPr algn="ctr">
              <a:spcAft>
                <a:spcPts val="300"/>
              </a:spcAft>
            </a:pPr>
            <a:r>
              <a:rPr sz="950" b="1">
                <a:solidFill>
                  <a:srgbClr val="161B26"/>
                </a:solidFill>
                <a:latin typeface="Arial"/>
              </a:rPr>
              <a:t>75% minimum</a:t>
            </a:r>
          </a:p>
        </p:txBody>
      </p:sp>
      <p:sp>
        <p:nvSpPr>
          <p:cNvPr id="33" name="TextBox 32"/>
          <p:cNvSpPr txBox="1"/>
          <p:nvPr/>
        </p:nvSpPr>
        <p:spPr>
          <a:xfrm>
            <a:off x="6707124" y="2560320"/>
            <a:ext cx="1860804" cy="475488"/>
          </a:xfrm>
          <a:prstGeom prst="rect">
            <a:avLst/>
          </a:prstGeom>
          <a:noFill/>
        </p:spPr>
        <p:txBody>
          <a:bodyPr wrap="square" anchor="t">
            <a:spAutoFit/>
          </a:bodyPr>
          <a:lstStyle/>
          <a:p>
            <a:pPr algn="ctr">
              <a:spcAft>
                <a:spcPts val="300"/>
              </a:spcAft>
            </a:pPr>
            <a:r>
              <a:rPr sz="750" b="0">
                <a:solidFill>
                  <a:srgbClr val="5B6372"/>
                </a:solidFill>
                <a:latin typeface="Arial"/>
              </a:rPr>
              <a:t>funding eligibility</a:t>
            </a:r>
          </a:p>
        </p:txBody>
      </p:sp>
      <p:sp>
        <p:nvSpPr>
          <p:cNvPr id="34" name="TextBox 33"/>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35" name="TextBox 34"/>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36" name="TextBox 35"/>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269</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2024" cy="51435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645920"/>
            <a:ext cx="91440"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91640"/>
            <a:ext cx="7680960" cy="329184"/>
          </a:xfrm>
          <a:prstGeom prst="rect">
            <a:avLst/>
          </a:prstGeom>
          <a:noFill/>
        </p:spPr>
        <p:txBody>
          <a:bodyPr wrap="square" anchor="t">
            <a:spAutoFit/>
          </a:bodyPr>
          <a:lstStyle/>
          <a:p>
            <a:pPr algn="l">
              <a:spcAft>
                <a:spcPts val="300"/>
              </a:spcAft>
            </a:pPr>
            <a:r>
              <a:rPr sz="1100" b="1">
                <a:solidFill>
                  <a:srgbClr val="10B981"/>
                </a:solidFill>
                <a:latin typeface="Arial"/>
              </a:rPr>
              <a:t>SERVICE MANAGEMENT EXCELLENCE</a:t>
            </a:r>
          </a:p>
        </p:txBody>
      </p:sp>
      <p:sp>
        <p:nvSpPr>
          <p:cNvPr id="6" name="TextBox 5"/>
          <p:cNvSpPr txBox="1"/>
          <p:nvPr/>
        </p:nvSpPr>
        <p:spPr>
          <a:xfrm>
            <a:off x="822960" y="2011680"/>
            <a:ext cx="7680960" cy="822960"/>
          </a:xfrm>
          <a:prstGeom prst="rect">
            <a:avLst/>
          </a:prstGeom>
          <a:noFill/>
        </p:spPr>
        <p:txBody>
          <a:bodyPr wrap="square" anchor="t">
            <a:spAutoFit/>
          </a:bodyPr>
          <a:lstStyle/>
          <a:p>
            <a:pPr algn="l">
              <a:spcAft>
                <a:spcPts val="300"/>
              </a:spcAft>
            </a:pPr>
            <a:r>
              <a:rPr sz="3000" b="1">
                <a:solidFill>
                  <a:srgbClr val="161B26"/>
                </a:solidFill>
                <a:latin typeface="Arial"/>
              </a:rPr>
              <a:t>Thank You!</a:t>
            </a:r>
          </a:p>
        </p:txBody>
      </p:sp>
      <p:sp>
        <p:nvSpPr>
          <p:cNvPr id="7" name="TextBox 6"/>
          <p:cNvSpPr txBox="1"/>
          <p:nvPr/>
        </p:nvSpPr>
        <p:spPr>
          <a:xfrm>
            <a:off x="841248" y="2889504"/>
            <a:ext cx="7498079" cy="640080"/>
          </a:xfrm>
          <a:prstGeom prst="rect">
            <a:avLst/>
          </a:prstGeom>
          <a:noFill/>
        </p:spPr>
        <p:txBody>
          <a:bodyPr wrap="square" anchor="t">
            <a:spAutoFit/>
          </a:bodyPr>
          <a:lstStyle/>
          <a:p>
            <a:pPr algn="l">
              <a:spcAft>
                <a:spcPts val="300"/>
              </a:spcAft>
            </a:pPr>
            <a:r>
              <a:rPr sz="1050" b="0">
                <a:solidFill>
                  <a:srgbClr val="5B6372"/>
                </a:solidFill>
                <a:latin typeface="Arial"/>
              </a:rPr>
              <a:t>You are now ready to apply ITIL 4 service management practices in your organisation — and to sit the ITIL 4 Foundation exam.</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56032"/>
            <a:ext cx="8138160" cy="237744"/>
          </a:xfrm>
          <a:prstGeom prst="rect">
            <a:avLst/>
          </a:prstGeom>
          <a:noFill/>
        </p:spPr>
        <p:txBody>
          <a:bodyPr wrap="square" anchor="t">
            <a:spAutoFit/>
          </a:bodyPr>
          <a:lstStyle/>
          <a:p>
            <a:pPr algn="l">
              <a:spcAft>
                <a:spcPts val="300"/>
              </a:spcAft>
            </a:pPr>
            <a:r>
              <a:rPr sz="950" b="1">
                <a:solidFill>
                  <a:srgbClr val="10B981"/>
                </a:solidFill>
                <a:latin typeface="Arial"/>
              </a:rPr>
              <a:t>COURSE PORTAL</a:t>
            </a:r>
          </a:p>
        </p:txBody>
      </p:sp>
      <p:sp>
        <p:nvSpPr>
          <p:cNvPr id="5" name="TextBox 4"/>
          <p:cNvSpPr txBox="1"/>
          <p:nvPr/>
        </p:nvSpPr>
        <p:spPr>
          <a:xfrm>
            <a:off x="530352" y="493776"/>
            <a:ext cx="8138160" cy="548640"/>
          </a:xfrm>
          <a:prstGeom prst="rect">
            <a:avLst/>
          </a:prstGeom>
          <a:noFill/>
        </p:spPr>
        <p:txBody>
          <a:bodyPr wrap="square" anchor="t">
            <a:spAutoFit/>
          </a:bodyPr>
          <a:lstStyle/>
          <a:p>
            <a:pPr algn="l">
              <a:spcAft>
                <a:spcPts val="300"/>
              </a:spcAft>
            </a:pPr>
            <a:r>
              <a:rPr sz="2000" b="1">
                <a:solidFill>
                  <a:srgbClr val="161B26"/>
                </a:solidFill>
                <a:latin typeface="Arial"/>
              </a:rPr>
              <a:t>Login to LMS and Download Course Material</a:t>
            </a:r>
          </a:p>
        </p:txBody>
      </p:sp>
      <p:sp>
        <p:nvSpPr>
          <p:cNvPr id="6" name="Rectangle 5"/>
          <p:cNvSpPr/>
          <p:nvPr/>
        </p:nvSpPr>
        <p:spPr>
          <a:xfrm>
            <a:off x="530352" y="1042415"/>
            <a:ext cx="8083296" cy="128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4809744"/>
            <a:ext cx="4937760" cy="219456"/>
          </a:xfrm>
          <a:prstGeom prst="rect">
            <a:avLst/>
          </a:prstGeom>
          <a:noFill/>
        </p:spPr>
        <p:txBody>
          <a:bodyPr wrap="square" anchor="t">
            <a:spAutoFit/>
          </a:bodyPr>
          <a:lstStyle/>
          <a:p>
            <a:pPr algn="l">
              <a:spcAft>
                <a:spcPts val="300"/>
              </a:spcAft>
            </a:pPr>
            <a:r>
              <a:rPr sz="700" b="0">
                <a:solidFill>
                  <a:srgbClr val="5B6372"/>
                </a:solidFill>
                <a:latin typeface="Arial"/>
              </a:rPr>
              <a:t>ITIL 4 Foundation Training  ·  TGS-2024049350</a:t>
            </a:r>
          </a:p>
        </p:txBody>
      </p:sp>
      <p:sp>
        <p:nvSpPr>
          <p:cNvPr id="42" name="TextBox 41"/>
          <p:cNvSpPr txBox="1"/>
          <p:nvPr/>
        </p:nvSpPr>
        <p:spPr>
          <a:xfrm>
            <a:off x="3108960" y="4809744"/>
            <a:ext cx="2926080" cy="219456"/>
          </a:xfrm>
          <a:prstGeom prst="rect">
            <a:avLst/>
          </a:prstGeom>
          <a:noFill/>
        </p:spPr>
        <p:txBody>
          <a:bodyPr wrap="square" anchor="t">
            <a:spAutoFit/>
          </a:bodyPr>
          <a:lstStyle/>
          <a:p>
            <a:pPr algn="ctr">
              <a:spcAft>
                <a:spcPts val="300"/>
              </a:spcAft>
            </a:pPr>
            <a:r>
              <a:rPr sz="700" b="0">
                <a:solidFill>
                  <a:srgbClr val="5B6372"/>
                </a:solidFill>
                <a:latin typeface="Arial"/>
              </a:rPr>
              <a:t>© 2026 Tertiary Infotech Academy Pte Ltd  ·  UEN 201200696W</a:t>
            </a:r>
          </a:p>
        </p:txBody>
      </p:sp>
      <p:sp>
        <p:nvSpPr>
          <p:cNvPr id="43" name="TextBox 42"/>
          <p:cNvSpPr txBox="1"/>
          <p:nvPr/>
        </p:nvSpPr>
        <p:spPr>
          <a:xfrm>
            <a:off x="8412480" y="4809744"/>
            <a:ext cx="457200" cy="219456"/>
          </a:xfrm>
          <a:prstGeom prst="rect">
            <a:avLst/>
          </a:prstGeom>
          <a:noFill/>
        </p:spPr>
        <p:txBody>
          <a:bodyPr wrap="square" anchor="t">
            <a:spAutoFit/>
          </a:bodyPr>
          <a:lstStyle/>
          <a:p>
            <a:pPr algn="r">
              <a:spcAft>
                <a:spcPts val="300"/>
              </a:spcAft>
            </a:pPr>
            <a:r>
              <a:rPr sz="700" b="0">
                <a:solidFill>
                  <a:srgbClr val="5B6372"/>
                </a:solidFill>
                <a:latin typeface="Arial"/>
              </a:rPr>
              <a:t>15</a:t>
            </a:r>
          </a:p>
        </p:txBody>
      </p:sp>
      <p:pic>
        <p:nvPicPr>
          <p:cNvPr id="44" name="Picture 43" descr="ref_login.png"/>
          <p:cNvPicPr>
            <a:picLocks noChangeAspect="1"/>
          </p:cNvPicPr>
          <p:nvPr/>
        </p:nvPicPr>
        <p:blipFill>
          <a:blip r:embed="rId2"/>
          <a:stretch>
            <a:fillRect/>
          </a:stretch>
        </p:blipFill>
        <p:spPr>
          <a:xfrm>
            <a:off x="1416400" y="1196721"/>
            <a:ext cx="6311200" cy="3139822"/>
          </a:xfrm>
          <a:prstGeom prst="rect">
            <a:avLst/>
          </a:prstGeom>
          <a:ln w="12700">
            <a:solidFill>
              <a:srgbClr val="E2E8F0"/>
            </a:solidFill>
          </a:ln>
        </p:spPr>
      </p:pic>
      <p:sp>
        <p:nvSpPr>
          <p:cNvPr id="45" name="TextBox 44"/>
          <p:cNvSpPr txBox="1"/>
          <p:nvPr/>
        </p:nvSpPr>
        <p:spPr>
          <a:xfrm>
            <a:off x="530352" y="4398265"/>
            <a:ext cx="8083296" cy="344614"/>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